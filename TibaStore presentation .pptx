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Corporative" pitchFamily="2" charset="-78"/>
      <p:regular r:id="rId23"/>
    </p:embeddedFont>
    <p:embeddedFont>
      <p:font typeface="Corporative Bold" pitchFamily="2" charset="-78"/>
      <p:regular r:id="rId24"/>
    </p:embeddedFont>
    <p:embeddedFont>
      <p:font typeface="Droid Arabic Kufi Bold" panose="020B0806030804020204" pitchFamily="34" charset="0"/>
      <p:regular r:id="rId25"/>
    </p:embeddedFont>
    <p:embeddedFont>
      <p:font typeface="Droid Arabic Naskh" panose="020B0606030804020204" pitchFamily="34" charset="0"/>
      <p:regular r:id="rId26"/>
    </p:embeddedFont>
    <p:embeddedFont>
      <p:font typeface="Droid Arabic Naskh Bold" panose="020B0806030804020204" pitchFamily="34" charset="0"/>
      <p:regular r:id="rId27"/>
    </p:embeddedFont>
    <p:embeddedFont>
      <p:font typeface="Nunito Heavy" pitchFamily="2" charset="0"/>
      <p:regular r:id="rId28"/>
    </p:embeddedFont>
    <p:embeddedFont>
      <p:font typeface="Nunito Ultra-Bold" pitchFamily="2" charset="0"/>
      <p:regular r:id="rId29"/>
    </p:embeddedFont>
    <p:embeddedFont>
      <p:font typeface="XM Vahid Bold" panose="02000803090000020004" pitchFamily="2" charset="-78"/>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font" Target="fonts/font4.fntdata"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font" Target="fonts/font3.fntdata" /><Relationship Id="rId33"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font" Target="fonts/font7.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2.fntdata" /><Relationship Id="rId32"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font" Target="fonts/font1.fntdata" /><Relationship Id="rId28" Type="http://schemas.openxmlformats.org/officeDocument/2006/relationships/font" Target="fonts/font6.fntdata"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font" Target="fonts/font5.fntdata" /><Relationship Id="rId30" Type="http://schemas.openxmlformats.org/officeDocument/2006/relationships/font" Target="fonts/font8.fntdata"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png" /><Relationship Id="rId18" Type="http://schemas.openxmlformats.org/officeDocument/2006/relationships/image" Target="../media/image17.png" /><Relationship Id="rId3" Type="http://schemas.openxmlformats.org/officeDocument/2006/relationships/image" Target="../media/image2.png" /><Relationship Id="rId7" Type="http://schemas.openxmlformats.org/officeDocument/2006/relationships/image" Target="../media/image6.png" /><Relationship Id="rId12" Type="http://schemas.openxmlformats.org/officeDocument/2006/relationships/image" Target="../media/image11.png" /><Relationship Id="rId17" Type="http://schemas.openxmlformats.org/officeDocument/2006/relationships/image" Target="../media/image16.png" /><Relationship Id="rId2" Type="http://schemas.openxmlformats.org/officeDocument/2006/relationships/image" Target="../media/image1.jpe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png" /><Relationship Id="rId5" Type="http://schemas.openxmlformats.org/officeDocument/2006/relationships/image" Target="../media/image4.png" /><Relationship Id="rId15" Type="http://schemas.openxmlformats.org/officeDocument/2006/relationships/image" Target="../media/image14.png" /><Relationship Id="rId10" Type="http://schemas.openxmlformats.org/officeDocument/2006/relationships/image" Target="../media/image9.png" /><Relationship Id="rId19" Type="http://schemas.openxmlformats.org/officeDocument/2006/relationships/image" Target="../media/image18.png" /><Relationship Id="rId4" Type="http://schemas.openxmlformats.org/officeDocument/2006/relationships/image" Target="../media/image3.png" /><Relationship Id="rId9" Type="http://schemas.openxmlformats.org/officeDocument/2006/relationships/image" Target="../media/image8.png" /><Relationship Id="rId14" Type="http://schemas.openxmlformats.org/officeDocument/2006/relationships/image" Target="../media/image13.png" /></Relationships>
</file>

<file path=ppt/slides/_rels/slide2.xml.rels><?xml version="1.0" encoding="UTF-8" standalone="yes"?>
<Relationships xmlns="http://schemas.openxmlformats.org/package/2006/relationships"><Relationship Id="rId8" Type="http://schemas.openxmlformats.org/officeDocument/2006/relationships/image" Target="../media/image9.png" /><Relationship Id="rId3" Type="http://schemas.openxmlformats.org/officeDocument/2006/relationships/image" Target="../media/image19.png" /><Relationship Id="rId7" Type="http://schemas.openxmlformats.org/officeDocument/2006/relationships/image" Target="../media/image22.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7.png" /><Relationship Id="rId5" Type="http://schemas.openxmlformats.org/officeDocument/2006/relationships/image" Target="../media/image21.png" /><Relationship Id="rId4" Type="http://schemas.openxmlformats.org/officeDocument/2006/relationships/image" Target="../media/image20.png" /><Relationship Id="rId9" Type="http://schemas.openxmlformats.org/officeDocument/2006/relationships/image" Target="../media/image8.png" /></Relationships>
</file>

<file path=ppt/slides/_rels/slide3.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29.svg" /><Relationship Id="rId3" Type="http://schemas.openxmlformats.org/officeDocument/2006/relationships/image" Target="../media/image23.png" /><Relationship Id="rId7" Type="http://schemas.openxmlformats.org/officeDocument/2006/relationships/image" Target="../media/image6.png" /><Relationship Id="rId12" Type="http://schemas.openxmlformats.org/officeDocument/2006/relationships/image" Target="../media/image28.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8.png" /><Relationship Id="rId11" Type="http://schemas.openxmlformats.org/officeDocument/2006/relationships/image" Target="../media/image27.png" /><Relationship Id="rId5" Type="http://schemas.openxmlformats.org/officeDocument/2006/relationships/image" Target="../media/image25.png" /><Relationship Id="rId10" Type="http://schemas.openxmlformats.org/officeDocument/2006/relationships/image" Target="../media/image26.png" /><Relationship Id="rId4" Type="http://schemas.openxmlformats.org/officeDocument/2006/relationships/image" Target="../media/image24.svg" /><Relationship Id="rId9" Type="http://schemas.openxmlformats.org/officeDocument/2006/relationships/image" Target="../media/image9.png" /></Relationships>
</file>

<file path=ppt/slides/_rels/slide4.xml.rels><?xml version="1.0" encoding="UTF-8" standalone="yes"?>
<Relationships xmlns="http://schemas.openxmlformats.org/package/2006/relationships"><Relationship Id="rId8" Type="http://schemas.openxmlformats.org/officeDocument/2006/relationships/image" Target="../media/image27.png" /><Relationship Id="rId3" Type="http://schemas.openxmlformats.org/officeDocument/2006/relationships/image" Target="../media/image6.png" /><Relationship Id="rId7" Type="http://schemas.openxmlformats.org/officeDocument/2006/relationships/image" Target="../media/image9.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8.png" /><Relationship Id="rId5" Type="http://schemas.openxmlformats.org/officeDocument/2006/relationships/image" Target="../media/image7.png" /><Relationship Id="rId4" Type="http://schemas.openxmlformats.org/officeDocument/2006/relationships/image" Target="../media/image26.png" /><Relationship Id="rId9" Type="http://schemas.openxmlformats.org/officeDocument/2006/relationships/image" Target="../media/image30.png" /></Relationships>
</file>

<file path=ppt/slides/_rels/slide5.xml.rels><?xml version="1.0" encoding="UTF-8" standalone="yes"?>
<Relationships xmlns="http://schemas.openxmlformats.org/package/2006/relationships"><Relationship Id="rId8" Type="http://schemas.openxmlformats.org/officeDocument/2006/relationships/image" Target="../media/image13.png" /><Relationship Id="rId3" Type="http://schemas.openxmlformats.org/officeDocument/2006/relationships/image" Target="../media/image9.png" /><Relationship Id="rId7" Type="http://schemas.openxmlformats.org/officeDocument/2006/relationships/image" Target="../media/image11.png" /><Relationship Id="rId12" Type="http://schemas.openxmlformats.org/officeDocument/2006/relationships/image" Target="../media/image34.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8.png" /><Relationship Id="rId11" Type="http://schemas.openxmlformats.org/officeDocument/2006/relationships/image" Target="../media/image33.png" /><Relationship Id="rId5" Type="http://schemas.openxmlformats.org/officeDocument/2006/relationships/image" Target="../media/image7.png" /><Relationship Id="rId10" Type="http://schemas.openxmlformats.org/officeDocument/2006/relationships/image" Target="../media/image32.png" /><Relationship Id="rId4" Type="http://schemas.openxmlformats.org/officeDocument/2006/relationships/image" Target="../media/image2.png" /><Relationship Id="rId9" Type="http://schemas.openxmlformats.org/officeDocument/2006/relationships/image" Target="../media/image31.png" /></Relationships>
</file>

<file path=ppt/slides/_rels/slide6.xml.rels><?xml version="1.0" encoding="UTF-8" standalone="yes"?>
<Relationships xmlns="http://schemas.openxmlformats.org/package/2006/relationships"><Relationship Id="rId8" Type="http://schemas.openxmlformats.org/officeDocument/2006/relationships/image" Target="../media/image26.png" /><Relationship Id="rId3" Type="http://schemas.openxmlformats.org/officeDocument/2006/relationships/image" Target="../media/image35.png" /><Relationship Id="rId7" Type="http://schemas.openxmlformats.org/officeDocument/2006/relationships/image" Target="../media/image9.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8.png" /><Relationship Id="rId5" Type="http://schemas.openxmlformats.org/officeDocument/2006/relationships/image" Target="../media/image7.png" /><Relationship Id="rId4" Type="http://schemas.openxmlformats.org/officeDocument/2006/relationships/image" Target="../media/image36.png" /><Relationship Id="rId9" Type="http://schemas.openxmlformats.org/officeDocument/2006/relationships/image" Target="../media/image37.jpeg" /></Relationships>
</file>

<file path=ppt/slides/_rels/slide7.xml.rels><?xml version="1.0" encoding="UTF-8" standalone="yes"?>
<Relationships xmlns="http://schemas.openxmlformats.org/package/2006/relationships"><Relationship Id="rId8" Type="http://schemas.openxmlformats.org/officeDocument/2006/relationships/image" Target="../media/image26.png" /><Relationship Id="rId3" Type="http://schemas.openxmlformats.org/officeDocument/2006/relationships/image" Target="../media/image38.png" /><Relationship Id="rId7" Type="http://schemas.openxmlformats.org/officeDocument/2006/relationships/image" Target="../media/image8.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7.png" /><Relationship Id="rId5" Type="http://schemas.openxmlformats.org/officeDocument/2006/relationships/image" Target="../media/image6.png" /><Relationship Id="rId4" Type="http://schemas.openxmlformats.org/officeDocument/2006/relationships/image" Target="../media/image34.png" /><Relationship Id="rId9" Type="http://schemas.openxmlformats.org/officeDocument/2006/relationships/image" Target="../media/image9.png" /></Relationships>
</file>

<file path=ppt/slides/_rels/slide8.xml.rels><?xml version="1.0" encoding="UTF-8" standalone="yes"?>
<Relationships xmlns="http://schemas.openxmlformats.org/package/2006/relationships"><Relationship Id="rId8" Type="http://schemas.openxmlformats.org/officeDocument/2006/relationships/image" Target="../media/image10.png" /><Relationship Id="rId3" Type="http://schemas.openxmlformats.org/officeDocument/2006/relationships/image" Target="../media/image4.png" /><Relationship Id="rId7" Type="http://schemas.openxmlformats.org/officeDocument/2006/relationships/image" Target="../media/image26.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9.png" /><Relationship Id="rId5" Type="http://schemas.openxmlformats.org/officeDocument/2006/relationships/image" Target="../media/image8.png" /><Relationship Id="rId4" Type="http://schemas.openxmlformats.org/officeDocument/2006/relationships/image" Target="../media/image7.png" /></Relationships>
</file>

<file path=ppt/slides/_rels/slide9.xml.rels><?xml version="1.0" encoding="UTF-8" standalone="yes"?>
<Relationships xmlns="http://schemas.openxmlformats.org/package/2006/relationships"><Relationship Id="rId8" Type="http://schemas.openxmlformats.org/officeDocument/2006/relationships/image" Target="../media/image41.png" /><Relationship Id="rId3" Type="http://schemas.openxmlformats.org/officeDocument/2006/relationships/image" Target="../media/image39.png" /><Relationship Id="rId7" Type="http://schemas.openxmlformats.org/officeDocument/2006/relationships/image" Target="../media/image40.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9.png" /><Relationship Id="rId5" Type="http://schemas.openxmlformats.org/officeDocument/2006/relationships/image" Target="../media/image8.png" /><Relationship Id="rId10" Type="http://schemas.openxmlformats.org/officeDocument/2006/relationships/image" Target="../media/image26.png" /><Relationship Id="rId4" Type="http://schemas.openxmlformats.org/officeDocument/2006/relationships/image" Target="../media/image3.png" /><Relationship Id="rId9" Type="http://schemas.openxmlformats.org/officeDocument/2006/relationships/image" Target="../media/image5.png" /></Relationships>
</file>

<file path=ppt/slides/_rels/slide10.xml.rels><?xml version="1.0" encoding="UTF-8" standalone="yes"?>
<Relationships xmlns="http://schemas.openxmlformats.org/package/2006/relationships"><Relationship Id="rId8" Type="http://schemas.openxmlformats.org/officeDocument/2006/relationships/image" Target="../media/image42.png" /><Relationship Id="rId3" Type="http://schemas.openxmlformats.org/officeDocument/2006/relationships/image" Target="../media/image7.png" /><Relationship Id="rId7" Type="http://schemas.openxmlformats.org/officeDocument/2006/relationships/oleObject" Target="../embeddings/oleObject1.bin"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8.png" /><Relationship Id="rId5" Type="http://schemas.openxmlformats.org/officeDocument/2006/relationships/image" Target="../media/image27.png" /><Relationship Id="rId10" Type="http://schemas.openxmlformats.org/officeDocument/2006/relationships/image" Target="../media/image43.png" /><Relationship Id="rId4" Type="http://schemas.openxmlformats.org/officeDocument/2006/relationships/image" Target="../media/image9.png" /><Relationship Id="rId9" Type="http://schemas.openxmlformats.org/officeDocument/2006/relationships/oleObject" Target="../embeddings/oleObject2.bin" /></Relationships>
</file>

<file path=ppt/slides/_rels/slide11.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image" Target="../media/image44.png" /><Relationship Id="rId1" Type="http://schemas.openxmlformats.org/officeDocument/2006/relationships/slideLayout" Target="../slideLayouts/slideLayout7.xml" /><Relationship Id="rId5" Type="http://schemas.openxmlformats.org/officeDocument/2006/relationships/image" Target="../media/image9.png" /><Relationship Id="rId4" Type="http://schemas.openxmlformats.org/officeDocument/2006/relationships/image" Target="../media/image8.png" /></Relationships>
</file>

<file path=ppt/slides/_rels/slide12.xml.rels><?xml version="1.0" encoding="UTF-8" standalone="yes"?>
<Relationships xmlns="http://schemas.openxmlformats.org/package/2006/relationships"><Relationship Id="rId8" Type="http://schemas.openxmlformats.org/officeDocument/2006/relationships/image" Target="../media/image9.png" /><Relationship Id="rId3" Type="http://schemas.openxmlformats.org/officeDocument/2006/relationships/image" Target="../media/image45.png" /><Relationship Id="rId7" Type="http://schemas.openxmlformats.org/officeDocument/2006/relationships/image" Target="../media/image21.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20.png" /><Relationship Id="rId11" Type="http://schemas.openxmlformats.org/officeDocument/2006/relationships/image" Target="../media/image27.png" /><Relationship Id="rId5" Type="http://schemas.openxmlformats.org/officeDocument/2006/relationships/image" Target="../media/image47.png" /><Relationship Id="rId10" Type="http://schemas.openxmlformats.org/officeDocument/2006/relationships/image" Target="../media/image7.png" /><Relationship Id="rId4" Type="http://schemas.openxmlformats.org/officeDocument/2006/relationships/image" Target="../media/image46.svg" /><Relationship Id="rId9" Type="http://schemas.openxmlformats.org/officeDocument/2006/relationships/image" Target="../media/image8.png" /></Relationships>
</file>

<file path=ppt/slides/_rels/slide1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8" Type="http://schemas.openxmlformats.org/officeDocument/2006/relationships/image" Target="../media/image5.png" /><Relationship Id="rId3" Type="http://schemas.openxmlformats.org/officeDocument/2006/relationships/image" Target="../media/image7.png" /><Relationship Id="rId7" Type="http://schemas.openxmlformats.org/officeDocument/2006/relationships/image" Target="../media/image26.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15.png" /><Relationship Id="rId5" Type="http://schemas.openxmlformats.org/officeDocument/2006/relationships/image" Target="../media/image9.png" /><Relationship Id="rId4" Type="http://schemas.openxmlformats.org/officeDocument/2006/relationships/image" Target="../media/image8.png" /></Relationships>
</file>

<file path=ppt/slides/_rels/slide15.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8" Type="http://schemas.openxmlformats.org/officeDocument/2006/relationships/image" Target="../media/image6.png" /><Relationship Id="rId3" Type="http://schemas.openxmlformats.org/officeDocument/2006/relationships/image" Target="../media/image7.png" /><Relationship Id="rId7" Type="http://schemas.openxmlformats.org/officeDocument/2006/relationships/image" Target="../media/image48.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40.png" /><Relationship Id="rId5" Type="http://schemas.openxmlformats.org/officeDocument/2006/relationships/image" Target="../media/image27.png" /><Relationship Id="rId4" Type="http://schemas.openxmlformats.org/officeDocument/2006/relationships/image" Target="../media/image8.png" /></Relationships>
</file>

<file path=ppt/slides/_rels/slide18.xml.rels><?xml version="1.0" encoding="UTF-8" standalone="yes"?>
<Relationships xmlns="http://schemas.openxmlformats.org/package/2006/relationships"><Relationship Id="rId8" Type="http://schemas.openxmlformats.org/officeDocument/2006/relationships/image" Target="../media/image40.png" /><Relationship Id="rId3" Type="http://schemas.openxmlformats.org/officeDocument/2006/relationships/image" Target="../media/image49.png" /><Relationship Id="rId7" Type="http://schemas.openxmlformats.org/officeDocument/2006/relationships/image" Target="../media/image3.png" /><Relationship Id="rId12" Type="http://schemas.openxmlformats.org/officeDocument/2006/relationships/image" Target="../media/image52.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50.png" /><Relationship Id="rId11" Type="http://schemas.openxmlformats.org/officeDocument/2006/relationships/oleObject" Target="../embeddings/oleObject3.bin" /><Relationship Id="rId5" Type="http://schemas.openxmlformats.org/officeDocument/2006/relationships/image" Target="../media/image22.png" /><Relationship Id="rId10" Type="http://schemas.openxmlformats.org/officeDocument/2006/relationships/image" Target="../media/image47.png" /><Relationship Id="rId4" Type="http://schemas.openxmlformats.org/officeDocument/2006/relationships/image" Target="../media/image7.png" /><Relationship Id="rId9" Type="http://schemas.openxmlformats.org/officeDocument/2006/relationships/image" Target="../media/image51.png" /></Relationships>
</file>

<file path=ppt/slides/_rels/slide1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8" Type="http://schemas.openxmlformats.org/officeDocument/2006/relationships/image" Target="../media/image7.png" /><Relationship Id="rId13" Type="http://schemas.openxmlformats.org/officeDocument/2006/relationships/image" Target="../media/image12.png" /><Relationship Id="rId3" Type="http://schemas.openxmlformats.org/officeDocument/2006/relationships/image" Target="../media/image2.png" /><Relationship Id="rId7" Type="http://schemas.openxmlformats.org/officeDocument/2006/relationships/image" Target="../media/image6.png" /><Relationship Id="rId12" Type="http://schemas.openxmlformats.org/officeDocument/2006/relationships/image" Target="../media/image11.png" /><Relationship Id="rId2" Type="http://schemas.openxmlformats.org/officeDocument/2006/relationships/image" Target="../media/image1.jpeg" /><Relationship Id="rId16" Type="http://schemas.openxmlformats.org/officeDocument/2006/relationships/image" Target="../media/image15.png" /><Relationship Id="rId1" Type="http://schemas.openxmlformats.org/officeDocument/2006/relationships/slideLayout" Target="../slideLayouts/slideLayout7.xml" /><Relationship Id="rId6" Type="http://schemas.openxmlformats.org/officeDocument/2006/relationships/image" Target="../media/image5.png" /><Relationship Id="rId11" Type="http://schemas.openxmlformats.org/officeDocument/2006/relationships/image" Target="../media/image10.png" /><Relationship Id="rId5" Type="http://schemas.openxmlformats.org/officeDocument/2006/relationships/image" Target="../media/image4.png" /><Relationship Id="rId15" Type="http://schemas.openxmlformats.org/officeDocument/2006/relationships/image" Target="../media/image14.png" /><Relationship Id="rId10" Type="http://schemas.openxmlformats.org/officeDocument/2006/relationships/image" Target="../media/image9.png" /><Relationship Id="rId4" Type="http://schemas.openxmlformats.org/officeDocument/2006/relationships/image" Target="../media/image3.png" /><Relationship Id="rId9" Type="http://schemas.openxmlformats.org/officeDocument/2006/relationships/image" Target="../media/image8.png" /><Relationship Id="rId14" Type="http://schemas.openxmlformats.org/officeDocument/2006/relationships/image" Target="../media/image13.png"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grpSp>
        <p:nvGrpSpPr>
          <p:cNvPr id="3" name="Group 3"/>
          <p:cNvGrpSpPr/>
          <p:nvPr/>
        </p:nvGrpSpPr>
        <p:grpSpPr>
          <a:xfrm>
            <a:off x="-288296" y="4385191"/>
            <a:ext cx="19345450" cy="10290340"/>
            <a:chOff x="0" y="0"/>
            <a:chExt cx="25793934" cy="13720453"/>
          </a:xfrm>
        </p:grpSpPr>
        <p:sp>
          <p:nvSpPr>
            <p:cNvPr id="4" name="Freeform 4"/>
            <p:cNvSpPr/>
            <p:nvPr/>
          </p:nvSpPr>
          <p:spPr>
            <a:xfrm>
              <a:off x="7731799" y="2094750"/>
              <a:ext cx="9707462" cy="11625703"/>
            </a:xfrm>
            <a:custGeom>
              <a:avLst/>
              <a:gdLst/>
              <a:ahLst/>
              <a:cxnLst/>
              <a:rect l="l" t="t" r="r" b="b"/>
              <a:pathLst>
                <a:path w="9707462" h="11625703">
                  <a:moveTo>
                    <a:pt x="0" y="0"/>
                  </a:moveTo>
                  <a:lnTo>
                    <a:pt x="9707462" y="0"/>
                  </a:lnTo>
                  <a:lnTo>
                    <a:pt x="9707462" y="11625703"/>
                  </a:lnTo>
                  <a:lnTo>
                    <a:pt x="0" y="11625703"/>
                  </a:lnTo>
                  <a:lnTo>
                    <a:pt x="0" y="0"/>
                  </a:lnTo>
                  <a:close/>
                </a:path>
              </a:pathLst>
            </a:custGeom>
            <a:blipFill>
              <a:blip r:embed="rId3"/>
              <a:stretch>
                <a:fillRect/>
              </a:stretch>
            </a:blipFill>
          </p:spPr>
        </p:sp>
        <p:sp>
          <p:nvSpPr>
            <p:cNvPr id="5" name="Freeform 5"/>
            <p:cNvSpPr/>
            <p:nvPr/>
          </p:nvSpPr>
          <p:spPr>
            <a:xfrm rot="-1100670">
              <a:off x="2534027" y="6577071"/>
              <a:ext cx="2802372" cy="2697283"/>
            </a:xfrm>
            <a:custGeom>
              <a:avLst/>
              <a:gdLst/>
              <a:ahLst/>
              <a:cxnLst/>
              <a:rect l="l" t="t" r="r" b="b"/>
              <a:pathLst>
                <a:path w="2802372" h="2697283">
                  <a:moveTo>
                    <a:pt x="0" y="0"/>
                  </a:moveTo>
                  <a:lnTo>
                    <a:pt x="2802372" y="0"/>
                  </a:lnTo>
                  <a:lnTo>
                    <a:pt x="2802372" y="2697283"/>
                  </a:lnTo>
                  <a:lnTo>
                    <a:pt x="0" y="2697283"/>
                  </a:lnTo>
                  <a:lnTo>
                    <a:pt x="0" y="0"/>
                  </a:lnTo>
                  <a:close/>
                </a:path>
              </a:pathLst>
            </a:custGeom>
            <a:blipFill>
              <a:blip r:embed="rId4"/>
              <a:stretch>
                <a:fillRect/>
              </a:stretch>
            </a:blipFill>
          </p:spPr>
        </p:sp>
        <p:sp>
          <p:nvSpPr>
            <p:cNvPr id="6" name="Freeform 6"/>
            <p:cNvSpPr/>
            <p:nvPr/>
          </p:nvSpPr>
          <p:spPr>
            <a:xfrm>
              <a:off x="0" y="58872"/>
              <a:ext cx="2712589" cy="2743453"/>
            </a:xfrm>
            <a:custGeom>
              <a:avLst/>
              <a:gdLst/>
              <a:ahLst/>
              <a:cxnLst/>
              <a:rect l="l" t="t" r="r" b="b"/>
              <a:pathLst>
                <a:path w="2712589" h="2743453">
                  <a:moveTo>
                    <a:pt x="0" y="0"/>
                  </a:moveTo>
                  <a:lnTo>
                    <a:pt x="2712589" y="0"/>
                  </a:lnTo>
                  <a:lnTo>
                    <a:pt x="2712589" y="2743452"/>
                  </a:lnTo>
                  <a:lnTo>
                    <a:pt x="0" y="2743452"/>
                  </a:lnTo>
                  <a:lnTo>
                    <a:pt x="0" y="0"/>
                  </a:lnTo>
                  <a:close/>
                </a:path>
              </a:pathLst>
            </a:custGeom>
            <a:blipFill>
              <a:blip r:embed="rId5"/>
              <a:stretch>
                <a:fillRect/>
              </a:stretch>
            </a:blipFill>
          </p:spPr>
        </p:sp>
        <p:sp>
          <p:nvSpPr>
            <p:cNvPr id="7" name="Freeform 7"/>
            <p:cNvSpPr/>
            <p:nvPr/>
          </p:nvSpPr>
          <p:spPr>
            <a:xfrm rot="2301051">
              <a:off x="5193474" y="1454955"/>
              <a:ext cx="2242585" cy="3169731"/>
            </a:xfrm>
            <a:custGeom>
              <a:avLst/>
              <a:gdLst/>
              <a:ahLst/>
              <a:cxnLst/>
              <a:rect l="l" t="t" r="r" b="b"/>
              <a:pathLst>
                <a:path w="2242585" h="3169731">
                  <a:moveTo>
                    <a:pt x="0" y="0"/>
                  </a:moveTo>
                  <a:lnTo>
                    <a:pt x="2242585" y="0"/>
                  </a:lnTo>
                  <a:lnTo>
                    <a:pt x="2242585" y="3169731"/>
                  </a:lnTo>
                  <a:lnTo>
                    <a:pt x="0" y="3169731"/>
                  </a:lnTo>
                  <a:lnTo>
                    <a:pt x="0" y="0"/>
                  </a:lnTo>
                  <a:close/>
                </a:path>
              </a:pathLst>
            </a:custGeom>
            <a:blipFill>
              <a:blip r:embed="rId6"/>
              <a:stretch>
                <a:fillRect/>
              </a:stretch>
            </a:blipFill>
          </p:spPr>
        </p:sp>
        <p:sp>
          <p:nvSpPr>
            <p:cNvPr id="8" name="Freeform 8"/>
            <p:cNvSpPr/>
            <p:nvPr/>
          </p:nvSpPr>
          <p:spPr>
            <a:xfrm>
              <a:off x="311347" y="4940821"/>
              <a:ext cx="1631053" cy="1631053"/>
            </a:xfrm>
            <a:custGeom>
              <a:avLst/>
              <a:gdLst/>
              <a:ahLst/>
              <a:cxnLst/>
              <a:rect l="l" t="t" r="r" b="b"/>
              <a:pathLst>
                <a:path w="1631053" h="1631053">
                  <a:moveTo>
                    <a:pt x="0" y="0"/>
                  </a:moveTo>
                  <a:lnTo>
                    <a:pt x="1631053" y="0"/>
                  </a:lnTo>
                  <a:lnTo>
                    <a:pt x="1631053" y="1631053"/>
                  </a:lnTo>
                  <a:lnTo>
                    <a:pt x="0" y="1631053"/>
                  </a:lnTo>
                  <a:lnTo>
                    <a:pt x="0" y="0"/>
                  </a:lnTo>
                  <a:close/>
                </a:path>
              </a:pathLst>
            </a:custGeom>
            <a:blipFill>
              <a:blip r:embed="rId7"/>
              <a:stretch>
                <a:fillRect/>
              </a:stretch>
            </a:blipFill>
            <a:ln cap="sq">
              <a:noFill/>
              <a:prstDash val="solid"/>
              <a:miter/>
            </a:ln>
          </p:spPr>
        </p:sp>
        <p:sp>
          <p:nvSpPr>
            <p:cNvPr id="9" name="Freeform 9"/>
            <p:cNvSpPr/>
            <p:nvPr/>
          </p:nvSpPr>
          <p:spPr>
            <a:xfrm>
              <a:off x="3935213" y="1618148"/>
              <a:ext cx="483006" cy="482403"/>
            </a:xfrm>
            <a:custGeom>
              <a:avLst/>
              <a:gdLst/>
              <a:ahLst/>
              <a:cxnLst/>
              <a:rect l="l" t="t" r="r" b="b"/>
              <a:pathLst>
                <a:path w="483006" h="482403">
                  <a:moveTo>
                    <a:pt x="0" y="0"/>
                  </a:moveTo>
                  <a:lnTo>
                    <a:pt x="483006" y="0"/>
                  </a:lnTo>
                  <a:lnTo>
                    <a:pt x="483006" y="482403"/>
                  </a:lnTo>
                  <a:lnTo>
                    <a:pt x="0" y="482403"/>
                  </a:lnTo>
                  <a:lnTo>
                    <a:pt x="0" y="0"/>
                  </a:lnTo>
                  <a:close/>
                </a:path>
              </a:pathLst>
            </a:custGeom>
            <a:blipFill>
              <a:blip r:embed="rId8"/>
              <a:stretch>
                <a:fillRect/>
              </a:stretch>
            </a:blipFill>
          </p:spPr>
        </p:sp>
        <p:sp>
          <p:nvSpPr>
            <p:cNvPr id="10" name="Freeform 10"/>
            <p:cNvSpPr/>
            <p:nvPr/>
          </p:nvSpPr>
          <p:spPr>
            <a:xfrm>
              <a:off x="6350033" y="6348750"/>
              <a:ext cx="483006" cy="482403"/>
            </a:xfrm>
            <a:custGeom>
              <a:avLst/>
              <a:gdLst/>
              <a:ahLst/>
              <a:cxnLst/>
              <a:rect l="l" t="t" r="r" b="b"/>
              <a:pathLst>
                <a:path w="483006" h="482403">
                  <a:moveTo>
                    <a:pt x="0" y="0"/>
                  </a:moveTo>
                  <a:lnTo>
                    <a:pt x="483007" y="0"/>
                  </a:lnTo>
                  <a:lnTo>
                    <a:pt x="483007" y="482402"/>
                  </a:lnTo>
                  <a:lnTo>
                    <a:pt x="0" y="482402"/>
                  </a:lnTo>
                  <a:lnTo>
                    <a:pt x="0" y="0"/>
                  </a:lnTo>
                  <a:close/>
                </a:path>
              </a:pathLst>
            </a:custGeom>
            <a:blipFill>
              <a:blip r:embed="rId9"/>
              <a:stretch>
                <a:fillRect/>
              </a:stretch>
            </a:blipFill>
            <a:ln cap="sq">
              <a:noFill/>
              <a:prstDash val="solid"/>
              <a:miter/>
            </a:ln>
          </p:spPr>
        </p:sp>
        <p:sp>
          <p:nvSpPr>
            <p:cNvPr id="11" name="Freeform 11"/>
            <p:cNvSpPr/>
            <p:nvPr/>
          </p:nvSpPr>
          <p:spPr>
            <a:xfrm>
              <a:off x="3371864" y="4778538"/>
              <a:ext cx="324973" cy="324567"/>
            </a:xfrm>
            <a:custGeom>
              <a:avLst/>
              <a:gdLst/>
              <a:ahLst/>
              <a:cxnLst/>
              <a:rect l="l" t="t" r="r" b="b"/>
              <a:pathLst>
                <a:path w="324973" h="324567">
                  <a:moveTo>
                    <a:pt x="0" y="0"/>
                  </a:moveTo>
                  <a:lnTo>
                    <a:pt x="324973" y="0"/>
                  </a:lnTo>
                  <a:lnTo>
                    <a:pt x="324973" y="324567"/>
                  </a:lnTo>
                  <a:lnTo>
                    <a:pt x="0" y="324567"/>
                  </a:lnTo>
                  <a:lnTo>
                    <a:pt x="0" y="0"/>
                  </a:lnTo>
                  <a:close/>
                </a:path>
              </a:pathLst>
            </a:custGeom>
            <a:blipFill>
              <a:blip r:embed="rId10"/>
              <a:stretch>
                <a:fillRect/>
              </a:stretch>
            </a:blipFill>
          </p:spPr>
        </p:sp>
        <p:sp>
          <p:nvSpPr>
            <p:cNvPr id="12" name="Freeform 12"/>
            <p:cNvSpPr/>
            <p:nvPr/>
          </p:nvSpPr>
          <p:spPr>
            <a:xfrm rot="-3599469">
              <a:off x="8097774" y="3707377"/>
              <a:ext cx="776436" cy="803556"/>
            </a:xfrm>
            <a:custGeom>
              <a:avLst/>
              <a:gdLst/>
              <a:ahLst/>
              <a:cxnLst/>
              <a:rect l="l" t="t" r="r" b="b"/>
              <a:pathLst>
                <a:path w="776436" h="803556">
                  <a:moveTo>
                    <a:pt x="0" y="0"/>
                  </a:moveTo>
                  <a:lnTo>
                    <a:pt x="776435" y="0"/>
                  </a:lnTo>
                  <a:lnTo>
                    <a:pt x="776435" y="803556"/>
                  </a:lnTo>
                  <a:lnTo>
                    <a:pt x="0" y="803556"/>
                  </a:lnTo>
                  <a:lnTo>
                    <a:pt x="0" y="0"/>
                  </a:lnTo>
                  <a:close/>
                </a:path>
              </a:pathLst>
            </a:custGeom>
            <a:blipFill>
              <a:blip r:embed="rId11"/>
              <a:stretch>
                <a:fillRect/>
              </a:stretch>
            </a:blipFill>
          </p:spPr>
        </p:sp>
        <p:sp>
          <p:nvSpPr>
            <p:cNvPr id="13" name="Freeform 13"/>
            <p:cNvSpPr/>
            <p:nvPr/>
          </p:nvSpPr>
          <p:spPr>
            <a:xfrm>
              <a:off x="23097605" y="0"/>
              <a:ext cx="2359323" cy="2356374"/>
            </a:xfrm>
            <a:custGeom>
              <a:avLst/>
              <a:gdLst/>
              <a:ahLst/>
              <a:cxnLst/>
              <a:rect l="l" t="t" r="r" b="b"/>
              <a:pathLst>
                <a:path w="2359323" h="2356374">
                  <a:moveTo>
                    <a:pt x="0" y="0"/>
                  </a:moveTo>
                  <a:lnTo>
                    <a:pt x="2359323" y="0"/>
                  </a:lnTo>
                  <a:lnTo>
                    <a:pt x="2359323" y="2356374"/>
                  </a:lnTo>
                  <a:lnTo>
                    <a:pt x="0" y="2356374"/>
                  </a:lnTo>
                  <a:lnTo>
                    <a:pt x="0" y="0"/>
                  </a:lnTo>
                  <a:close/>
                </a:path>
              </a:pathLst>
            </a:custGeom>
            <a:blipFill>
              <a:blip r:embed="rId12"/>
              <a:stretch>
                <a:fillRect/>
              </a:stretch>
            </a:blipFill>
          </p:spPr>
        </p:sp>
        <p:sp>
          <p:nvSpPr>
            <p:cNvPr id="14" name="Freeform 14"/>
            <p:cNvSpPr/>
            <p:nvPr/>
          </p:nvSpPr>
          <p:spPr>
            <a:xfrm>
              <a:off x="19721812" y="6204612"/>
              <a:ext cx="3088955" cy="3015592"/>
            </a:xfrm>
            <a:custGeom>
              <a:avLst/>
              <a:gdLst/>
              <a:ahLst/>
              <a:cxnLst/>
              <a:rect l="l" t="t" r="r" b="b"/>
              <a:pathLst>
                <a:path w="3088955" h="3015592">
                  <a:moveTo>
                    <a:pt x="0" y="0"/>
                  </a:moveTo>
                  <a:lnTo>
                    <a:pt x="3088955" y="0"/>
                  </a:lnTo>
                  <a:lnTo>
                    <a:pt x="3088955" y="3015593"/>
                  </a:lnTo>
                  <a:lnTo>
                    <a:pt x="0" y="3015593"/>
                  </a:lnTo>
                  <a:lnTo>
                    <a:pt x="0" y="0"/>
                  </a:lnTo>
                  <a:close/>
                </a:path>
              </a:pathLst>
            </a:custGeom>
            <a:blipFill>
              <a:blip r:embed="rId13"/>
              <a:stretch>
                <a:fillRect/>
              </a:stretch>
            </a:blipFill>
          </p:spPr>
        </p:sp>
        <p:sp>
          <p:nvSpPr>
            <p:cNvPr id="15" name="Freeform 15"/>
            <p:cNvSpPr/>
            <p:nvPr/>
          </p:nvSpPr>
          <p:spPr>
            <a:xfrm rot="-3722613">
              <a:off x="19407983" y="1680084"/>
              <a:ext cx="2136753" cy="2613765"/>
            </a:xfrm>
            <a:custGeom>
              <a:avLst/>
              <a:gdLst/>
              <a:ahLst/>
              <a:cxnLst/>
              <a:rect l="l" t="t" r="r" b="b"/>
              <a:pathLst>
                <a:path w="2136753" h="2613765">
                  <a:moveTo>
                    <a:pt x="0" y="0"/>
                  </a:moveTo>
                  <a:lnTo>
                    <a:pt x="2136753" y="0"/>
                  </a:lnTo>
                  <a:lnTo>
                    <a:pt x="2136753" y="2613764"/>
                  </a:lnTo>
                  <a:lnTo>
                    <a:pt x="0" y="2613764"/>
                  </a:lnTo>
                  <a:lnTo>
                    <a:pt x="0" y="0"/>
                  </a:lnTo>
                  <a:close/>
                </a:path>
              </a:pathLst>
            </a:custGeom>
            <a:blipFill>
              <a:blip r:embed="rId14"/>
              <a:stretch>
                <a:fillRect/>
              </a:stretch>
            </a:blipFill>
          </p:spPr>
        </p:sp>
        <p:sp>
          <p:nvSpPr>
            <p:cNvPr id="16" name="Freeform 16"/>
            <p:cNvSpPr/>
            <p:nvPr/>
          </p:nvSpPr>
          <p:spPr>
            <a:xfrm rot="-10223540">
              <a:off x="23382148" y="4529285"/>
              <a:ext cx="2236535" cy="2288016"/>
            </a:xfrm>
            <a:custGeom>
              <a:avLst/>
              <a:gdLst/>
              <a:ahLst/>
              <a:cxnLst/>
              <a:rect l="l" t="t" r="r" b="b"/>
              <a:pathLst>
                <a:path w="2236535" h="2288016">
                  <a:moveTo>
                    <a:pt x="0" y="0"/>
                  </a:moveTo>
                  <a:lnTo>
                    <a:pt x="2236536" y="0"/>
                  </a:lnTo>
                  <a:lnTo>
                    <a:pt x="2236536" y="2288016"/>
                  </a:lnTo>
                  <a:lnTo>
                    <a:pt x="0" y="2288016"/>
                  </a:lnTo>
                  <a:lnTo>
                    <a:pt x="0" y="0"/>
                  </a:lnTo>
                  <a:close/>
                </a:path>
              </a:pathLst>
            </a:custGeom>
            <a:blipFill>
              <a:blip r:embed="rId15"/>
              <a:stretch>
                <a:fillRect/>
              </a:stretch>
            </a:blipFill>
          </p:spPr>
        </p:sp>
        <p:sp>
          <p:nvSpPr>
            <p:cNvPr id="17" name="Freeform 17"/>
            <p:cNvSpPr/>
            <p:nvPr/>
          </p:nvSpPr>
          <p:spPr>
            <a:xfrm>
              <a:off x="17955830" y="7070949"/>
              <a:ext cx="483006" cy="482403"/>
            </a:xfrm>
            <a:custGeom>
              <a:avLst/>
              <a:gdLst/>
              <a:ahLst/>
              <a:cxnLst/>
              <a:rect l="l" t="t" r="r" b="b"/>
              <a:pathLst>
                <a:path w="483006" h="482403">
                  <a:moveTo>
                    <a:pt x="0" y="0"/>
                  </a:moveTo>
                  <a:lnTo>
                    <a:pt x="483007" y="0"/>
                  </a:lnTo>
                  <a:lnTo>
                    <a:pt x="483007" y="482403"/>
                  </a:lnTo>
                  <a:lnTo>
                    <a:pt x="0" y="482403"/>
                  </a:lnTo>
                  <a:lnTo>
                    <a:pt x="0" y="0"/>
                  </a:lnTo>
                  <a:close/>
                </a:path>
              </a:pathLst>
            </a:custGeom>
            <a:blipFill>
              <a:blip r:embed="rId8"/>
              <a:stretch>
                <a:fillRect/>
              </a:stretch>
            </a:blipFill>
          </p:spPr>
        </p:sp>
        <p:sp>
          <p:nvSpPr>
            <p:cNvPr id="18" name="Freeform 18"/>
            <p:cNvSpPr/>
            <p:nvPr/>
          </p:nvSpPr>
          <p:spPr>
            <a:xfrm>
              <a:off x="16630280" y="3538401"/>
              <a:ext cx="483006" cy="482403"/>
            </a:xfrm>
            <a:custGeom>
              <a:avLst/>
              <a:gdLst/>
              <a:ahLst/>
              <a:cxnLst/>
              <a:rect l="l" t="t" r="r" b="b"/>
              <a:pathLst>
                <a:path w="483006" h="482403">
                  <a:moveTo>
                    <a:pt x="0" y="0"/>
                  </a:moveTo>
                  <a:lnTo>
                    <a:pt x="483007" y="0"/>
                  </a:lnTo>
                  <a:lnTo>
                    <a:pt x="483007" y="482402"/>
                  </a:lnTo>
                  <a:lnTo>
                    <a:pt x="0" y="482402"/>
                  </a:lnTo>
                  <a:lnTo>
                    <a:pt x="0" y="0"/>
                  </a:lnTo>
                  <a:close/>
                </a:path>
              </a:pathLst>
            </a:custGeom>
            <a:blipFill>
              <a:blip r:embed="rId9"/>
              <a:stretch>
                <a:fillRect/>
              </a:stretch>
            </a:blipFill>
          </p:spPr>
        </p:sp>
        <p:sp>
          <p:nvSpPr>
            <p:cNvPr id="19" name="Freeform 19"/>
            <p:cNvSpPr/>
            <p:nvPr/>
          </p:nvSpPr>
          <p:spPr>
            <a:xfrm>
              <a:off x="22707199" y="3538401"/>
              <a:ext cx="499699" cy="499075"/>
            </a:xfrm>
            <a:custGeom>
              <a:avLst/>
              <a:gdLst/>
              <a:ahLst/>
              <a:cxnLst/>
              <a:rect l="l" t="t" r="r" b="b"/>
              <a:pathLst>
                <a:path w="499699" h="499075">
                  <a:moveTo>
                    <a:pt x="0" y="0"/>
                  </a:moveTo>
                  <a:lnTo>
                    <a:pt x="499699" y="0"/>
                  </a:lnTo>
                  <a:lnTo>
                    <a:pt x="499699" y="499074"/>
                  </a:lnTo>
                  <a:lnTo>
                    <a:pt x="0" y="499074"/>
                  </a:lnTo>
                  <a:lnTo>
                    <a:pt x="0" y="0"/>
                  </a:lnTo>
                  <a:close/>
                </a:path>
              </a:pathLst>
            </a:custGeom>
            <a:blipFill>
              <a:blip r:embed="rId10"/>
              <a:stretch>
                <a:fillRect/>
              </a:stretch>
            </a:blipFill>
          </p:spPr>
        </p:sp>
        <p:sp>
          <p:nvSpPr>
            <p:cNvPr id="20" name="Freeform 20"/>
            <p:cNvSpPr/>
            <p:nvPr/>
          </p:nvSpPr>
          <p:spPr>
            <a:xfrm>
              <a:off x="17752068" y="4917104"/>
              <a:ext cx="1216538" cy="976272"/>
            </a:xfrm>
            <a:custGeom>
              <a:avLst/>
              <a:gdLst/>
              <a:ahLst/>
              <a:cxnLst/>
              <a:rect l="l" t="t" r="r" b="b"/>
              <a:pathLst>
                <a:path w="1216538" h="976272">
                  <a:moveTo>
                    <a:pt x="0" y="0"/>
                  </a:moveTo>
                  <a:lnTo>
                    <a:pt x="1216539" y="0"/>
                  </a:lnTo>
                  <a:lnTo>
                    <a:pt x="1216539" y="976272"/>
                  </a:lnTo>
                  <a:lnTo>
                    <a:pt x="0" y="976272"/>
                  </a:lnTo>
                  <a:lnTo>
                    <a:pt x="0" y="0"/>
                  </a:lnTo>
                  <a:close/>
                </a:path>
              </a:pathLst>
            </a:custGeom>
            <a:blipFill>
              <a:blip r:embed="rId16"/>
              <a:stretch>
                <a:fillRect/>
              </a:stretch>
            </a:blipFill>
          </p:spPr>
        </p:sp>
      </p:grpSp>
      <p:sp>
        <p:nvSpPr>
          <p:cNvPr id="21" name="Freeform 21"/>
          <p:cNvSpPr/>
          <p:nvPr/>
        </p:nvSpPr>
        <p:spPr>
          <a:xfrm>
            <a:off x="9984361" y="7916777"/>
            <a:ext cx="2655684" cy="2370223"/>
          </a:xfrm>
          <a:custGeom>
            <a:avLst/>
            <a:gdLst/>
            <a:ahLst/>
            <a:cxnLst/>
            <a:rect l="l" t="t" r="r" b="b"/>
            <a:pathLst>
              <a:path w="2655684" h="2370223">
                <a:moveTo>
                  <a:pt x="0" y="0"/>
                </a:moveTo>
                <a:lnTo>
                  <a:pt x="2655684" y="0"/>
                </a:lnTo>
                <a:lnTo>
                  <a:pt x="2655684" y="2370223"/>
                </a:lnTo>
                <a:lnTo>
                  <a:pt x="0" y="2370223"/>
                </a:lnTo>
                <a:lnTo>
                  <a:pt x="0" y="0"/>
                </a:lnTo>
                <a:close/>
              </a:path>
            </a:pathLst>
          </a:custGeom>
          <a:blipFill>
            <a:blip r:embed="rId17"/>
            <a:stretch>
              <a:fillRect t="-6571" b="-4043"/>
            </a:stretch>
          </a:blipFill>
        </p:spPr>
      </p:sp>
      <p:sp>
        <p:nvSpPr>
          <p:cNvPr id="22" name="Freeform 22"/>
          <p:cNvSpPr/>
          <p:nvPr/>
        </p:nvSpPr>
        <p:spPr>
          <a:xfrm>
            <a:off x="418113" y="204964"/>
            <a:ext cx="1343882" cy="934874"/>
          </a:xfrm>
          <a:custGeom>
            <a:avLst/>
            <a:gdLst/>
            <a:ahLst/>
            <a:cxnLst/>
            <a:rect l="l" t="t" r="r" b="b"/>
            <a:pathLst>
              <a:path w="1343882" h="934874">
                <a:moveTo>
                  <a:pt x="0" y="0"/>
                </a:moveTo>
                <a:lnTo>
                  <a:pt x="1343882" y="0"/>
                </a:lnTo>
                <a:lnTo>
                  <a:pt x="1343882" y="934875"/>
                </a:lnTo>
                <a:lnTo>
                  <a:pt x="0" y="934875"/>
                </a:lnTo>
                <a:lnTo>
                  <a:pt x="0" y="0"/>
                </a:lnTo>
                <a:close/>
              </a:path>
            </a:pathLst>
          </a:custGeom>
          <a:blipFill>
            <a:blip r:embed="rId18"/>
            <a:stretch>
              <a:fillRect/>
            </a:stretch>
          </a:blipFill>
        </p:spPr>
      </p:sp>
      <p:sp>
        <p:nvSpPr>
          <p:cNvPr id="23" name="Freeform 23"/>
          <p:cNvSpPr/>
          <p:nvPr/>
        </p:nvSpPr>
        <p:spPr>
          <a:xfrm>
            <a:off x="16545617" y="404071"/>
            <a:ext cx="1427366" cy="735768"/>
          </a:xfrm>
          <a:custGeom>
            <a:avLst/>
            <a:gdLst/>
            <a:ahLst/>
            <a:cxnLst/>
            <a:rect l="l" t="t" r="r" b="b"/>
            <a:pathLst>
              <a:path w="1427366" h="735768">
                <a:moveTo>
                  <a:pt x="0" y="0"/>
                </a:moveTo>
                <a:lnTo>
                  <a:pt x="1427366" y="0"/>
                </a:lnTo>
                <a:lnTo>
                  <a:pt x="1427366" y="735768"/>
                </a:lnTo>
                <a:lnTo>
                  <a:pt x="0" y="735768"/>
                </a:lnTo>
                <a:lnTo>
                  <a:pt x="0" y="0"/>
                </a:lnTo>
                <a:close/>
              </a:path>
            </a:pathLst>
          </a:custGeom>
          <a:blipFill>
            <a:blip r:embed="rId19"/>
            <a:stretch>
              <a:fillRect l="-31769" t="-7059" b="-7059"/>
            </a:stretch>
          </a:blipFill>
        </p:spPr>
      </p:sp>
      <p:sp>
        <p:nvSpPr>
          <p:cNvPr id="24" name="Freeform 24"/>
          <p:cNvSpPr/>
          <p:nvPr/>
        </p:nvSpPr>
        <p:spPr>
          <a:xfrm>
            <a:off x="561575" y="8830873"/>
            <a:ext cx="1033158" cy="1019982"/>
          </a:xfrm>
          <a:custGeom>
            <a:avLst/>
            <a:gdLst/>
            <a:ahLst/>
            <a:cxnLst/>
            <a:rect l="l" t="t" r="r" b="b"/>
            <a:pathLst>
              <a:path w="1033158" h="1019982">
                <a:moveTo>
                  <a:pt x="0" y="0"/>
                </a:moveTo>
                <a:lnTo>
                  <a:pt x="1033158" y="0"/>
                </a:lnTo>
                <a:lnTo>
                  <a:pt x="1033158" y="1019983"/>
                </a:lnTo>
                <a:lnTo>
                  <a:pt x="0" y="1019983"/>
                </a:lnTo>
                <a:lnTo>
                  <a:pt x="0" y="0"/>
                </a:lnTo>
                <a:close/>
              </a:path>
            </a:pathLst>
          </a:custGeom>
          <a:blipFill>
            <a:blip r:embed="rId17"/>
            <a:stretch>
              <a:fillRect/>
            </a:stretch>
          </a:blipFill>
        </p:spPr>
      </p:sp>
      <p:sp>
        <p:nvSpPr>
          <p:cNvPr id="25" name="TextBox 25"/>
          <p:cNvSpPr txBox="1"/>
          <p:nvPr/>
        </p:nvSpPr>
        <p:spPr>
          <a:xfrm>
            <a:off x="3252088" y="364890"/>
            <a:ext cx="12264682" cy="1499069"/>
          </a:xfrm>
          <a:prstGeom prst="rect">
            <a:avLst/>
          </a:prstGeom>
        </p:spPr>
        <p:txBody>
          <a:bodyPr lIns="0" tIns="0" rIns="0" bIns="0" rtlCol="0" anchor="t">
            <a:spAutoFit/>
          </a:bodyPr>
          <a:lstStyle/>
          <a:p>
            <a:pPr marL="0" lvl="0" indent="0" algn="ctr">
              <a:lnSpc>
                <a:spcPts val="11328"/>
              </a:lnSpc>
            </a:pPr>
            <a:r>
              <a:rPr lang="en-US" sz="10998" b="1">
                <a:solidFill>
                  <a:srgbClr val="3E3E3E"/>
                </a:solidFill>
                <a:latin typeface="Nunito Heavy"/>
                <a:ea typeface="Nunito Heavy"/>
                <a:cs typeface="Nunito Heavy"/>
                <a:sym typeface="Nunito Heavy"/>
              </a:rPr>
              <a:t>Tiba Store</a:t>
            </a:r>
          </a:p>
        </p:txBody>
      </p:sp>
      <p:sp>
        <p:nvSpPr>
          <p:cNvPr id="26" name="TextBox 26"/>
          <p:cNvSpPr txBox="1"/>
          <p:nvPr/>
        </p:nvSpPr>
        <p:spPr>
          <a:xfrm>
            <a:off x="6199837" y="2749282"/>
            <a:ext cx="5888326" cy="2601847"/>
          </a:xfrm>
          <a:prstGeom prst="rect">
            <a:avLst/>
          </a:prstGeom>
        </p:spPr>
        <p:txBody>
          <a:bodyPr lIns="0" tIns="0" rIns="0" bIns="0" rtlCol="0" anchor="t">
            <a:spAutoFit/>
          </a:bodyPr>
          <a:lstStyle/>
          <a:p>
            <a:pPr algn="ctr">
              <a:lnSpc>
                <a:spcPts val="5131"/>
              </a:lnSpc>
            </a:pPr>
            <a:r>
              <a:rPr lang="en-US" sz="4349">
                <a:solidFill>
                  <a:srgbClr val="6FB429"/>
                </a:solidFill>
                <a:latin typeface="Corporative"/>
                <a:ea typeface="Corporative"/>
                <a:cs typeface="Corporative"/>
                <a:sym typeface="Corporative"/>
              </a:rPr>
              <a:t>Omar Abdelhady </a:t>
            </a:r>
          </a:p>
          <a:p>
            <a:pPr algn="ctr">
              <a:lnSpc>
                <a:spcPts val="5131"/>
              </a:lnSpc>
            </a:pPr>
            <a:r>
              <a:rPr lang="en-US" sz="4349">
                <a:solidFill>
                  <a:srgbClr val="6FB429"/>
                </a:solidFill>
                <a:latin typeface="Corporative"/>
                <a:ea typeface="Corporative"/>
                <a:cs typeface="Corporative"/>
                <a:sym typeface="Corporative"/>
              </a:rPr>
              <a:t>Elsayed Hassan</a:t>
            </a:r>
          </a:p>
          <a:p>
            <a:pPr algn="ctr">
              <a:lnSpc>
                <a:spcPts val="5131"/>
              </a:lnSpc>
            </a:pPr>
            <a:r>
              <a:rPr lang="en-US" sz="4349">
                <a:solidFill>
                  <a:srgbClr val="6FB429"/>
                </a:solidFill>
                <a:latin typeface="Corporative"/>
                <a:ea typeface="Corporative"/>
                <a:cs typeface="Corporative"/>
                <a:sym typeface="Corporative"/>
              </a:rPr>
              <a:t>Mahmoud Atef </a:t>
            </a:r>
          </a:p>
          <a:p>
            <a:pPr algn="ctr">
              <a:lnSpc>
                <a:spcPts val="5131"/>
              </a:lnSpc>
            </a:pPr>
            <a:r>
              <a:rPr lang="en-US" sz="4349">
                <a:solidFill>
                  <a:srgbClr val="6FB429"/>
                </a:solidFill>
                <a:latin typeface="Corporative"/>
                <a:ea typeface="Corporative"/>
                <a:cs typeface="Corporative"/>
                <a:sym typeface="Corporative"/>
              </a:rPr>
              <a:t>Ahmed Reda </a:t>
            </a:r>
          </a:p>
        </p:txBody>
      </p:sp>
      <p:sp>
        <p:nvSpPr>
          <p:cNvPr id="27" name="TextBox 27"/>
          <p:cNvSpPr txBox="1"/>
          <p:nvPr/>
        </p:nvSpPr>
        <p:spPr>
          <a:xfrm>
            <a:off x="7108642" y="1911585"/>
            <a:ext cx="3805813" cy="613627"/>
          </a:xfrm>
          <a:prstGeom prst="rect">
            <a:avLst/>
          </a:prstGeom>
        </p:spPr>
        <p:txBody>
          <a:bodyPr lIns="0" tIns="0" rIns="0" bIns="0" rtlCol="0" anchor="t">
            <a:spAutoFit/>
          </a:bodyPr>
          <a:lstStyle/>
          <a:p>
            <a:pPr algn="ctr">
              <a:lnSpc>
                <a:spcPts val="2464"/>
              </a:lnSpc>
            </a:pPr>
            <a:r>
              <a:rPr lang="en-US" sz="2392" b="1" spc="50">
                <a:solidFill>
                  <a:srgbClr val="FFFFFF"/>
                </a:solidFill>
                <a:latin typeface="Nunito Heavy"/>
                <a:ea typeface="Nunito Heavy"/>
                <a:cs typeface="Nunito Heavy"/>
                <a:sym typeface="Nunito Heavy"/>
              </a:rPr>
              <a:t>Business project</a:t>
            </a:r>
          </a:p>
          <a:p>
            <a:pPr marL="0" lvl="0" indent="0" algn="ctr">
              <a:lnSpc>
                <a:spcPts val="2464"/>
              </a:lnSpc>
              <a:spcBef>
                <a:spcPct val="0"/>
              </a:spcBef>
            </a:pPr>
            <a:r>
              <a:rPr lang="en-US" sz="2392" b="1" spc="50">
                <a:solidFill>
                  <a:srgbClr val="FFFFFF"/>
                </a:solidFill>
                <a:latin typeface="Nunito Heavy"/>
                <a:ea typeface="Nunito Heavy"/>
                <a:cs typeface="Nunito Heavy"/>
                <a:sym typeface="Nunito Heavy"/>
              </a:rPr>
              <a:t> Click Creators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grpSp>
        <p:nvGrpSpPr>
          <p:cNvPr id="3" name="Group 3"/>
          <p:cNvGrpSpPr/>
          <p:nvPr/>
        </p:nvGrpSpPr>
        <p:grpSpPr>
          <a:xfrm>
            <a:off x="12818781" y="3841189"/>
            <a:ext cx="9773136" cy="10412979"/>
            <a:chOff x="0" y="0"/>
            <a:chExt cx="13030848" cy="13883972"/>
          </a:xfrm>
        </p:grpSpPr>
        <p:sp>
          <p:nvSpPr>
            <p:cNvPr id="4" name="Freeform 4"/>
            <p:cNvSpPr/>
            <p:nvPr/>
          </p:nvSpPr>
          <p:spPr>
            <a:xfrm>
              <a:off x="3054280" y="0"/>
              <a:ext cx="9976568" cy="10557215"/>
            </a:xfrm>
            <a:custGeom>
              <a:avLst/>
              <a:gdLst/>
              <a:ahLst/>
              <a:cxnLst/>
              <a:rect l="l" t="t" r="r" b="b"/>
              <a:pathLst>
                <a:path w="9976568" h="10557215">
                  <a:moveTo>
                    <a:pt x="0" y="0"/>
                  </a:moveTo>
                  <a:lnTo>
                    <a:pt x="9976568" y="0"/>
                  </a:lnTo>
                  <a:lnTo>
                    <a:pt x="9976568" y="10557215"/>
                  </a:lnTo>
                  <a:lnTo>
                    <a:pt x="0" y="10557215"/>
                  </a:lnTo>
                  <a:lnTo>
                    <a:pt x="0" y="0"/>
                  </a:lnTo>
                  <a:close/>
                </a:path>
              </a:pathLst>
            </a:custGeom>
            <a:blipFill>
              <a:blip r:embed="rId3"/>
              <a:stretch>
                <a:fillRect/>
              </a:stretch>
            </a:blipFill>
          </p:spPr>
        </p:sp>
        <p:sp>
          <p:nvSpPr>
            <p:cNvPr id="5" name="Freeform 5"/>
            <p:cNvSpPr/>
            <p:nvPr/>
          </p:nvSpPr>
          <p:spPr>
            <a:xfrm>
              <a:off x="587546" y="7655228"/>
              <a:ext cx="1583495" cy="1738274"/>
            </a:xfrm>
            <a:custGeom>
              <a:avLst/>
              <a:gdLst/>
              <a:ahLst/>
              <a:cxnLst/>
              <a:rect l="l" t="t" r="r" b="b"/>
              <a:pathLst>
                <a:path w="1583495" h="1738274">
                  <a:moveTo>
                    <a:pt x="0" y="0"/>
                  </a:moveTo>
                  <a:lnTo>
                    <a:pt x="1583495" y="0"/>
                  </a:lnTo>
                  <a:lnTo>
                    <a:pt x="1583495" y="1738274"/>
                  </a:lnTo>
                  <a:lnTo>
                    <a:pt x="0" y="1738274"/>
                  </a:lnTo>
                  <a:lnTo>
                    <a:pt x="0" y="0"/>
                  </a:lnTo>
                  <a:close/>
                </a:path>
              </a:pathLst>
            </a:custGeom>
            <a:blipFill>
              <a:blip r:embed="rId4"/>
              <a:stretch>
                <a:fillRect l="-530034" t="-133257" b="-374081"/>
              </a:stretch>
            </a:blipFill>
            <a:ln cap="sq">
              <a:noFill/>
              <a:prstDash val="solid"/>
              <a:miter/>
            </a:ln>
          </p:spPr>
        </p:sp>
        <p:sp>
          <p:nvSpPr>
            <p:cNvPr id="6" name="Freeform 6"/>
            <p:cNvSpPr/>
            <p:nvPr/>
          </p:nvSpPr>
          <p:spPr>
            <a:xfrm>
              <a:off x="8552701" y="12413005"/>
              <a:ext cx="1458845" cy="1470967"/>
            </a:xfrm>
            <a:custGeom>
              <a:avLst/>
              <a:gdLst/>
              <a:ahLst/>
              <a:cxnLst/>
              <a:rect l="l" t="t" r="r" b="b"/>
              <a:pathLst>
                <a:path w="1458845" h="1470967">
                  <a:moveTo>
                    <a:pt x="0" y="0"/>
                  </a:moveTo>
                  <a:lnTo>
                    <a:pt x="1458846" y="0"/>
                  </a:lnTo>
                  <a:lnTo>
                    <a:pt x="1458846" y="1470967"/>
                  </a:lnTo>
                  <a:lnTo>
                    <a:pt x="0" y="1470967"/>
                  </a:lnTo>
                  <a:lnTo>
                    <a:pt x="0" y="0"/>
                  </a:lnTo>
                  <a:close/>
                </a:path>
              </a:pathLst>
            </a:custGeom>
            <a:blipFill>
              <a:blip r:embed="rId5"/>
              <a:stretch>
                <a:fillRect t="-137512" r="-583867" b="-480192"/>
              </a:stretch>
            </a:blipFill>
          </p:spPr>
        </p:sp>
        <p:sp>
          <p:nvSpPr>
            <p:cNvPr id="7" name="Freeform 7"/>
            <p:cNvSpPr/>
            <p:nvPr/>
          </p:nvSpPr>
          <p:spPr>
            <a:xfrm>
              <a:off x="0" y="5976021"/>
              <a:ext cx="396633" cy="396137"/>
            </a:xfrm>
            <a:custGeom>
              <a:avLst/>
              <a:gdLst/>
              <a:ahLst/>
              <a:cxnLst/>
              <a:rect l="l" t="t" r="r" b="b"/>
              <a:pathLst>
                <a:path w="396633" h="396137">
                  <a:moveTo>
                    <a:pt x="0" y="0"/>
                  </a:moveTo>
                  <a:lnTo>
                    <a:pt x="396633" y="0"/>
                  </a:lnTo>
                  <a:lnTo>
                    <a:pt x="396633" y="396136"/>
                  </a:lnTo>
                  <a:lnTo>
                    <a:pt x="0" y="396136"/>
                  </a:lnTo>
                  <a:lnTo>
                    <a:pt x="0" y="0"/>
                  </a:lnTo>
                  <a:close/>
                </a:path>
              </a:pathLst>
            </a:custGeom>
            <a:blipFill>
              <a:blip r:embed="rId6"/>
              <a:stretch>
                <a:fillRect/>
              </a:stretch>
            </a:blipFill>
          </p:spPr>
        </p:sp>
        <p:sp>
          <p:nvSpPr>
            <p:cNvPr id="8" name="Freeform 8"/>
            <p:cNvSpPr/>
            <p:nvPr/>
          </p:nvSpPr>
          <p:spPr>
            <a:xfrm>
              <a:off x="2657647" y="6853230"/>
              <a:ext cx="396633" cy="396137"/>
            </a:xfrm>
            <a:custGeom>
              <a:avLst/>
              <a:gdLst/>
              <a:ahLst/>
              <a:cxnLst/>
              <a:rect l="l" t="t" r="r" b="b"/>
              <a:pathLst>
                <a:path w="396633" h="396137">
                  <a:moveTo>
                    <a:pt x="0" y="0"/>
                  </a:moveTo>
                  <a:lnTo>
                    <a:pt x="396633" y="0"/>
                  </a:lnTo>
                  <a:lnTo>
                    <a:pt x="396633" y="396137"/>
                  </a:lnTo>
                  <a:lnTo>
                    <a:pt x="0" y="396137"/>
                  </a:lnTo>
                  <a:lnTo>
                    <a:pt x="0" y="0"/>
                  </a:lnTo>
                  <a:close/>
                </a:path>
              </a:pathLst>
            </a:custGeom>
            <a:blipFill>
              <a:blip r:embed="rId7"/>
              <a:stretch>
                <a:fillRect/>
              </a:stretch>
            </a:blipFill>
          </p:spPr>
        </p:sp>
        <p:sp>
          <p:nvSpPr>
            <p:cNvPr id="9" name="Freeform 9"/>
            <p:cNvSpPr/>
            <p:nvPr/>
          </p:nvSpPr>
          <p:spPr>
            <a:xfrm>
              <a:off x="7766257" y="11242007"/>
              <a:ext cx="266860" cy="266526"/>
            </a:xfrm>
            <a:custGeom>
              <a:avLst/>
              <a:gdLst/>
              <a:ahLst/>
              <a:cxnLst/>
              <a:rect l="l" t="t" r="r" b="b"/>
              <a:pathLst>
                <a:path w="266860" h="266526">
                  <a:moveTo>
                    <a:pt x="0" y="0"/>
                  </a:moveTo>
                  <a:lnTo>
                    <a:pt x="266860" y="0"/>
                  </a:lnTo>
                  <a:lnTo>
                    <a:pt x="266860" y="266526"/>
                  </a:lnTo>
                  <a:lnTo>
                    <a:pt x="0" y="266526"/>
                  </a:lnTo>
                  <a:lnTo>
                    <a:pt x="0" y="0"/>
                  </a:lnTo>
                  <a:close/>
                </a:path>
              </a:pathLst>
            </a:custGeom>
            <a:blipFill>
              <a:blip r:embed="rId8"/>
              <a:stretch>
                <a:fillRect/>
              </a:stretch>
            </a:blipFill>
          </p:spPr>
        </p:sp>
        <p:sp>
          <p:nvSpPr>
            <p:cNvPr id="10" name="Freeform 10"/>
            <p:cNvSpPr/>
            <p:nvPr/>
          </p:nvSpPr>
          <p:spPr>
            <a:xfrm>
              <a:off x="10251619" y="11393586"/>
              <a:ext cx="485741" cy="485133"/>
            </a:xfrm>
            <a:custGeom>
              <a:avLst/>
              <a:gdLst/>
              <a:ahLst/>
              <a:cxnLst/>
              <a:rect l="l" t="t" r="r" b="b"/>
              <a:pathLst>
                <a:path w="485741" h="485133">
                  <a:moveTo>
                    <a:pt x="0" y="0"/>
                  </a:moveTo>
                  <a:lnTo>
                    <a:pt x="485740" y="0"/>
                  </a:lnTo>
                  <a:lnTo>
                    <a:pt x="485740" y="485134"/>
                  </a:lnTo>
                  <a:lnTo>
                    <a:pt x="0" y="485134"/>
                  </a:lnTo>
                  <a:lnTo>
                    <a:pt x="0" y="0"/>
                  </a:lnTo>
                  <a:close/>
                </a:path>
              </a:pathLst>
            </a:custGeom>
            <a:blipFill>
              <a:blip r:embed="rId9"/>
              <a:stretch>
                <a:fillRect/>
              </a:stretch>
            </a:blipFill>
            <a:ln cap="sq">
              <a:noFill/>
              <a:prstDash val="solid"/>
              <a:miter/>
            </a:ln>
          </p:spPr>
        </p:sp>
      </p:grpSp>
      <p:sp>
        <p:nvSpPr>
          <p:cNvPr id="11" name="Freeform 11"/>
          <p:cNvSpPr/>
          <p:nvPr/>
        </p:nvSpPr>
        <p:spPr>
          <a:xfrm>
            <a:off x="180929" y="8802408"/>
            <a:ext cx="1357377" cy="1299237"/>
          </a:xfrm>
          <a:custGeom>
            <a:avLst/>
            <a:gdLst/>
            <a:ahLst/>
            <a:cxnLst/>
            <a:rect l="l" t="t" r="r" b="b"/>
            <a:pathLst>
              <a:path w="1357377" h="1299237">
                <a:moveTo>
                  <a:pt x="0" y="0"/>
                </a:moveTo>
                <a:lnTo>
                  <a:pt x="1357378" y="0"/>
                </a:lnTo>
                <a:lnTo>
                  <a:pt x="1357378" y="1299237"/>
                </a:lnTo>
                <a:lnTo>
                  <a:pt x="0" y="1299237"/>
                </a:lnTo>
                <a:lnTo>
                  <a:pt x="0" y="0"/>
                </a:lnTo>
                <a:close/>
              </a:path>
            </a:pathLst>
          </a:custGeom>
          <a:blipFill>
            <a:blip r:embed="rId4"/>
            <a:stretch>
              <a:fillRect l="-292046" r="-282218" b="-645437"/>
            </a:stretch>
          </a:blipFill>
          <a:ln cap="sq">
            <a:noFill/>
            <a:prstDash val="solid"/>
            <a:miter/>
          </a:ln>
        </p:spPr>
      </p:sp>
      <p:sp>
        <p:nvSpPr>
          <p:cNvPr id="12" name="TextBox 12"/>
          <p:cNvSpPr txBox="1"/>
          <p:nvPr/>
        </p:nvSpPr>
        <p:spPr>
          <a:xfrm>
            <a:off x="1028700" y="183513"/>
            <a:ext cx="15406163" cy="9324441"/>
          </a:xfrm>
          <a:prstGeom prst="rect">
            <a:avLst/>
          </a:prstGeom>
        </p:spPr>
        <p:txBody>
          <a:bodyPr lIns="0" tIns="0" rIns="0" bIns="0" rtlCol="0" anchor="t">
            <a:spAutoFit/>
          </a:bodyPr>
          <a:lstStyle/>
          <a:p>
            <a:pPr algn="ctr">
              <a:lnSpc>
                <a:spcPts val="7000"/>
              </a:lnSpc>
            </a:pPr>
            <a:r>
              <a:rPr lang="en-US" sz="5000" b="1">
                <a:solidFill>
                  <a:srgbClr val="3E3E3E"/>
                </a:solidFill>
                <a:latin typeface="Droid Arabic Kufi Bold"/>
                <a:ea typeface="Droid Arabic Kufi Bold"/>
                <a:cs typeface="Droid Arabic Kufi Bold"/>
                <a:sym typeface="Droid Arabic Kufi Bold"/>
              </a:rPr>
              <a:t>Project idea</a:t>
            </a:r>
          </a:p>
          <a:p>
            <a:pPr algn="ctr">
              <a:lnSpc>
                <a:spcPts val="4398"/>
              </a:lnSpc>
            </a:pPr>
            <a:endParaRPr lang="en-US" sz="5000" b="1">
              <a:solidFill>
                <a:srgbClr val="3E3E3E"/>
              </a:solidFill>
              <a:latin typeface="Droid Arabic Kufi Bold"/>
              <a:ea typeface="Droid Arabic Kufi Bold"/>
              <a:cs typeface="Droid Arabic Kufi Bold"/>
              <a:sym typeface="Droid Arabic Kufi Bold"/>
            </a:endParaRPr>
          </a:p>
          <a:p>
            <a:pPr marL="678380" lvl="1" indent="-339190" algn="ctr">
              <a:lnSpc>
                <a:spcPts val="4398"/>
              </a:lnSpc>
              <a:buFont typeface="Arial"/>
              <a:buChar char="•"/>
            </a:pPr>
            <a:r>
              <a:rPr lang="en-US" sz="3142" b="1">
                <a:solidFill>
                  <a:srgbClr val="3E3E3E"/>
                </a:solidFill>
                <a:latin typeface="XM Vahid Bold"/>
                <a:ea typeface="XM Vahid Bold"/>
                <a:cs typeface="XM Vahid Bold"/>
                <a:sym typeface="XM Vahid Bold"/>
              </a:rPr>
              <a:t>Tiba Store is an Egyptian store offering a diverse range of high-quality beauty, cleaning, and baby care products at affordable prices.</a:t>
            </a:r>
          </a:p>
          <a:p>
            <a:pPr algn="ctr">
              <a:lnSpc>
                <a:spcPts val="4398"/>
              </a:lnSpc>
            </a:pPr>
            <a:endParaRPr lang="en-US" sz="3142" b="1">
              <a:solidFill>
                <a:srgbClr val="3E3E3E"/>
              </a:solidFill>
              <a:latin typeface="XM Vahid Bold"/>
              <a:ea typeface="XM Vahid Bold"/>
              <a:cs typeface="XM Vahid Bold"/>
              <a:sym typeface="XM Vahid Bold"/>
            </a:endParaRPr>
          </a:p>
          <a:p>
            <a:pPr marL="678380" lvl="1" indent="-339190" algn="ctr">
              <a:lnSpc>
                <a:spcPts val="4398"/>
              </a:lnSpc>
              <a:buFont typeface="Arial"/>
              <a:buChar char="•"/>
            </a:pPr>
            <a:r>
              <a:rPr lang="en-US" sz="3142" b="1">
                <a:solidFill>
                  <a:srgbClr val="3E3E3E"/>
                </a:solidFill>
                <a:latin typeface="XM Vahid Bold"/>
                <a:ea typeface="XM Vahid Bold"/>
                <a:cs typeface="XM Vahid Bold"/>
                <a:sym typeface="XM Vahid Bold"/>
              </a:rPr>
              <a:t>Located in Banha, the store serves customers through both its physical store and online shop, providing a convenient and efficient shopping experience.</a:t>
            </a:r>
          </a:p>
          <a:p>
            <a:pPr algn="ctr">
              <a:lnSpc>
                <a:spcPts val="4398"/>
              </a:lnSpc>
            </a:pPr>
            <a:endParaRPr lang="en-US" sz="3142" b="1">
              <a:solidFill>
                <a:srgbClr val="3E3E3E"/>
              </a:solidFill>
              <a:latin typeface="XM Vahid Bold"/>
              <a:ea typeface="XM Vahid Bold"/>
              <a:cs typeface="XM Vahid Bold"/>
              <a:sym typeface="XM Vahid Bold"/>
            </a:endParaRPr>
          </a:p>
          <a:p>
            <a:pPr marL="678380" lvl="1" indent="-339190" algn="ctr">
              <a:lnSpc>
                <a:spcPts val="4398"/>
              </a:lnSpc>
              <a:buFont typeface="Arial"/>
              <a:buChar char="•"/>
            </a:pPr>
            <a:r>
              <a:rPr lang="en-US" sz="3142" b="1">
                <a:solidFill>
                  <a:srgbClr val="3E3E3E"/>
                </a:solidFill>
                <a:latin typeface="XM Vahid Bold"/>
                <a:ea typeface="XM Vahid Bold"/>
                <a:cs typeface="XM Vahid Bold"/>
                <a:sym typeface="XM Vahid Bold"/>
              </a:rPr>
              <a:t>What sets Tiba Store apart is its reliance on a local digital experience, enabling same-day delivery within Banha, with direct communication via social media and WhatsApp.</a:t>
            </a:r>
          </a:p>
          <a:p>
            <a:pPr algn="ctr">
              <a:lnSpc>
                <a:spcPts val="4398"/>
              </a:lnSpc>
            </a:pPr>
            <a:endParaRPr lang="en-US" sz="3142" b="1">
              <a:solidFill>
                <a:srgbClr val="3E3E3E"/>
              </a:solidFill>
              <a:latin typeface="XM Vahid Bold"/>
              <a:ea typeface="XM Vahid Bold"/>
              <a:cs typeface="XM Vahid Bold"/>
              <a:sym typeface="XM Vahid Bold"/>
            </a:endParaRPr>
          </a:p>
          <a:p>
            <a:pPr marL="678380" lvl="1" indent="-339190" algn="ctr">
              <a:lnSpc>
                <a:spcPts val="4398"/>
              </a:lnSpc>
              <a:buFont typeface="Arial"/>
              <a:buChar char="•"/>
            </a:pPr>
            <a:r>
              <a:rPr lang="en-US" sz="3142" b="1">
                <a:solidFill>
                  <a:srgbClr val="3E3E3E"/>
                </a:solidFill>
                <a:latin typeface="XM Vahid Bold"/>
                <a:ea typeface="XM Vahid Bold"/>
                <a:cs typeface="XM Vahid Bold"/>
                <a:sym typeface="XM Vahid Bold"/>
              </a:rPr>
              <a:t>The store also offers helpful educational content on home care, beauty, and childcare, adding real value to its customers beyond the purchase itself.</a:t>
            </a:r>
          </a:p>
          <a:p>
            <a:pPr algn="ctr">
              <a:lnSpc>
                <a:spcPts val="4398"/>
              </a:lnSpc>
            </a:pPr>
            <a:endParaRPr lang="en-US" sz="3142" b="1">
              <a:solidFill>
                <a:srgbClr val="3E3E3E"/>
              </a:solidFill>
              <a:latin typeface="XM Vahid Bold"/>
              <a:ea typeface="XM Vahid Bold"/>
              <a:cs typeface="XM Vahid Bold"/>
              <a:sym typeface="XM Vahid Bold"/>
            </a:endParaRPr>
          </a:p>
          <a:p>
            <a:pPr algn="ctr">
              <a:lnSpc>
                <a:spcPts val="5658"/>
              </a:lnSpc>
            </a:pPr>
            <a:r>
              <a:rPr lang="en-US" sz="4042" b="1">
                <a:solidFill>
                  <a:srgbClr val="3E3E3E"/>
                </a:solidFill>
                <a:latin typeface="Droid Arabic Naskh Bold"/>
                <a:ea typeface="Droid Arabic Naskh Bold"/>
                <a:cs typeface="Droid Arabic Naskh Bold"/>
                <a:sym typeface="Droid Arabic Naskh Bold"/>
              </a:rPr>
              <a:t>Tiba Store – The best for your family every day.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sp>
        <p:nvSpPr>
          <p:cNvPr id="3" name="Freeform 3"/>
          <p:cNvSpPr/>
          <p:nvPr/>
        </p:nvSpPr>
        <p:spPr>
          <a:xfrm>
            <a:off x="4698102" y="-531357"/>
            <a:ext cx="10198501" cy="2076786"/>
          </a:xfrm>
          <a:custGeom>
            <a:avLst/>
            <a:gdLst/>
            <a:ahLst/>
            <a:cxnLst/>
            <a:rect l="l" t="t" r="r" b="b"/>
            <a:pathLst>
              <a:path w="10198501" h="2076786">
                <a:moveTo>
                  <a:pt x="0" y="0"/>
                </a:moveTo>
                <a:lnTo>
                  <a:pt x="10198501" y="0"/>
                </a:lnTo>
                <a:lnTo>
                  <a:pt x="10198501" y="2076786"/>
                </a:lnTo>
                <a:lnTo>
                  <a:pt x="0" y="20767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551704" y="-1172274"/>
            <a:ext cx="3350524" cy="3090858"/>
          </a:xfrm>
          <a:custGeom>
            <a:avLst/>
            <a:gdLst/>
            <a:ahLst/>
            <a:cxnLst/>
            <a:rect l="l" t="t" r="r" b="b"/>
            <a:pathLst>
              <a:path w="3350524" h="3090858">
                <a:moveTo>
                  <a:pt x="0" y="0"/>
                </a:moveTo>
                <a:lnTo>
                  <a:pt x="3350524" y="0"/>
                </a:lnTo>
                <a:lnTo>
                  <a:pt x="3350524" y="3090858"/>
                </a:lnTo>
                <a:lnTo>
                  <a:pt x="0" y="3090858"/>
                </a:lnTo>
                <a:lnTo>
                  <a:pt x="0" y="0"/>
                </a:lnTo>
                <a:close/>
              </a:path>
            </a:pathLst>
          </a:custGeom>
          <a:blipFill>
            <a:blip r:embed="rId5"/>
            <a:stretch>
              <a:fillRect/>
            </a:stretch>
          </a:blipFill>
          <a:ln cap="sq">
            <a:noFill/>
            <a:prstDash val="solid"/>
            <a:miter/>
          </a:ln>
        </p:spPr>
      </p:sp>
      <p:grpSp>
        <p:nvGrpSpPr>
          <p:cNvPr id="5" name="Group 5"/>
          <p:cNvGrpSpPr/>
          <p:nvPr/>
        </p:nvGrpSpPr>
        <p:grpSpPr>
          <a:xfrm>
            <a:off x="-561805" y="8288578"/>
            <a:ext cx="4974276" cy="3996844"/>
            <a:chOff x="0" y="0"/>
            <a:chExt cx="6632368" cy="5329125"/>
          </a:xfrm>
        </p:grpSpPr>
        <p:sp>
          <p:nvSpPr>
            <p:cNvPr id="6" name="Freeform 6"/>
            <p:cNvSpPr/>
            <p:nvPr/>
          </p:nvSpPr>
          <p:spPr>
            <a:xfrm>
              <a:off x="4703581" y="2979121"/>
              <a:ext cx="782689" cy="781711"/>
            </a:xfrm>
            <a:custGeom>
              <a:avLst/>
              <a:gdLst/>
              <a:ahLst/>
              <a:cxnLst/>
              <a:rect l="l" t="t" r="r" b="b"/>
              <a:pathLst>
                <a:path w="782689" h="781711">
                  <a:moveTo>
                    <a:pt x="0" y="0"/>
                  </a:moveTo>
                  <a:lnTo>
                    <a:pt x="782689" y="0"/>
                  </a:lnTo>
                  <a:lnTo>
                    <a:pt x="782689" y="781711"/>
                  </a:lnTo>
                  <a:lnTo>
                    <a:pt x="0" y="781711"/>
                  </a:lnTo>
                  <a:lnTo>
                    <a:pt x="0" y="0"/>
                  </a:lnTo>
                  <a:close/>
                </a:path>
              </a:pathLst>
            </a:custGeom>
            <a:blipFill>
              <a:blip r:embed="rId6"/>
              <a:stretch>
                <a:fillRect/>
              </a:stretch>
            </a:blipFill>
            <a:ln cap="sq">
              <a:noFill/>
              <a:prstDash val="solid"/>
              <a:miter/>
            </a:ln>
          </p:spPr>
        </p:sp>
        <p:sp>
          <p:nvSpPr>
            <p:cNvPr id="7" name="Freeform 7"/>
            <p:cNvSpPr/>
            <p:nvPr/>
          </p:nvSpPr>
          <p:spPr>
            <a:xfrm>
              <a:off x="0" y="1694199"/>
              <a:ext cx="3634926" cy="3634926"/>
            </a:xfrm>
            <a:custGeom>
              <a:avLst/>
              <a:gdLst/>
              <a:ahLst/>
              <a:cxnLst/>
              <a:rect l="l" t="t" r="r" b="b"/>
              <a:pathLst>
                <a:path w="3634926" h="3634926">
                  <a:moveTo>
                    <a:pt x="0" y="0"/>
                  </a:moveTo>
                  <a:lnTo>
                    <a:pt x="3634926" y="0"/>
                  </a:lnTo>
                  <a:lnTo>
                    <a:pt x="3634926" y="3634926"/>
                  </a:lnTo>
                  <a:lnTo>
                    <a:pt x="0" y="3634926"/>
                  </a:lnTo>
                  <a:lnTo>
                    <a:pt x="0" y="0"/>
                  </a:lnTo>
                  <a:close/>
                </a:path>
              </a:pathLst>
            </a:custGeom>
            <a:blipFill>
              <a:blip r:embed="rId7"/>
              <a:stretch>
                <a:fillRect/>
              </a:stretch>
            </a:blipFill>
          </p:spPr>
        </p:sp>
        <p:sp>
          <p:nvSpPr>
            <p:cNvPr id="8" name="Freeform 8"/>
            <p:cNvSpPr/>
            <p:nvPr/>
          </p:nvSpPr>
          <p:spPr>
            <a:xfrm>
              <a:off x="6009204" y="1267342"/>
              <a:ext cx="623163" cy="622384"/>
            </a:xfrm>
            <a:custGeom>
              <a:avLst/>
              <a:gdLst/>
              <a:ahLst/>
              <a:cxnLst/>
              <a:rect l="l" t="t" r="r" b="b"/>
              <a:pathLst>
                <a:path w="623163" h="622384">
                  <a:moveTo>
                    <a:pt x="0" y="0"/>
                  </a:moveTo>
                  <a:lnTo>
                    <a:pt x="623164" y="0"/>
                  </a:lnTo>
                  <a:lnTo>
                    <a:pt x="623164" y="622385"/>
                  </a:lnTo>
                  <a:lnTo>
                    <a:pt x="0" y="622385"/>
                  </a:lnTo>
                  <a:lnTo>
                    <a:pt x="0" y="0"/>
                  </a:lnTo>
                  <a:close/>
                </a:path>
              </a:pathLst>
            </a:custGeom>
            <a:blipFill>
              <a:blip r:embed="rId8"/>
              <a:stretch>
                <a:fillRect/>
              </a:stretch>
            </a:blipFill>
          </p:spPr>
        </p:sp>
        <p:sp>
          <p:nvSpPr>
            <p:cNvPr id="9" name="Freeform 9"/>
            <p:cNvSpPr/>
            <p:nvPr/>
          </p:nvSpPr>
          <p:spPr>
            <a:xfrm>
              <a:off x="1817463" y="0"/>
              <a:ext cx="861001" cy="859925"/>
            </a:xfrm>
            <a:custGeom>
              <a:avLst/>
              <a:gdLst/>
              <a:ahLst/>
              <a:cxnLst/>
              <a:rect l="l" t="t" r="r" b="b"/>
              <a:pathLst>
                <a:path w="861001" h="859925">
                  <a:moveTo>
                    <a:pt x="0" y="0"/>
                  </a:moveTo>
                  <a:lnTo>
                    <a:pt x="861001" y="0"/>
                  </a:lnTo>
                  <a:lnTo>
                    <a:pt x="861001" y="859925"/>
                  </a:lnTo>
                  <a:lnTo>
                    <a:pt x="0" y="859925"/>
                  </a:lnTo>
                  <a:lnTo>
                    <a:pt x="0" y="0"/>
                  </a:lnTo>
                  <a:close/>
                </a:path>
              </a:pathLst>
            </a:custGeom>
            <a:blipFill>
              <a:blip r:embed="rId9"/>
              <a:stretch>
                <a:fillRect/>
              </a:stretch>
            </a:blipFill>
          </p:spPr>
        </p:sp>
      </p:grpSp>
      <p:grpSp>
        <p:nvGrpSpPr>
          <p:cNvPr id="10" name="Group 10"/>
          <p:cNvGrpSpPr/>
          <p:nvPr/>
        </p:nvGrpSpPr>
        <p:grpSpPr>
          <a:xfrm>
            <a:off x="14896603" y="-1363756"/>
            <a:ext cx="4581093" cy="3741584"/>
            <a:chOff x="0" y="0"/>
            <a:chExt cx="6108124" cy="4988779"/>
          </a:xfrm>
        </p:grpSpPr>
        <p:sp>
          <p:nvSpPr>
            <p:cNvPr id="11" name="Freeform 11"/>
            <p:cNvSpPr/>
            <p:nvPr/>
          </p:nvSpPr>
          <p:spPr>
            <a:xfrm>
              <a:off x="1514299" y="4093306"/>
              <a:ext cx="896594" cy="895473"/>
            </a:xfrm>
            <a:custGeom>
              <a:avLst/>
              <a:gdLst/>
              <a:ahLst/>
              <a:cxnLst/>
              <a:rect l="l" t="t" r="r" b="b"/>
              <a:pathLst>
                <a:path w="896594" h="895473">
                  <a:moveTo>
                    <a:pt x="0" y="0"/>
                  </a:moveTo>
                  <a:lnTo>
                    <a:pt x="896595" y="0"/>
                  </a:lnTo>
                  <a:lnTo>
                    <a:pt x="896595" y="895473"/>
                  </a:lnTo>
                  <a:lnTo>
                    <a:pt x="0" y="895473"/>
                  </a:lnTo>
                  <a:lnTo>
                    <a:pt x="0" y="0"/>
                  </a:lnTo>
                  <a:close/>
                </a:path>
              </a:pathLst>
            </a:custGeom>
            <a:blipFill>
              <a:blip r:embed="rId8"/>
              <a:stretch>
                <a:fillRect/>
              </a:stretch>
            </a:blipFill>
          </p:spPr>
        </p:sp>
        <p:sp>
          <p:nvSpPr>
            <p:cNvPr id="12" name="Freeform 12"/>
            <p:cNvSpPr/>
            <p:nvPr/>
          </p:nvSpPr>
          <p:spPr>
            <a:xfrm>
              <a:off x="2025654" y="0"/>
              <a:ext cx="3599423" cy="4155179"/>
            </a:xfrm>
            <a:custGeom>
              <a:avLst/>
              <a:gdLst/>
              <a:ahLst/>
              <a:cxnLst/>
              <a:rect l="l" t="t" r="r" b="b"/>
              <a:pathLst>
                <a:path w="3599423" h="4155179">
                  <a:moveTo>
                    <a:pt x="0" y="0"/>
                  </a:moveTo>
                  <a:lnTo>
                    <a:pt x="3599423" y="0"/>
                  </a:lnTo>
                  <a:lnTo>
                    <a:pt x="3599423" y="4155179"/>
                  </a:lnTo>
                  <a:lnTo>
                    <a:pt x="0" y="4155179"/>
                  </a:lnTo>
                  <a:lnTo>
                    <a:pt x="0" y="0"/>
                  </a:lnTo>
                  <a:close/>
                </a:path>
              </a:pathLst>
            </a:custGeom>
            <a:blipFill>
              <a:blip r:embed="rId10"/>
              <a:stretch>
                <a:fillRect/>
              </a:stretch>
            </a:blipFill>
          </p:spPr>
        </p:sp>
        <p:sp>
          <p:nvSpPr>
            <p:cNvPr id="13" name="Freeform 13"/>
            <p:cNvSpPr/>
            <p:nvPr/>
          </p:nvSpPr>
          <p:spPr>
            <a:xfrm>
              <a:off x="0" y="1615271"/>
              <a:ext cx="713732" cy="712840"/>
            </a:xfrm>
            <a:custGeom>
              <a:avLst/>
              <a:gdLst/>
              <a:ahLst/>
              <a:cxnLst/>
              <a:rect l="l" t="t" r="r" b="b"/>
              <a:pathLst>
                <a:path w="713732" h="712840">
                  <a:moveTo>
                    <a:pt x="0" y="0"/>
                  </a:moveTo>
                  <a:lnTo>
                    <a:pt x="713732" y="0"/>
                  </a:lnTo>
                  <a:lnTo>
                    <a:pt x="713732" y="712840"/>
                  </a:lnTo>
                  <a:lnTo>
                    <a:pt x="0" y="712840"/>
                  </a:lnTo>
                  <a:lnTo>
                    <a:pt x="0" y="0"/>
                  </a:lnTo>
                  <a:close/>
                </a:path>
              </a:pathLst>
            </a:custGeom>
            <a:blipFill>
              <a:blip r:embed="rId6"/>
              <a:stretch>
                <a:fillRect/>
              </a:stretch>
            </a:blipFill>
            <a:ln cap="sq">
              <a:noFill/>
              <a:prstDash val="solid"/>
              <a:miter/>
            </a:ln>
          </p:spPr>
        </p:sp>
        <p:sp>
          <p:nvSpPr>
            <p:cNvPr id="14" name="Freeform 14"/>
            <p:cNvSpPr/>
            <p:nvPr/>
          </p:nvSpPr>
          <p:spPr>
            <a:xfrm>
              <a:off x="5625077" y="3209110"/>
              <a:ext cx="483047" cy="482443"/>
            </a:xfrm>
            <a:custGeom>
              <a:avLst/>
              <a:gdLst/>
              <a:ahLst/>
              <a:cxnLst/>
              <a:rect l="l" t="t" r="r" b="b"/>
              <a:pathLst>
                <a:path w="483047" h="482443">
                  <a:moveTo>
                    <a:pt x="0" y="0"/>
                  </a:moveTo>
                  <a:lnTo>
                    <a:pt x="483047" y="0"/>
                  </a:lnTo>
                  <a:lnTo>
                    <a:pt x="483047" y="482443"/>
                  </a:lnTo>
                  <a:lnTo>
                    <a:pt x="0" y="482443"/>
                  </a:lnTo>
                  <a:lnTo>
                    <a:pt x="0" y="0"/>
                  </a:lnTo>
                  <a:close/>
                </a:path>
              </a:pathLst>
            </a:custGeom>
            <a:blipFill>
              <a:blip r:embed="rId11"/>
              <a:stretch>
                <a:fillRect/>
              </a:stretch>
            </a:blipFill>
          </p:spPr>
        </p:sp>
      </p:grpSp>
      <p:sp>
        <p:nvSpPr>
          <p:cNvPr id="15" name="Freeform 15"/>
          <p:cNvSpPr/>
          <p:nvPr/>
        </p:nvSpPr>
        <p:spPr>
          <a:xfrm>
            <a:off x="1925333" y="9650059"/>
            <a:ext cx="15744040" cy="8845288"/>
          </a:xfrm>
          <a:custGeom>
            <a:avLst/>
            <a:gdLst/>
            <a:ahLst/>
            <a:cxnLst/>
            <a:rect l="l" t="t" r="r" b="b"/>
            <a:pathLst>
              <a:path w="15744040" h="8845288">
                <a:moveTo>
                  <a:pt x="0" y="0"/>
                </a:moveTo>
                <a:lnTo>
                  <a:pt x="15744040" y="0"/>
                </a:lnTo>
                <a:lnTo>
                  <a:pt x="15744040" y="8845288"/>
                </a:lnTo>
                <a:lnTo>
                  <a:pt x="0" y="884528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6" name="TextBox 16"/>
          <p:cNvSpPr txBox="1"/>
          <p:nvPr/>
        </p:nvSpPr>
        <p:spPr>
          <a:xfrm>
            <a:off x="6129269" y="592761"/>
            <a:ext cx="11278633" cy="681028"/>
          </a:xfrm>
          <a:prstGeom prst="rect">
            <a:avLst/>
          </a:prstGeom>
        </p:spPr>
        <p:txBody>
          <a:bodyPr lIns="0" tIns="0" rIns="0" bIns="0" rtlCol="0" anchor="t">
            <a:spAutoFit/>
          </a:bodyPr>
          <a:lstStyle/>
          <a:p>
            <a:pPr marL="0" lvl="0" indent="0" algn="l">
              <a:lnSpc>
                <a:spcPts val="5225"/>
              </a:lnSpc>
              <a:spcBef>
                <a:spcPct val="0"/>
              </a:spcBef>
            </a:pPr>
            <a:r>
              <a:rPr lang="en-US" sz="5073" b="1">
                <a:solidFill>
                  <a:srgbClr val="FFFFFF"/>
                </a:solidFill>
                <a:latin typeface="Droid Arabic Kufi Bold"/>
                <a:ea typeface="Droid Arabic Kufi Bold"/>
                <a:cs typeface="Droid Arabic Kufi Bold"/>
                <a:sym typeface="Droid Arabic Kufi Bold"/>
              </a:rPr>
              <a:t>Vision &amp; Business Goals</a:t>
            </a:r>
          </a:p>
        </p:txBody>
      </p:sp>
      <p:sp>
        <p:nvSpPr>
          <p:cNvPr id="17" name="TextBox 17"/>
          <p:cNvSpPr txBox="1"/>
          <p:nvPr/>
        </p:nvSpPr>
        <p:spPr>
          <a:xfrm>
            <a:off x="149785" y="1918584"/>
            <a:ext cx="9413732" cy="6181215"/>
          </a:xfrm>
          <a:prstGeom prst="rect">
            <a:avLst/>
          </a:prstGeom>
        </p:spPr>
        <p:txBody>
          <a:bodyPr lIns="0" tIns="0" rIns="0" bIns="0" rtlCol="0" anchor="t">
            <a:spAutoFit/>
          </a:bodyPr>
          <a:lstStyle/>
          <a:p>
            <a:pPr algn="ctr">
              <a:lnSpc>
                <a:spcPts val="4777"/>
              </a:lnSpc>
            </a:pPr>
            <a:r>
              <a:rPr lang="en-US" sz="4049" b="1">
                <a:solidFill>
                  <a:srgbClr val="000000"/>
                </a:solidFill>
                <a:latin typeface="Droid Arabic Kufi Bold"/>
                <a:ea typeface="Droid Arabic Kufi Bold"/>
                <a:cs typeface="Droid Arabic Kufi Bold"/>
                <a:sym typeface="Droid Arabic Kufi Bold"/>
              </a:rPr>
              <a:t>Vision</a:t>
            </a:r>
          </a:p>
          <a:p>
            <a:pPr algn="ctr" rtl="1">
              <a:lnSpc>
                <a:spcPts val="3597"/>
              </a:lnSpc>
            </a:pPr>
            <a:endParaRPr lang="en-US" sz="4049" b="1">
              <a:solidFill>
                <a:srgbClr val="000000"/>
              </a:solidFill>
              <a:latin typeface="Droid Arabic Kufi Bold"/>
              <a:ea typeface="Droid Arabic Kufi Bold"/>
              <a:cs typeface="Droid Arabic Kufi Bold"/>
              <a:sym typeface="Droid Arabic Kufi Bold"/>
            </a:endParaRPr>
          </a:p>
          <a:p>
            <a:pPr algn="ctr" rtl="1">
              <a:lnSpc>
                <a:spcPts val="3597"/>
              </a:lnSpc>
            </a:pPr>
            <a:r>
              <a:rPr lang="en-US" sz="3049">
                <a:solidFill>
                  <a:srgbClr val="000000"/>
                </a:solidFill>
                <a:latin typeface="Droid Arabic Naskh"/>
                <a:ea typeface="Droid Arabic Naskh"/>
                <a:cs typeface="Droid Arabic Naskh"/>
                <a:sym typeface="Droid Arabic Naskh"/>
              </a:rPr>
              <a:t>Tiba Store aims to be the premier destination for residents of Banha for high-quality home care, beauty, and baby products, offering a convenient shopping experience</a:t>
            </a:r>
            <a:r>
              <a:rPr lang="ar-EG" sz="3049">
                <a:solidFill>
                  <a:srgbClr val="000000"/>
                </a:solidFill>
                <a:latin typeface="Droid Arabic Naskh"/>
                <a:ea typeface="Droid Arabic Naskh"/>
                <a:cs typeface="Droid Arabic Naskh"/>
                <a:sym typeface="Droid Arabic Naskh"/>
                <a:rtl/>
              </a:rPr>
              <a:t>.</a:t>
            </a:r>
          </a:p>
          <a:p>
            <a:pPr algn="ctr" rtl="1">
              <a:lnSpc>
                <a:spcPts val="5131"/>
              </a:lnSpc>
            </a:pPr>
            <a:endParaRPr lang="ar-EG" sz="3049">
              <a:solidFill>
                <a:srgbClr val="000000"/>
              </a:solidFill>
              <a:latin typeface="Droid Arabic Naskh"/>
              <a:ea typeface="Droid Arabic Naskh"/>
              <a:cs typeface="Droid Arabic Naskh"/>
              <a:sym typeface="Droid Arabic Naskh"/>
              <a:rtl/>
            </a:endParaRPr>
          </a:p>
          <a:p>
            <a:pPr algn="ctr" rtl="1">
              <a:lnSpc>
                <a:spcPts val="3597"/>
              </a:lnSpc>
              <a:spcBef>
                <a:spcPct val="0"/>
              </a:spcBef>
            </a:pPr>
            <a:r>
              <a:rPr lang="en-US" sz="3049">
                <a:solidFill>
                  <a:srgbClr val="000000"/>
                </a:solidFill>
                <a:latin typeface="Droid Arabic Naskh"/>
                <a:ea typeface="Droid Arabic Naskh"/>
                <a:cs typeface="Droid Arabic Naskh"/>
                <a:sym typeface="Droid Arabic Naskh"/>
              </a:rPr>
              <a:t>Tiba Store focuses on providing a seamless local digital experience that combines online shopping with direct customer service via social media and a dedicated Banha WhatsApp group, ensuring safe and reliable products at affordable prices and delivered on time</a:t>
            </a:r>
            <a:r>
              <a:rPr lang="ar-EG" sz="3049">
                <a:solidFill>
                  <a:srgbClr val="000000"/>
                </a:solidFill>
                <a:latin typeface="Droid Arabic Naskh"/>
                <a:ea typeface="Droid Arabic Naskh"/>
                <a:cs typeface="Droid Arabic Naskh"/>
                <a:sym typeface="Droid Arabic Naskh"/>
                <a:rtl/>
              </a:rPr>
              <a:t>.</a:t>
            </a:r>
          </a:p>
        </p:txBody>
      </p:sp>
      <p:sp>
        <p:nvSpPr>
          <p:cNvPr id="18" name="TextBox 18"/>
          <p:cNvSpPr txBox="1"/>
          <p:nvPr/>
        </p:nvSpPr>
        <p:spPr>
          <a:xfrm>
            <a:off x="9381999" y="1928109"/>
            <a:ext cx="8906001" cy="7723630"/>
          </a:xfrm>
          <a:prstGeom prst="rect">
            <a:avLst/>
          </a:prstGeom>
        </p:spPr>
        <p:txBody>
          <a:bodyPr lIns="0" tIns="0" rIns="0" bIns="0" rtlCol="0" anchor="t">
            <a:spAutoFit/>
          </a:bodyPr>
          <a:lstStyle/>
          <a:p>
            <a:pPr algn="ctr">
              <a:lnSpc>
                <a:spcPts val="4777"/>
              </a:lnSpc>
            </a:pPr>
            <a:r>
              <a:rPr lang="en-US" sz="4049" b="1">
                <a:solidFill>
                  <a:srgbClr val="000000"/>
                </a:solidFill>
                <a:latin typeface="Corporative Bold"/>
                <a:ea typeface="Corporative Bold"/>
                <a:cs typeface="Corporative Bold"/>
                <a:sym typeface="Corporative Bold"/>
              </a:rPr>
              <a:t>Business Goals</a:t>
            </a:r>
          </a:p>
          <a:p>
            <a:pPr algn="ctr" rtl="1">
              <a:lnSpc>
                <a:spcPts val="3597"/>
              </a:lnSpc>
            </a:pPr>
            <a:endParaRPr lang="en-US" sz="4049" b="1">
              <a:solidFill>
                <a:srgbClr val="000000"/>
              </a:solidFill>
              <a:latin typeface="Corporative Bold"/>
              <a:ea typeface="Corporative Bold"/>
              <a:cs typeface="Corporative Bold"/>
              <a:sym typeface="Corporative Bold"/>
            </a:endParaRPr>
          </a:p>
          <a:p>
            <a:pPr algn="ctr" rtl="1">
              <a:lnSpc>
                <a:spcPts val="3007"/>
              </a:lnSpc>
            </a:pPr>
            <a:r>
              <a:rPr lang="en-US" sz="2549">
                <a:solidFill>
                  <a:srgbClr val="000000"/>
                </a:solidFill>
                <a:latin typeface="Corporative"/>
                <a:ea typeface="Corporative"/>
                <a:cs typeface="Corporative"/>
                <a:sym typeface="Corporative"/>
              </a:rPr>
              <a:t>Increase brand awareness in Banha: Enhance Tiba Store's presence across digital and social platforms to boost its reputation and build trust within the local community</a:t>
            </a:r>
            <a:r>
              <a:rPr lang="ar-EG" sz="2549">
                <a:solidFill>
                  <a:srgbClr val="000000"/>
                </a:solidFill>
                <a:latin typeface="Corporative"/>
                <a:ea typeface="Corporative"/>
                <a:cs typeface="Corporative"/>
                <a:sym typeface="Corporative"/>
                <a:rtl/>
              </a:rPr>
              <a:t>.</a:t>
            </a:r>
          </a:p>
          <a:p>
            <a:pPr algn="ctr" rtl="1">
              <a:lnSpc>
                <a:spcPts val="3597"/>
              </a:lnSpc>
            </a:pPr>
            <a:endParaRPr lang="ar-EG" sz="2549">
              <a:solidFill>
                <a:srgbClr val="000000"/>
              </a:solidFill>
              <a:latin typeface="Corporative"/>
              <a:ea typeface="Corporative"/>
              <a:cs typeface="Corporative"/>
              <a:sym typeface="Corporative"/>
              <a:rtl/>
            </a:endParaRPr>
          </a:p>
          <a:p>
            <a:pPr algn="ctr" rtl="1">
              <a:lnSpc>
                <a:spcPts val="3007"/>
              </a:lnSpc>
            </a:pPr>
            <a:r>
              <a:rPr lang="en-US" sz="2549">
                <a:solidFill>
                  <a:srgbClr val="000000"/>
                </a:solidFill>
                <a:latin typeface="Corporative"/>
                <a:ea typeface="Corporative"/>
                <a:cs typeface="Corporative"/>
                <a:sym typeface="Corporative"/>
              </a:rPr>
              <a:t>Attract and retain customers: Continuously engage with Banha residents through digital channels and offer them tailored deals and services</a:t>
            </a:r>
            <a:r>
              <a:rPr lang="ar-EG" sz="2549">
                <a:solidFill>
                  <a:srgbClr val="000000"/>
                </a:solidFill>
                <a:latin typeface="Corporative"/>
                <a:ea typeface="Corporative"/>
                <a:cs typeface="Corporative"/>
                <a:sym typeface="Corporative"/>
                <a:rtl/>
              </a:rPr>
              <a:t>.</a:t>
            </a:r>
          </a:p>
          <a:p>
            <a:pPr algn="ctr" rtl="1">
              <a:lnSpc>
                <a:spcPts val="3597"/>
              </a:lnSpc>
            </a:pPr>
            <a:endParaRPr lang="ar-EG" sz="2549">
              <a:solidFill>
                <a:srgbClr val="000000"/>
              </a:solidFill>
              <a:latin typeface="Corporative"/>
              <a:ea typeface="Corporative"/>
              <a:cs typeface="Corporative"/>
              <a:sym typeface="Corporative"/>
              <a:rtl/>
            </a:endParaRPr>
          </a:p>
          <a:p>
            <a:pPr algn="ctr" rtl="1">
              <a:lnSpc>
                <a:spcPts val="3007"/>
              </a:lnSpc>
            </a:pPr>
            <a:r>
              <a:rPr lang="en-US" sz="2549">
                <a:solidFill>
                  <a:srgbClr val="000000"/>
                </a:solidFill>
                <a:latin typeface="Corporative"/>
                <a:ea typeface="Corporative"/>
                <a:cs typeface="Corporative"/>
                <a:sym typeface="Corporative"/>
              </a:rPr>
              <a:t>Grow local sales: Achieve significant growth in demand and sales within the city by improving the shopping experience and providing fast delivery</a:t>
            </a:r>
            <a:r>
              <a:rPr lang="ar-EG" sz="2549">
                <a:solidFill>
                  <a:srgbClr val="000000"/>
                </a:solidFill>
                <a:latin typeface="Corporative"/>
                <a:ea typeface="Corporative"/>
                <a:cs typeface="Corporative"/>
                <a:sym typeface="Corporative"/>
                <a:rtl/>
              </a:rPr>
              <a:t>.</a:t>
            </a:r>
          </a:p>
          <a:p>
            <a:pPr algn="ctr" rtl="1">
              <a:lnSpc>
                <a:spcPts val="3597"/>
              </a:lnSpc>
            </a:pPr>
            <a:endParaRPr lang="ar-EG" sz="2549">
              <a:solidFill>
                <a:srgbClr val="000000"/>
              </a:solidFill>
              <a:latin typeface="Corporative"/>
              <a:ea typeface="Corporative"/>
              <a:cs typeface="Corporative"/>
              <a:sym typeface="Corporative"/>
              <a:rtl/>
            </a:endParaRPr>
          </a:p>
          <a:p>
            <a:pPr algn="ctr" rtl="1">
              <a:lnSpc>
                <a:spcPts val="3007"/>
              </a:lnSpc>
              <a:spcBef>
                <a:spcPct val="0"/>
              </a:spcBef>
            </a:pPr>
            <a:r>
              <a:rPr lang="en-US" sz="2549">
                <a:solidFill>
                  <a:srgbClr val="000000"/>
                </a:solidFill>
                <a:latin typeface="Corporative"/>
                <a:ea typeface="Corporative"/>
                <a:cs typeface="Corporative"/>
                <a:sym typeface="Corporative"/>
              </a:rPr>
              <a:t>Build community loyalty: Foster a sense of belonging to Taiba Store as a trusted local brand that meets the needs of Banha families and adds real value to their lives</a:t>
            </a:r>
            <a:r>
              <a:rPr lang="ar-EG" sz="2549">
                <a:solidFill>
                  <a:srgbClr val="000000"/>
                </a:solidFill>
                <a:latin typeface="Corporative"/>
                <a:ea typeface="Corporative"/>
                <a:cs typeface="Corporative"/>
                <a:sym typeface="Corporative"/>
                <a:rt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sp>
        <p:nvSpPr>
          <p:cNvPr id="3" name="TextBox 3"/>
          <p:cNvSpPr txBox="1"/>
          <p:nvPr/>
        </p:nvSpPr>
        <p:spPr>
          <a:xfrm>
            <a:off x="3014324" y="553046"/>
            <a:ext cx="12259352" cy="679450"/>
          </a:xfrm>
          <a:prstGeom prst="rect">
            <a:avLst/>
          </a:prstGeom>
        </p:spPr>
        <p:txBody>
          <a:bodyPr lIns="0" tIns="0" rIns="0" bIns="0" rtlCol="0" anchor="t">
            <a:spAutoFit/>
          </a:bodyPr>
          <a:lstStyle/>
          <a:p>
            <a:pPr marL="0" lvl="0" indent="0" algn="ctr">
              <a:lnSpc>
                <a:spcPts val="5150"/>
              </a:lnSpc>
              <a:spcBef>
                <a:spcPct val="0"/>
              </a:spcBef>
            </a:pPr>
            <a:r>
              <a:rPr lang="en-US" sz="5000" b="1">
                <a:solidFill>
                  <a:srgbClr val="3E3E3E"/>
                </a:solidFill>
                <a:latin typeface="Droid Arabic Kufi Bold"/>
                <a:ea typeface="Droid Arabic Kufi Bold"/>
                <a:cs typeface="Droid Arabic Kufi Bold"/>
                <a:sym typeface="Droid Arabic Kufi Bold"/>
              </a:rPr>
              <a:t>Services Offered</a:t>
            </a:r>
          </a:p>
        </p:txBody>
      </p:sp>
      <p:sp>
        <p:nvSpPr>
          <p:cNvPr id="4" name="TextBox 4"/>
          <p:cNvSpPr txBox="1"/>
          <p:nvPr/>
        </p:nvSpPr>
        <p:spPr>
          <a:xfrm>
            <a:off x="0" y="1118196"/>
            <a:ext cx="18288000" cy="9063461"/>
          </a:xfrm>
          <a:prstGeom prst="rect">
            <a:avLst/>
          </a:prstGeom>
        </p:spPr>
        <p:txBody>
          <a:bodyPr lIns="0" tIns="0" rIns="0" bIns="0" rtlCol="0" anchor="t">
            <a:spAutoFit/>
          </a:bodyPr>
          <a:lstStyle/>
          <a:p>
            <a:pPr marL="0" lvl="0" indent="0" algn="ctr">
              <a:lnSpc>
                <a:spcPts val="4745"/>
              </a:lnSpc>
            </a:pPr>
            <a:endParaRPr/>
          </a:p>
          <a:p>
            <a:pPr algn="ctr">
              <a:lnSpc>
                <a:spcPts val="4745"/>
              </a:lnSpc>
            </a:pPr>
            <a:r>
              <a:rPr lang="en-US" sz="3061" b="1" u="none" strike="noStrike">
                <a:solidFill>
                  <a:srgbClr val="3E3E3E"/>
                </a:solidFill>
                <a:latin typeface="Droid Arabic Naskh Bold"/>
                <a:ea typeface="Droid Arabic Naskh Bold"/>
                <a:cs typeface="Droid Arabic Naskh Bold"/>
                <a:sym typeface="Droid Arabic Naskh Bold"/>
              </a:rPr>
              <a:t>Shopping via Social Media: Taiba Store allows customers to easily order their products through direct messages, including:</a:t>
            </a:r>
          </a:p>
          <a:p>
            <a:pPr algn="ctr">
              <a:lnSpc>
                <a:spcPts val="4745"/>
              </a:lnSpc>
            </a:pPr>
            <a:r>
              <a:rPr lang="en-US" sz="3061" b="1" u="none" strike="noStrike">
                <a:solidFill>
                  <a:srgbClr val="3E3E3E"/>
                </a:solidFill>
                <a:latin typeface="Droid Arabic Naskh Bold"/>
                <a:ea typeface="Droid Arabic Naskh Bold"/>
                <a:cs typeface="Droid Arabic Naskh Bold"/>
                <a:sym typeface="Droid Arabic Naskh Bold"/>
              </a:rPr>
              <a:t>• Beauty and skincare products (shampoos, creams, perfumes)</a:t>
            </a:r>
          </a:p>
          <a:p>
            <a:pPr algn="ctr">
              <a:lnSpc>
                <a:spcPts val="4745"/>
              </a:lnSpc>
            </a:pPr>
            <a:r>
              <a:rPr lang="en-US" sz="3061" b="1" u="none" strike="noStrike">
                <a:solidFill>
                  <a:srgbClr val="3E3E3E"/>
                </a:solidFill>
                <a:latin typeface="Droid Arabic Naskh Bold"/>
                <a:ea typeface="Droid Arabic Naskh Bold"/>
                <a:cs typeface="Droid Arabic Naskh Bold"/>
                <a:sym typeface="Droid Arabic Naskh Bold"/>
              </a:rPr>
              <a:t>• Household cleaning products (cleaners, sanitizers, air fresheners)</a:t>
            </a:r>
          </a:p>
          <a:p>
            <a:pPr algn="ctr">
              <a:lnSpc>
                <a:spcPts val="4745"/>
              </a:lnSpc>
            </a:pPr>
            <a:r>
              <a:rPr lang="en-US" sz="3061" b="1" u="none" strike="noStrike">
                <a:solidFill>
                  <a:srgbClr val="3E3E3E"/>
                </a:solidFill>
                <a:latin typeface="Droid Arabic Naskh Bold"/>
                <a:ea typeface="Droid Arabic Naskh Bold"/>
                <a:cs typeface="Droid Arabic Naskh Bold"/>
                <a:sym typeface="Droid Arabic Naskh Bold"/>
              </a:rPr>
              <a:t>• Baby care products (gentle shampoos, lotions, wet wipes)</a:t>
            </a:r>
          </a:p>
          <a:p>
            <a:pPr algn="ctr">
              <a:lnSpc>
                <a:spcPts val="4745"/>
              </a:lnSpc>
            </a:pPr>
            <a:r>
              <a:rPr lang="en-US" sz="3061" b="1" u="none" strike="noStrike">
                <a:solidFill>
                  <a:srgbClr val="3E3E3E"/>
                </a:solidFill>
                <a:latin typeface="Droid Arabic Naskh Bold"/>
                <a:ea typeface="Droid Arabic Naskh Bold"/>
                <a:cs typeface="Droid Arabic Naskh Bold"/>
                <a:sym typeface="Droid Arabic Naskh Bold"/>
              </a:rPr>
              <a:t>Local Digital Marketing: Managing Facebook and Instagram pages, creating engaging content, and implementing targeted advertising campaigns for Banha residents to increase awareness and sales.</a:t>
            </a:r>
          </a:p>
          <a:p>
            <a:pPr algn="ctr">
              <a:lnSpc>
                <a:spcPts val="4745"/>
              </a:lnSpc>
            </a:pPr>
            <a:r>
              <a:rPr lang="en-US" sz="3061" b="1" u="none" strike="noStrike">
                <a:solidFill>
                  <a:srgbClr val="3E3E3E"/>
                </a:solidFill>
                <a:latin typeface="Droid Arabic Naskh Bold"/>
                <a:ea typeface="Droid Arabic Naskh Bold"/>
                <a:cs typeface="Droid Arabic Naskh Bold"/>
                <a:sym typeface="Droid Arabic Naskh Bold"/>
              </a:rPr>
              <a:t>Campaign Management and Performance Analysis: Monitoring engagement and measuring results to improve performance and enhance customer satisfaction.</a:t>
            </a:r>
          </a:p>
          <a:p>
            <a:pPr marL="0" lvl="0" indent="0" algn="ctr">
              <a:lnSpc>
                <a:spcPts val="4745"/>
              </a:lnSpc>
            </a:pPr>
            <a:r>
              <a:rPr lang="en-US" sz="3061" b="1" u="none" strike="noStrike">
                <a:solidFill>
                  <a:srgbClr val="3E3E3E"/>
                </a:solidFill>
                <a:latin typeface="Droid Arabic Naskh Bold"/>
                <a:ea typeface="Droid Arabic Naskh Bold"/>
                <a:cs typeface="Droid Arabic Naskh Bold"/>
                <a:sym typeface="Droid Arabic Naskh Bold"/>
              </a:rPr>
              <a:t>Taiba Store focuses on providing a fast and reliable local shopping experience that combines quality and effective communication to best serve the residents of Banha.</a:t>
            </a:r>
          </a:p>
          <a:p>
            <a:pPr marL="0" lvl="0" indent="0" algn="ctr">
              <a:lnSpc>
                <a:spcPts val="4745"/>
              </a:lnSpc>
            </a:pPr>
            <a:endParaRPr lang="en-US" sz="3061" b="1" u="none" strike="noStrike">
              <a:solidFill>
                <a:srgbClr val="3E3E3E"/>
              </a:solidFill>
              <a:latin typeface="Droid Arabic Naskh Bold"/>
              <a:ea typeface="Droid Arabic Naskh Bold"/>
              <a:cs typeface="Droid Arabic Naskh Bold"/>
              <a:sym typeface="Droid Arabic Naskh Bold"/>
            </a:endParaRPr>
          </a:p>
          <a:p>
            <a:pPr marL="0" lvl="0" indent="0" algn="ctr">
              <a:lnSpc>
                <a:spcPts val="5520"/>
              </a:lnSpc>
            </a:pPr>
            <a:endParaRPr lang="en-US" sz="3061" b="1" u="none" strike="noStrike">
              <a:solidFill>
                <a:srgbClr val="3E3E3E"/>
              </a:solidFill>
              <a:latin typeface="Droid Arabic Naskh Bold"/>
              <a:ea typeface="Droid Arabic Naskh Bold"/>
              <a:cs typeface="Droid Arabic Naskh Bold"/>
              <a:sym typeface="Droid Arabic Naskh Bold"/>
            </a:endParaRPr>
          </a:p>
        </p:txBody>
      </p:sp>
      <p:grpSp>
        <p:nvGrpSpPr>
          <p:cNvPr id="5" name="Group 5"/>
          <p:cNvGrpSpPr/>
          <p:nvPr/>
        </p:nvGrpSpPr>
        <p:grpSpPr>
          <a:xfrm>
            <a:off x="-656737" y="7328954"/>
            <a:ext cx="20772239" cy="7496311"/>
            <a:chOff x="0" y="0"/>
            <a:chExt cx="27696318" cy="9995081"/>
          </a:xfrm>
        </p:grpSpPr>
        <p:sp>
          <p:nvSpPr>
            <p:cNvPr id="6" name="Freeform 6"/>
            <p:cNvSpPr/>
            <p:nvPr/>
          </p:nvSpPr>
          <p:spPr>
            <a:xfrm>
              <a:off x="0" y="1313884"/>
              <a:ext cx="3691872" cy="3691872"/>
            </a:xfrm>
            <a:custGeom>
              <a:avLst/>
              <a:gdLst/>
              <a:ahLst/>
              <a:cxnLst/>
              <a:rect l="l" t="t" r="r" b="b"/>
              <a:pathLst>
                <a:path w="3691872" h="3691872">
                  <a:moveTo>
                    <a:pt x="0" y="0"/>
                  </a:moveTo>
                  <a:lnTo>
                    <a:pt x="3691872" y="0"/>
                  </a:lnTo>
                  <a:lnTo>
                    <a:pt x="3691872" y="3691872"/>
                  </a:lnTo>
                  <a:lnTo>
                    <a:pt x="0" y="3691872"/>
                  </a:lnTo>
                  <a:lnTo>
                    <a:pt x="0" y="0"/>
                  </a:lnTo>
                  <a:close/>
                </a:path>
              </a:pathLst>
            </a:custGeom>
            <a:blipFill>
              <a:blip r:embed="rId3"/>
              <a:stretch>
                <a:fillRect/>
              </a:stretch>
            </a:blipFill>
          </p:spPr>
        </p:sp>
        <p:sp>
          <p:nvSpPr>
            <p:cNvPr id="7" name="Freeform 7"/>
            <p:cNvSpPr/>
            <p:nvPr/>
          </p:nvSpPr>
          <p:spPr>
            <a:xfrm rot="1645162">
              <a:off x="23510703" y="572349"/>
              <a:ext cx="3460242" cy="3994507"/>
            </a:xfrm>
            <a:custGeom>
              <a:avLst/>
              <a:gdLst/>
              <a:ahLst/>
              <a:cxnLst/>
              <a:rect l="l" t="t" r="r" b="b"/>
              <a:pathLst>
                <a:path w="3460242" h="3994507">
                  <a:moveTo>
                    <a:pt x="0" y="0"/>
                  </a:moveTo>
                  <a:lnTo>
                    <a:pt x="3460242" y="0"/>
                  </a:lnTo>
                  <a:lnTo>
                    <a:pt x="3460242" y="3994507"/>
                  </a:lnTo>
                  <a:lnTo>
                    <a:pt x="0" y="3994507"/>
                  </a:lnTo>
                  <a:lnTo>
                    <a:pt x="0" y="0"/>
                  </a:lnTo>
                  <a:close/>
                </a:path>
              </a:pathLst>
            </a:custGeom>
            <a:blipFill>
              <a:blip r:embed="rId4"/>
              <a:stretch>
                <a:fillRect/>
              </a:stretch>
            </a:blipFill>
          </p:spPr>
        </p:sp>
        <p:sp>
          <p:nvSpPr>
            <p:cNvPr id="8" name="Freeform 8"/>
            <p:cNvSpPr/>
            <p:nvPr/>
          </p:nvSpPr>
          <p:spPr>
            <a:xfrm>
              <a:off x="23536658" y="6700548"/>
              <a:ext cx="719228" cy="718329"/>
            </a:xfrm>
            <a:custGeom>
              <a:avLst/>
              <a:gdLst/>
              <a:ahLst/>
              <a:cxnLst/>
              <a:rect l="l" t="t" r="r" b="b"/>
              <a:pathLst>
                <a:path w="719228" h="718329">
                  <a:moveTo>
                    <a:pt x="0" y="0"/>
                  </a:moveTo>
                  <a:lnTo>
                    <a:pt x="719229" y="0"/>
                  </a:lnTo>
                  <a:lnTo>
                    <a:pt x="719229" y="718330"/>
                  </a:lnTo>
                  <a:lnTo>
                    <a:pt x="0" y="718330"/>
                  </a:lnTo>
                  <a:lnTo>
                    <a:pt x="0" y="0"/>
                  </a:lnTo>
                  <a:close/>
                </a:path>
              </a:pathLst>
            </a:custGeom>
            <a:blipFill>
              <a:blip r:embed="rId5"/>
              <a:stretch>
                <a:fillRect/>
              </a:stretch>
            </a:blipFill>
          </p:spPr>
        </p:sp>
        <p:sp>
          <p:nvSpPr>
            <p:cNvPr id="9" name="Freeform 9"/>
            <p:cNvSpPr/>
            <p:nvPr/>
          </p:nvSpPr>
          <p:spPr>
            <a:xfrm>
              <a:off x="5511166" y="3159820"/>
              <a:ext cx="693548" cy="692681"/>
            </a:xfrm>
            <a:custGeom>
              <a:avLst/>
              <a:gdLst/>
              <a:ahLst/>
              <a:cxnLst/>
              <a:rect l="l" t="t" r="r" b="b"/>
              <a:pathLst>
                <a:path w="693548" h="692681">
                  <a:moveTo>
                    <a:pt x="0" y="0"/>
                  </a:moveTo>
                  <a:lnTo>
                    <a:pt x="693548" y="0"/>
                  </a:lnTo>
                  <a:lnTo>
                    <a:pt x="693548" y="692681"/>
                  </a:lnTo>
                  <a:lnTo>
                    <a:pt x="0" y="692681"/>
                  </a:lnTo>
                  <a:lnTo>
                    <a:pt x="0" y="0"/>
                  </a:lnTo>
                  <a:close/>
                </a:path>
              </a:pathLst>
            </a:custGeom>
            <a:blipFill>
              <a:blip r:embed="rId5"/>
              <a:stretch>
                <a:fillRect/>
              </a:stretch>
            </a:blipFill>
          </p:spPr>
        </p:sp>
        <p:sp>
          <p:nvSpPr>
            <p:cNvPr id="10" name="Freeform 10"/>
            <p:cNvSpPr/>
            <p:nvPr/>
          </p:nvSpPr>
          <p:spPr>
            <a:xfrm>
              <a:off x="2406229" y="6787844"/>
              <a:ext cx="679627" cy="678778"/>
            </a:xfrm>
            <a:custGeom>
              <a:avLst/>
              <a:gdLst/>
              <a:ahLst/>
              <a:cxnLst/>
              <a:rect l="l" t="t" r="r" b="b"/>
              <a:pathLst>
                <a:path w="679627" h="678778">
                  <a:moveTo>
                    <a:pt x="0" y="0"/>
                  </a:moveTo>
                  <a:lnTo>
                    <a:pt x="679627" y="0"/>
                  </a:lnTo>
                  <a:lnTo>
                    <a:pt x="679627" y="678778"/>
                  </a:lnTo>
                  <a:lnTo>
                    <a:pt x="0" y="678778"/>
                  </a:lnTo>
                  <a:lnTo>
                    <a:pt x="0" y="0"/>
                  </a:lnTo>
                  <a:close/>
                </a:path>
              </a:pathLst>
            </a:custGeom>
            <a:blipFill>
              <a:blip r:embed="rId6"/>
              <a:stretch>
                <a:fillRect/>
              </a:stretch>
            </a:blipFill>
            <a:ln cap="sq">
              <a:noFill/>
              <a:prstDash val="solid"/>
              <a:miter/>
            </a:ln>
          </p:spPr>
        </p:sp>
        <p:sp>
          <p:nvSpPr>
            <p:cNvPr id="11" name="Freeform 11"/>
            <p:cNvSpPr/>
            <p:nvPr/>
          </p:nvSpPr>
          <p:spPr>
            <a:xfrm>
              <a:off x="6401767" y="5483037"/>
              <a:ext cx="637700" cy="636903"/>
            </a:xfrm>
            <a:custGeom>
              <a:avLst/>
              <a:gdLst/>
              <a:ahLst/>
              <a:cxnLst/>
              <a:rect l="l" t="t" r="r" b="b"/>
              <a:pathLst>
                <a:path w="637700" h="636903">
                  <a:moveTo>
                    <a:pt x="0" y="0"/>
                  </a:moveTo>
                  <a:lnTo>
                    <a:pt x="637700" y="0"/>
                  </a:lnTo>
                  <a:lnTo>
                    <a:pt x="637700" y="636903"/>
                  </a:lnTo>
                  <a:lnTo>
                    <a:pt x="0" y="636903"/>
                  </a:lnTo>
                  <a:lnTo>
                    <a:pt x="0" y="0"/>
                  </a:lnTo>
                  <a:close/>
                </a:path>
              </a:pathLst>
            </a:custGeom>
            <a:blipFill>
              <a:blip r:embed="rId7"/>
              <a:stretch>
                <a:fillRect/>
              </a:stretch>
            </a:blipFill>
          </p:spPr>
        </p:sp>
        <p:sp>
          <p:nvSpPr>
            <p:cNvPr id="12" name="Freeform 12"/>
            <p:cNvSpPr/>
            <p:nvPr/>
          </p:nvSpPr>
          <p:spPr>
            <a:xfrm>
              <a:off x="19116674" y="6040063"/>
              <a:ext cx="661312" cy="660485"/>
            </a:xfrm>
            <a:custGeom>
              <a:avLst/>
              <a:gdLst/>
              <a:ahLst/>
              <a:cxnLst/>
              <a:rect l="l" t="t" r="r" b="b"/>
              <a:pathLst>
                <a:path w="661312" h="660485">
                  <a:moveTo>
                    <a:pt x="0" y="0"/>
                  </a:moveTo>
                  <a:lnTo>
                    <a:pt x="661312" y="0"/>
                  </a:lnTo>
                  <a:lnTo>
                    <a:pt x="661312" y="660485"/>
                  </a:lnTo>
                  <a:lnTo>
                    <a:pt x="0" y="660485"/>
                  </a:lnTo>
                  <a:lnTo>
                    <a:pt x="0" y="0"/>
                  </a:lnTo>
                  <a:close/>
                </a:path>
              </a:pathLst>
            </a:custGeom>
            <a:blipFill>
              <a:blip r:embed="rId7"/>
              <a:stretch>
                <a:fillRect/>
              </a:stretch>
            </a:blipFill>
          </p:spPr>
        </p:sp>
        <p:sp>
          <p:nvSpPr>
            <p:cNvPr id="13" name="Freeform 13"/>
            <p:cNvSpPr/>
            <p:nvPr/>
          </p:nvSpPr>
          <p:spPr>
            <a:xfrm>
              <a:off x="21941897" y="3991830"/>
              <a:ext cx="559148" cy="558449"/>
            </a:xfrm>
            <a:custGeom>
              <a:avLst/>
              <a:gdLst/>
              <a:ahLst/>
              <a:cxnLst/>
              <a:rect l="l" t="t" r="r" b="b"/>
              <a:pathLst>
                <a:path w="559148" h="558449">
                  <a:moveTo>
                    <a:pt x="0" y="0"/>
                  </a:moveTo>
                  <a:lnTo>
                    <a:pt x="559148" y="0"/>
                  </a:lnTo>
                  <a:lnTo>
                    <a:pt x="559148" y="558450"/>
                  </a:lnTo>
                  <a:lnTo>
                    <a:pt x="0" y="558450"/>
                  </a:lnTo>
                  <a:lnTo>
                    <a:pt x="0" y="0"/>
                  </a:lnTo>
                  <a:close/>
                </a:path>
              </a:pathLst>
            </a:custGeom>
            <a:blipFill>
              <a:blip r:embed="rId8"/>
              <a:stretch>
                <a:fillRect/>
              </a:stretch>
            </a:blipFill>
          </p:spPr>
        </p:sp>
        <p:sp>
          <p:nvSpPr>
            <p:cNvPr id="14" name="Freeform 14"/>
            <p:cNvSpPr/>
            <p:nvPr/>
          </p:nvSpPr>
          <p:spPr>
            <a:xfrm>
              <a:off x="8942112" y="3028227"/>
              <a:ext cx="7928141" cy="6966854"/>
            </a:xfrm>
            <a:custGeom>
              <a:avLst/>
              <a:gdLst/>
              <a:ahLst/>
              <a:cxnLst/>
              <a:rect l="l" t="t" r="r" b="b"/>
              <a:pathLst>
                <a:path w="7928141" h="6966854">
                  <a:moveTo>
                    <a:pt x="0" y="0"/>
                  </a:moveTo>
                  <a:lnTo>
                    <a:pt x="7928141" y="0"/>
                  </a:lnTo>
                  <a:lnTo>
                    <a:pt x="7928141" y="6966854"/>
                  </a:lnTo>
                  <a:lnTo>
                    <a:pt x="0" y="6966854"/>
                  </a:lnTo>
                  <a:lnTo>
                    <a:pt x="0" y="0"/>
                  </a:lnTo>
                  <a:close/>
                </a:path>
              </a:pathLst>
            </a:custGeom>
            <a:blipFill>
              <a:blip r:embed="rId9"/>
              <a:stretch>
                <a:fillRect/>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grpSp>
        <p:nvGrpSpPr>
          <p:cNvPr id="3" name="Group 3"/>
          <p:cNvGrpSpPr/>
          <p:nvPr/>
        </p:nvGrpSpPr>
        <p:grpSpPr>
          <a:xfrm>
            <a:off x="11913032" y="-227471"/>
            <a:ext cx="8718286" cy="11068469"/>
            <a:chOff x="0" y="0"/>
            <a:chExt cx="11624381" cy="14757958"/>
          </a:xfrm>
        </p:grpSpPr>
        <p:sp>
          <p:nvSpPr>
            <p:cNvPr id="4" name="Freeform 4"/>
            <p:cNvSpPr/>
            <p:nvPr/>
          </p:nvSpPr>
          <p:spPr>
            <a:xfrm>
              <a:off x="0" y="8458847"/>
              <a:ext cx="571306" cy="570592"/>
            </a:xfrm>
            <a:custGeom>
              <a:avLst/>
              <a:gdLst/>
              <a:ahLst/>
              <a:cxnLst/>
              <a:rect l="l" t="t" r="r" b="b"/>
              <a:pathLst>
                <a:path w="571306" h="570592">
                  <a:moveTo>
                    <a:pt x="0" y="0"/>
                  </a:moveTo>
                  <a:lnTo>
                    <a:pt x="571306" y="0"/>
                  </a:lnTo>
                  <a:lnTo>
                    <a:pt x="571306" y="570592"/>
                  </a:lnTo>
                  <a:lnTo>
                    <a:pt x="0" y="570592"/>
                  </a:lnTo>
                  <a:lnTo>
                    <a:pt x="0" y="0"/>
                  </a:lnTo>
                  <a:close/>
                </a:path>
              </a:pathLst>
            </a:custGeom>
            <a:blipFill>
              <a:blip r:embed="rId3"/>
              <a:stretch>
                <a:fillRect/>
              </a:stretch>
            </a:blipFill>
          </p:spPr>
        </p:sp>
        <p:sp>
          <p:nvSpPr>
            <p:cNvPr id="5" name="Freeform 5"/>
            <p:cNvSpPr/>
            <p:nvPr/>
          </p:nvSpPr>
          <p:spPr>
            <a:xfrm flipH="1">
              <a:off x="530565" y="2028099"/>
              <a:ext cx="9314004" cy="11153407"/>
            </a:xfrm>
            <a:custGeom>
              <a:avLst/>
              <a:gdLst/>
              <a:ahLst/>
              <a:cxnLst/>
              <a:rect l="l" t="t" r="r" b="b"/>
              <a:pathLst>
                <a:path w="9314004" h="11153407">
                  <a:moveTo>
                    <a:pt x="9314004" y="0"/>
                  </a:moveTo>
                  <a:lnTo>
                    <a:pt x="0" y="0"/>
                  </a:lnTo>
                  <a:lnTo>
                    <a:pt x="0" y="11153408"/>
                  </a:lnTo>
                  <a:lnTo>
                    <a:pt x="9314004" y="11153408"/>
                  </a:lnTo>
                  <a:lnTo>
                    <a:pt x="9314004" y="0"/>
                  </a:lnTo>
                  <a:close/>
                </a:path>
              </a:pathLst>
            </a:custGeom>
            <a:blipFill>
              <a:blip r:embed="rId4"/>
              <a:stretch>
                <a:fillRect b="-9"/>
              </a:stretch>
            </a:blipFill>
          </p:spPr>
        </p:sp>
        <p:sp>
          <p:nvSpPr>
            <p:cNvPr id="6" name="Freeform 6"/>
            <p:cNvSpPr/>
            <p:nvPr/>
          </p:nvSpPr>
          <p:spPr>
            <a:xfrm>
              <a:off x="2316081" y="3151358"/>
              <a:ext cx="520720" cy="520069"/>
            </a:xfrm>
            <a:custGeom>
              <a:avLst/>
              <a:gdLst/>
              <a:ahLst/>
              <a:cxnLst/>
              <a:rect l="l" t="t" r="r" b="b"/>
              <a:pathLst>
                <a:path w="520720" h="520069">
                  <a:moveTo>
                    <a:pt x="0" y="0"/>
                  </a:moveTo>
                  <a:lnTo>
                    <a:pt x="520720" y="0"/>
                  </a:lnTo>
                  <a:lnTo>
                    <a:pt x="520720" y="520069"/>
                  </a:lnTo>
                  <a:lnTo>
                    <a:pt x="0" y="520069"/>
                  </a:lnTo>
                  <a:lnTo>
                    <a:pt x="0" y="0"/>
                  </a:lnTo>
                  <a:close/>
                </a:path>
              </a:pathLst>
            </a:custGeom>
            <a:blipFill>
              <a:blip r:embed="rId5"/>
              <a:stretch>
                <a:fillRect/>
              </a:stretch>
            </a:blipFill>
          </p:spPr>
        </p:sp>
        <p:sp>
          <p:nvSpPr>
            <p:cNvPr id="7" name="Freeform 7"/>
            <p:cNvSpPr/>
            <p:nvPr/>
          </p:nvSpPr>
          <p:spPr>
            <a:xfrm>
              <a:off x="2223092" y="13757457"/>
              <a:ext cx="920246" cy="919096"/>
            </a:xfrm>
            <a:custGeom>
              <a:avLst/>
              <a:gdLst/>
              <a:ahLst/>
              <a:cxnLst/>
              <a:rect l="l" t="t" r="r" b="b"/>
              <a:pathLst>
                <a:path w="920246" h="919096">
                  <a:moveTo>
                    <a:pt x="0" y="0"/>
                  </a:moveTo>
                  <a:lnTo>
                    <a:pt x="920246" y="0"/>
                  </a:lnTo>
                  <a:lnTo>
                    <a:pt x="920246" y="919096"/>
                  </a:lnTo>
                  <a:lnTo>
                    <a:pt x="0" y="919096"/>
                  </a:lnTo>
                  <a:lnTo>
                    <a:pt x="0" y="0"/>
                  </a:lnTo>
                  <a:close/>
                </a:path>
              </a:pathLst>
            </a:custGeom>
            <a:blipFill>
              <a:blip r:embed="rId6"/>
              <a:stretch>
                <a:fillRect/>
              </a:stretch>
            </a:blipFill>
            <a:ln cap="sq">
              <a:noFill/>
              <a:prstDash val="solid"/>
              <a:miter/>
            </a:ln>
          </p:spPr>
        </p:sp>
        <p:sp>
          <p:nvSpPr>
            <p:cNvPr id="8" name="Freeform 8"/>
            <p:cNvSpPr/>
            <p:nvPr/>
          </p:nvSpPr>
          <p:spPr>
            <a:xfrm>
              <a:off x="8964940" y="13000899"/>
              <a:ext cx="1759258" cy="1757059"/>
            </a:xfrm>
            <a:custGeom>
              <a:avLst/>
              <a:gdLst/>
              <a:ahLst/>
              <a:cxnLst/>
              <a:rect l="l" t="t" r="r" b="b"/>
              <a:pathLst>
                <a:path w="1759258" h="1757059">
                  <a:moveTo>
                    <a:pt x="0" y="0"/>
                  </a:moveTo>
                  <a:lnTo>
                    <a:pt x="1759258" y="0"/>
                  </a:lnTo>
                  <a:lnTo>
                    <a:pt x="1759258" y="1757059"/>
                  </a:lnTo>
                  <a:lnTo>
                    <a:pt x="0" y="1757059"/>
                  </a:lnTo>
                  <a:lnTo>
                    <a:pt x="0" y="0"/>
                  </a:lnTo>
                  <a:close/>
                </a:path>
              </a:pathLst>
            </a:custGeom>
            <a:blipFill>
              <a:blip r:embed="rId7"/>
              <a:stretch>
                <a:fillRect/>
              </a:stretch>
            </a:blipFill>
            <a:ln cap="sq">
              <a:noFill/>
              <a:prstDash val="solid"/>
              <a:miter/>
            </a:ln>
          </p:spPr>
        </p:sp>
        <p:sp>
          <p:nvSpPr>
            <p:cNvPr id="9" name="Freeform 9"/>
            <p:cNvSpPr/>
            <p:nvPr/>
          </p:nvSpPr>
          <p:spPr>
            <a:xfrm rot="-3750179">
              <a:off x="9106153" y="1152461"/>
              <a:ext cx="1977593" cy="2419074"/>
            </a:xfrm>
            <a:custGeom>
              <a:avLst/>
              <a:gdLst/>
              <a:ahLst/>
              <a:cxnLst/>
              <a:rect l="l" t="t" r="r" b="b"/>
              <a:pathLst>
                <a:path w="1977593" h="2419074">
                  <a:moveTo>
                    <a:pt x="0" y="0"/>
                  </a:moveTo>
                  <a:lnTo>
                    <a:pt x="1977594" y="0"/>
                  </a:lnTo>
                  <a:lnTo>
                    <a:pt x="1977594" y="2419074"/>
                  </a:lnTo>
                  <a:lnTo>
                    <a:pt x="0" y="2419074"/>
                  </a:lnTo>
                  <a:lnTo>
                    <a:pt x="0" y="0"/>
                  </a:lnTo>
                  <a:close/>
                </a:path>
              </a:pathLst>
            </a:custGeom>
            <a:blipFill>
              <a:blip r:embed="rId8"/>
              <a:stretch>
                <a:fillRect/>
              </a:stretch>
            </a:blipFill>
            <a:ln cap="sq">
              <a:noFill/>
              <a:prstDash val="solid"/>
              <a:miter/>
            </a:ln>
          </p:spPr>
        </p:sp>
        <p:sp>
          <p:nvSpPr>
            <p:cNvPr id="10" name="Freeform 10"/>
            <p:cNvSpPr/>
            <p:nvPr/>
          </p:nvSpPr>
          <p:spPr>
            <a:xfrm rot="-152080">
              <a:off x="41676" y="71163"/>
              <a:ext cx="3261561" cy="1956937"/>
            </a:xfrm>
            <a:custGeom>
              <a:avLst/>
              <a:gdLst/>
              <a:ahLst/>
              <a:cxnLst/>
              <a:rect l="l" t="t" r="r" b="b"/>
              <a:pathLst>
                <a:path w="3261561" h="1956937">
                  <a:moveTo>
                    <a:pt x="0" y="0"/>
                  </a:moveTo>
                  <a:lnTo>
                    <a:pt x="3261562" y="0"/>
                  </a:lnTo>
                  <a:lnTo>
                    <a:pt x="3261562" y="1956936"/>
                  </a:lnTo>
                  <a:lnTo>
                    <a:pt x="0" y="1956936"/>
                  </a:lnTo>
                  <a:lnTo>
                    <a:pt x="0" y="0"/>
                  </a:lnTo>
                  <a:close/>
                </a:path>
              </a:pathLst>
            </a:custGeom>
            <a:blipFill>
              <a:blip r:embed="rId9"/>
              <a:stretch>
                <a:fillRect/>
              </a:stretch>
            </a:blipFill>
            <a:ln cap="sq">
              <a:noFill/>
              <a:prstDash val="solid"/>
              <a:miter/>
            </a:ln>
          </p:spPr>
        </p:sp>
      </p:grpSp>
      <p:sp>
        <p:nvSpPr>
          <p:cNvPr id="11" name="TextBox 11"/>
          <p:cNvSpPr txBox="1"/>
          <p:nvPr/>
        </p:nvSpPr>
        <p:spPr>
          <a:xfrm>
            <a:off x="590522" y="488652"/>
            <a:ext cx="10812748" cy="9249757"/>
          </a:xfrm>
          <a:prstGeom prst="rect">
            <a:avLst/>
          </a:prstGeom>
        </p:spPr>
        <p:txBody>
          <a:bodyPr lIns="0" tIns="0" rIns="0" bIns="0" rtlCol="0" anchor="t">
            <a:spAutoFit/>
          </a:bodyPr>
          <a:lstStyle/>
          <a:p>
            <a:pPr algn="l">
              <a:lnSpc>
                <a:spcPts val="5166"/>
              </a:lnSpc>
            </a:pPr>
            <a:r>
              <a:rPr lang="en-US" sz="5016" b="1">
                <a:solidFill>
                  <a:srgbClr val="3E3E3E"/>
                </a:solidFill>
                <a:latin typeface="Droid Arabic Kufi Bold"/>
                <a:ea typeface="Droid Arabic Kufi Bold"/>
                <a:cs typeface="Droid Arabic Kufi Bold"/>
                <a:sym typeface="Droid Arabic Kufi Bold"/>
              </a:rPr>
              <a:t>Unique Selling Point (USP)</a:t>
            </a:r>
          </a:p>
          <a:p>
            <a:pPr algn="l">
              <a:lnSpc>
                <a:spcPts val="3106"/>
              </a:lnSpc>
            </a:pPr>
            <a:endParaRPr lang="en-US" sz="5016" b="1">
              <a:solidFill>
                <a:srgbClr val="3E3E3E"/>
              </a:solidFill>
              <a:latin typeface="Droid Arabic Kufi Bold"/>
              <a:ea typeface="Droid Arabic Kufi Bold"/>
              <a:cs typeface="Droid Arabic Kufi Bold"/>
              <a:sym typeface="Droid Arabic Kufi Bold"/>
            </a:endParaRPr>
          </a:p>
          <a:p>
            <a:pPr marL="651173" lvl="1" indent="-325587" algn="l">
              <a:lnSpc>
                <a:spcPts val="3106"/>
              </a:lnSpc>
              <a:buFont typeface="Arial"/>
              <a:buChar char="•"/>
            </a:pPr>
            <a:r>
              <a:rPr lang="en-US" sz="3016" b="1">
                <a:solidFill>
                  <a:srgbClr val="3E3E3E"/>
                </a:solidFill>
                <a:latin typeface="Droid Arabic Naskh Bold"/>
                <a:ea typeface="Droid Arabic Naskh Bold"/>
                <a:cs typeface="Droid Arabic Naskh Bold"/>
                <a:sym typeface="Droid Arabic Naskh Bold"/>
              </a:rPr>
              <a:t>What truly sets Tiba Store apart is its focus on trusted local family needs. All products are carefully selected to ensure safety, quality, and everyday convenience for every member of the Banha family.</a:t>
            </a:r>
          </a:p>
          <a:p>
            <a:pPr algn="l">
              <a:lnSpc>
                <a:spcPts val="3106"/>
              </a:lnSpc>
            </a:pPr>
            <a:endParaRPr lang="en-US" sz="3016" b="1">
              <a:solidFill>
                <a:srgbClr val="3E3E3E"/>
              </a:solidFill>
              <a:latin typeface="Droid Arabic Naskh Bold"/>
              <a:ea typeface="Droid Arabic Naskh Bold"/>
              <a:cs typeface="Droid Arabic Naskh Bold"/>
              <a:sym typeface="Droid Arabic Naskh Bold"/>
            </a:endParaRPr>
          </a:p>
          <a:p>
            <a:pPr marL="651173" lvl="1" indent="-325587" algn="l">
              <a:lnSpc>
                <a:spcPts val="3106"/>
              </a:lnSpc>
              <a:buFont typeface="Arial"/>
              <a:buChar char="•"/>
            </a:pPr>
            <a:r>
              <a:rPr lang="en-US" sz="3016" b="1">
                <a:solidFill>
                  <a:srgbClr val="3E3E3E"/>
                </a:solidFill>
                <a:latin typeface="Droid Arabic Naskh Bold"/>
                <a:ea typeface="Droid Arabic Naskh Bold"/>
                <a:cs typeface="Droid Arabic Naskh Bold"/>
                <a:sym typeface="Droid Arabic Naskh Bold"/>
              </a:rPr>
              <a:t>Unlike other stores that focus on a single product category, Tiba Store brings together beauty, baby care, and household cleaning products in one reliable location.</a:t>
            </a:r>
          </a:p>
          <a:p>
            <a:pPr algn="l">
              <a:lnSpc>
                <a:spcPts val="3106"/>
              </a:lnSpc>
            </a:pPr>
            <a:endParaRPr lang="en-US" sz="3016" b="1">
              <a:solidFill>
                <a:srgbClr val="3E3E3E"/>
              </a:solidFill>
              <a:latin typeface="Droid Arabic Naskh Bold"/>
              <a:ea typeface="Droid Arabic Naskh Bold"/>
              <a:cs typeface="Droid Arabic Naskh Bold"/>
              <a:sym typeface="Droid Arabic Naskh Bold"/>
            </a:endParaRPr>
          </a:p>
          <a:p>
            <a:pPr marL="651173" lvl="1" indent="-325587" algn="l">
              <a:lnSpc>
                <a:spcPts val="3106"/>
              </a:lnSpc>
              <a:buFont typeface="Arial"/>
              <a:buChar char="•"/>
            </a:pPr>
            <a:r>
              <a:rPr lang="en-US" sz="3016" b="1">
                <a:solidFill>
                  <a:srgbClr val="3E3E3E"/>
                </a:solidFill>
                <a:latin typeface="Droid Arabic Naskh Bold"/>
                <a:ea typeface="Droid Arabic Naskh Bold"/>
                <a:cs typeface="Droid Arabic Naskh Bold"/>
                <a:sym typeface="Droid Arabic Naskh Bold"/>
              </a:rPr>
              <a:t>The store relies on direct communication with customers via WhatsApp, Facebook, Instagram, and Telegram to quickly meet their needs, offering competitive prices and exceptional customer service that fosters trust and a sense of community within Banha.</a:t>
            </a:r>
          </a:p>
          <a:p>
            <a:pPr algn="l">
              <a:lnSpc>
                <a:spcPts val="3106"/>
              </a:lnSpc>
            </a:pPr>
            <a:endParaRPr lang="en-US" sz="3016" b="1">
              <a:solidFill>
                <a:srgbClr val="3E3E3E"/>
              </a:solidFill>
              <a:latin typeface="Droid Arabic Naskh Bold"/>
              <a:ea typeface="Droid Arabic Naskh Bold"/>
              <a:cs typeface="Droid Arabic Naskh Bold"/>
              <a:sym typeface="Droid Arabic Naskh Bold"/>
            </a:endParaRPr>
          </a:p>
          <a:p>
            <a:pPr marL="651173" lvl="1" indent="-325587" algn="l">
              <a:lnSpc>
                <a:spcPts val="3106"/>
              </a:lnSpc>
              <a:buFont typeface="Arial"/>
              <a:buChar char="•"/>
            </a:pPr>
            <a:r>
              <a:rPr lang="en-US" sz="3016" b="1">
                <a:solidFill>
                  <a:srgbClr val="3E3E3E"/>
                </a:solidFill>
                <a:latin typeface="Droid Arabic Naskh Bold"/>
                <a:ea typeface="Droid Arabic Naskh Bold"/>
                <a:cs typeface="Droid Arabic Naskh Bold"/>
                <a:sym typeface="Droid Arabic Naskh Bold"/>
              </a:rPr>
              <a:t>With this approach, Tiba Store offers a combination of local convenience, reliable quality, and modern digital service, making it the ideal choice for Banha families.</a:t>
            </a:r>
          </a:p>
        </p:txBody>
      </p:sp>
      <p:sp>
        <p:nvSpPr>
          <p:cNvPr id="12" name="Freeform 12"/>
          <p:cNvSpPr/>
          <p:nvPr/>
        </p:nvSpPr>
        <p:spPr>
          <a:xfrm>
            <a:off x="15583182" y="412452"/>
            <a:ext cx="1377987" cy="1345260"/>
          </a:xfrm>
          <a:custGeom>
            <a:avLst/>
            <a:gdLst/>
            <a:ahLst/>
            <a:cxnLst/>
            <a:rect l="l" t="t" r="r" b="b"/>
            <a:pathLst>
              <a:path w="1377987" h="1345260">
                <a:moveTo>
                  <a:pt x="0" y="0"/>
                </a:moveTo>
                <a:lnTo>
                  <a:pt x="1377987" y="0"/>
                </a:lnTo>
                <a:lnTo>
                  <a:pt x="1377987" y="1345260"/>
                </a:lnTo>
                <a:lnTo>
                  <a:pt x="0" y="1345260"/>
                </a:lnTo>
                <a:lnTo>
                  <a:pt x="0" y="0"/>
                </a:lnTo>
                <a:close/>
              </a:path>
            </a:pathLst>
          </a:custGeom>
          <a:blipFill>
            <a:blip r:embed="rId10"/>
            <a:stretch>
              <a:fillRect/>
            </a:stretch>
          </a:blipFill>
        </p:spPr>
      </p:sp>
      <p:sp>
        <p:nvSpPr>
          <p:cNvPr id="13" name="Freeform 13"/>
          <p:cNvSpPr/>
          <p:nvPr/>
        </p:nvSpPr>
        <p:spPr>
          <a:xfrm>
            <a:off x="12081092" y="2037492"/>
            <a:ext cx="1028486" cy="1254251"/>
          </a:xfrm>
          <a:custGeom>
            <a:avLst/>
            <a:gdLst/>
            <a:ahLst/>
            <a:cxnLst/>
            <a:rect l="l" t="t" r="r" b="b"/>
            <a:pathLst>
              <a:path w="1028486" h="1254251">
                <a:moveTo>
                  <a:pt x="0" y="0"/>
                </a:moveTo>
                <a:lnTo>
                  <a:pt x="1028486" y="0"/>
                </a:lnTo>
                <a:lnTo>
                  <a:pt x="1028486" y="1254251"/>
                </a:lnTo>
                <a:lnTo>
                  <a:pt x="0" y="1254251"/>
                </a:lnTo>
                <a:lnTo>
                  <a:pt x="0" y="0"/>
                </a:lnTo>
                <a:close/>
              </a:path>
            </a:pathLst>
          </a:custGeom>
          <a:blipFill>
            <a:blip r:embed="rId11"/>
            <a:stretch>
              <a:fillRect/>
            </a:stretch>
          </a:blipFill>
        </p:spPr>
      </p:sp>
      <p:sp>
        <p:nvSpPr>
          <p:cNvPr id="14" name="Freeform 14"/>
          <p:cNvSpPr/>
          <p:nvPr/>
        </p:nvSpPr>
        <p:spPr>
          <a:xfrm>
            <a:off x="13382390" y="8904955"/>
            <a:ext cx="1244715" cy="1173144"/>
          </a:xfrm>
          <a:custGeom>
            <a:avLst/>
            <a:gdLst/>
            <a:ahLst/>
            <a:cxnLst/>
            <a:rect l="l" t="t" r="r" b="b"/>
            <a:pathLst>
              <a:path w="1244715" h="1173144">
                <a:moveTo>
                  <a:pt x="0" y="0"/>
                </a:moveTo>
                <a:lnTo>
                  <a:pt x="1244715" y="0"/>
                </a:lnTo>
                <a:lnTo>
                  <a:pt x="1244715" y="1173144"/>
                </a:lnTo>
                <a:lnTo>
                  <a:pt x="0" y="1173144"/>
                </a:lnTo>
                <a:lnTo>
                  <a:pt x="0" y="0"/>
                </a:lnTo>
                <a:close/>
              </a:path>
            </a:pathLst>
          </a:custGeom>
          <a:blipFill>
            <a:blip r:embed="rId12"/>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grpSp>
        <p:nvGrpSpPr>
          <p:cNvPr id="3" name="Group 3"/>
          <p:cNvGrpSpPr/>
          <p:nvPr/>
        </p:nvGrpSpPr>
        <p:grpSpPr>
          <a:xfrm>
            <a:off x="6097242" y="204749"/>
            <a:ext cx="11649304" cy="10490268"/>
            <a:chOff x="0" y="0"/>
            <a:chExt cx="3068129" cy="2762869"/>
          </a:xfrm>
        </p:grpSpPr>
        <p:sp>
          <p:nvSpPr>
            <p:cNvPr id="4" name="Freeform 4"/>
            <p:cNvSpPr/>
            <p:nvPr/>
          </p:nvSpPr>
          <p:spPr>
            <a:xfrm>
              <a:off x="0" y="0"/>
              <a:ext cx="3068129" cy="2762869"/>
            </a:xfrm>
            <a:custGeom>
              <a:avLst/>
              <a:gdLst/>
              <a:ahLst/>
              <a:cxnLst/>
              <a:rect l="l" t="t" r="r" b="b"/>
              <a:pathLst>
                <a:path w="3068129" h="2762869">
                  <a:moveTo>
                    <a:pt x="0" y="0"/>
                  </a:moveTo>
                  <a:lnTo>
                    <a:pt x="3068129" y="0"/>
                  </a:lnTo>
                  <a:lnTo>
                    <a:pt x="3068129" y="2762869"/>
                  </a:lnTo>
                  <a:lnTo>
                    <a:pt x="0" y="2762869"/>
                  </a:lnTo>
                  <a:close/>
                </a:path>
              </a:pathLst>
            </a:custGeom>
            <a:solidFill>
              <a:srgbClr val="6FB429"/>
            </a:solidFill>
          </p:spPr>
        </p:sp>
        <p:sp>
          <p:nvSpPr>
            <p:cNvPr id="5" name="TextBox 5"/>
            <p:cNvSpPr txBox="1"/>
            <p:nvPr/>
          </p:nvSpPr>
          <p:spPr>
            <a:xfrm>
              <a:off x="0" y="-9525"/>
              <a:ext cx="3068129" cy="2772394"/>
            </a:xfrm>
            <a:prstGeom prst="rect">
              <a:avLst/>
            </a:prstGeom>
          </p:spPr>
          <p:txBody>
            <a:bodyPr lIns="50800" tIns="50800" rIns="50800" bIns="50800" rtlCol="0" anchor="ctr"/>
            <a:lstStyle/>
            <a:p>
              <a:pPr algn="ctr">
                <a:lnSpc>
                  <a:spcPts val="2207"/>
                </a:lnSpc>
              </a:pPr>
              <a:endParaRPr/>
            </a:p>
          </p:txBody>
        </p:sp>
      </p:grpSp>
      <p:sp>
        <p:nvSpPr>
          <p:cNvPr id="6" name="Freeform 6"/>
          <p:cNvSpPr/>
          <p:nvPr/>
        </p:nvSpPr>
        <p:spPr>
          <a:xfrm>
            <a:off x="16754862" y="9340417"/>
            <a:ext cx="1533138" cy="1266755"/>
          </a:xfrm>
          <a:custGeom>
            <a:avLst/>
            <a:gdLst/>
            <a:ahLst/>
            <a:cxnLst/>
            <a:rect l="l" t="t" r="r" b="b"/>
            <a:pathLst>
              <a:path w="1533138" h="1266755">
                <a:moveTo>
                  <a:pt x="0" y="0"/>
                </a:moveTo>
                <a:lnTo>
                  <a:pt x="1533138" y="0"/>
                </a:lnTo>
                <a:lnTo>
                  <a:pt x="1533138" y="1266755"/>
                </a:lnTo>
                <a:lnTo>
                  <a:pt x="0" y="1266755"/>
                </a:lnTo>
                <a:lnTo>
                  <a:pt x="0" y="0"/>
                </a:lnTo>
                <a:close/>
              </a:path>
            </a:pathLst>
          </a:custGeom>
          <a:blipFill>
            <a:blip r:embed="rId3"/>
            <a:stretch>
              <a:fillRect/>
            </a:stretch>
          </a:blipFill>
        </p:spPr>
      </p:sp>
      <p:grpSp>
        <p:nvGrpSpPr>
          <p:cNvPr id="7" name="Group 7"/>
          <p:cNvGrpSpPr/>
          <p:nvPr/>
        </p:nvGrpSpPr>
        <p:grpSpPr>
          <a:xfrm>
            <a:off x="-1504354" y="-205979"/>
            <a:ext cx="6794014" cy="9847598"/>
            <a:chOff x="0" y="0"/>
            <a:chExt cx="9058685" cy="13130131"/>
          </a:xfrm>
        </p:grpSpPr>
        <p:sp>
          <p:nvSpPr>
            <p:cNvPr id="8" name="Freeform 8"/>
            <p:cNvSpPr/>
            <p:nvPr/>
          </p:nvSpPr>
          <p:spPr>
            <a:xfrm flipH="1">
              <a:off x="0" y="2372931"/>
              <a:ext cx="9058685" cy="9793173"/>
            </a:xfrm>
            <a:custGeom>
              <a:avLst/>
              <a:gdLst/>
              <a:ahLst/>
              <a:cxnLst/>
              <a:rect l="l" t="t" r="r" b="b"/>
              <a:pathLst>
                <a:path w="9058685" h="9793173">
                  <a:moveTo>
                    <a:pt x="9058685" y="0"/>
                  </a:moveTo>
                  <a:lnTo>
                    <a:pt x="0" y="0"/>
                  </a:lnTo>
                  <a:lnTo>
                    <a:pt x="0" y="9793173"/>
                  </a:lnTo>
                  <a:lnTo>
                    <a:pt x="9058685" y="9793173"/>
                  </a:lnTo>
                  <a:lnTo>
                    <a:pt x="9058685" y="0"/>
                  </a:lnTo>
                  <a:close/>
                </a:path>
              </a:pathLst>
            </a:custGeom>
            <a:blipFill>
              <a:blip r:embed="rId4"/>
              <a:stretch>
                <a:fillRect/>
              </a:stretch>
            </a:blipFill>
            <a:ln cap="sq">
              <a:noFill/>
              <a:prstDash val="solid"/>
              <a:miter/>
            </a:ln>
          </p:spPr>
        </p:sp>
        <p:sp>
          <p:nvSpPr>
            <p:cNvPr id="9" name="Freeform 9"/>
            <p:cNvSpPr/>
            <p:nvPr/>
          </p:nvSpPr>
          <p:spPr>
            <a:xfrm>
              <a:off x="2527934" y="1472836"/>
              <a:ext cx="621340" cy="620564"/>
            </a:xfrm>
            <a:custGeom>
              <a:avLst/>
              <a:gdLst/>
              <a:ahLst/>
              <a:cxnLst/>
              <a:rect l="l" t="t" r="r" b="b"/>
              <a:pathLst>
                <a:path w="621340" h="620564">
                  <a:moveTo>
                    <a:pt x="0" y="0"/>
                  </a:moveTo>
                  <a:lnTo>
                    <a:pt x="621340" y="0"/>
                  </a:lnTo>
                  <a:lnTo>
                    <a:pt x="621340" y="620563"/>
                  </a:lnTo>
                  <a:lnTo>
                    <a:pt x="0" y="620563"/>
                  </a:lnTo>
                  <a:lnTo>
                    <a:pt x="0" y="0"/>
                  </a:lnTo>
                  <a:close/>
                </a:path>
              </a:pathLst>
            </a:custGeom>
            <a:blipFill>
              <a:blip r:embed="rId5"/>
              <a:stretch>
                <a:fillRect/>
              </a:stretch>
            </a:blipFill>
          </p:spPr>
        </p:sp>
        <p:sp>
          <p:nvSpPr>
            <p:cNvPr id="10" name="Freeform 10"/>
            <p:cNvSpPr/>
            <p:nvPr/>
          </p:nvSpPr>
          <p:spPr>
            <a:xfrm>
              <a:off x="8537936" y="6388935"/>
              <a:ext cx="520749" cy="520098"/>
            </a:xfrm>
            <a:custGeom>
              <a:avLst/>
              <a:gdLst/>
              <a:ahLst/>
              <a:cxnLst/>
              <a:rect l="l" t="t" r="r" b="b"/>
              <a:pathLst>
                <a:path w="520749" h="520098">
                  <a:moveTo>
                    <a:pt x="0" y="0"/>
                  </a:moveTo>
                  <a:lnTo>
                    <a:pt x="520749" y="0"/>
                  </a:lnTo>
                  <a:lnTo>
                    <a:pt x="520749" y="520098"/>
                  </a:lnTo>
                  <a:lnTo>
                    <a:pt x="0" y="520098"/>
                  </a:lnTo>
                  <a:lnTo>
                    <a:pt x="0" y="0"/>
                  </a:lnTo>
                  <a:close/>
                </a:path>
              </a:pathLst>
            </a:custGeom>
            <a:blipFill>
              <a:blip r:embed="rId6"/>
              <a:stretch>
                <a:fillRect/>
              </a:stretch>
            </a:blipFill>
            <a:ln cap="sq">
              <a:noFill/>
              <a:prstDash val="solid"/>
              <a:miter/>
            </a:ln>
          </p:spPr>
        </p:sp>
        <p:sp>
          <p:nvSpPr>
            <p:cNvPr id="11" name="Freeform 11"/>
            <p:cNvSpPr/>
            <p:nvPr/>
          </p:nvSpPr>
          <p:spPr>
            <a:xfrm>
              <a:off x="2577968" y="12559539"/>
              <a:ext cx="571306" cy="570592"/>
            </a:xfrm>
            <a:custGeom>
              <a:avLst/>
              <a:gdLst/>
              <a:ahLst/>
              <a:cxnLst/>
              <a:rect l="l" t="t" r="r" b="b"/>
              <a:pathLst>
                <a:path w="571306" h="570592">
                  <a:moveTo>
                    <a:pt x="0" y="0"/>
                  </a:moveTo>
                  <a:lnTo>
                    <a:pt x="571306" y="0"/>
                  </a:lnTo>
                  <a:lnTo>
                    <a:pt x="571306" y="570592"/>
                  </a:lnTo>
                  <a:lnTo>
                    <a:pt x="0" y="570592"/>
                  </a:lnTo>
                  <a:lnTo>
                    <a:pt x="0" y="0"/>
                  </a:lnTo>
                  <a:close/>
                </a:path>
              </a:pathLst>
            </a:custGeom>
            <a:blipFill>
              <a:blip r:embed="rId7"/>
              <a:stretch>
                <a:fillRect/>
              </a:stretch>
            </a:blipFill>
          </p:spPr>
        </p:sp>
        <p:sp>
          <p:nvSpPr>
            <p:cNvPr id="12" name="Freeform 12"/>
            <p:cNvSpPr/>
            <p:nvPr/>
          </p:nvSpPr>
          <p:spPr>
            <a:xfrm>
              <a:off x="7165084" y="0"/>
              <a:ext cx="1893601" cy="2185976"/>
            </a:xfrm>
            <a:custGeom>
              <a:avLst/>
              <a:gdLst/>
              <a:ahLst/>
              <a:cxnLst/>
              <a:rect l="l" t="t" r="r" b="b"/>
              <a:pathLst>
                <a:path w="1893601" h="2185976">
                  <a:moveTo>
                    <a:pt x="0" y="0"/>
                  </a:moveTo>
                  <a:lnTo>
                    <a:pt x="1893601" y="0"/>
                  </a:lnTo>
                  <a:lnTo>
                    <a:pt x="1893601" y="2185976"/>
                  </a:lnTo>
                  <a:lnTo>
                    <a:pt x="0" y="2185976"/>
                  </a:lnTo>
                  <a:lnTo>
                    <a:pt x="0" y="0"/>
                  </a:lnTo>
                  <a:close/>
                </a:path>
              </a:pathLst>
            </a:custGeom>
            <a:blipFill>
              <a:blip r:embed="rId8"/>
              <a:stretch>
                <a:fillRect/>
              </a:stretch>
            </a:blipFill>
          </p:spPr>
        </p:sp>
      </p:grpSp>
      <p:sp>
        <p:nvSpPr>
          <p:cNvPr id="13" name="TextBox 13"/>
          <p:cNvSpPr txBox="1"/>
          <p:nvPr/>
        </p:nvSpPr>
        <p:spPr>
          <a:xfrm>
            <a:off x="6440203" y="734201"/>
            <a:ext cx="10963381" cy="9517088"/>
          </a:xfrm>
          <a:prstGeom prst="rect">
            <a:avLst/>
          </a:prstGeom>
        </p:spPr>
        <p:txBody>
          <a:bodyPr lIns="0" tIns="0" rIns="0" bIns="0" rtlCol="0" anchor="t">
            <a:spAutoFit/>
          </a:bodyPr>
          <a:lstStyle/>
          <a:p>
            <a:pPr marL="0" lvl="0" indent="0" algn="l">
              <a:lnSpc>
                <a:spcPts val="5196"/>
              </a:lnSpc>
              <a:spcBef>
                <a:spcPct val="0"/>
              </a:spcBef>
            </a:pPr>
            <a:r>
              <a:rPr lang="en-US" sz="5045" b="1">
                <a:solidFill>
                  <a:srgbClr val="000000"/>
                </a:solidFill>
                <a:latin typeface="Droid Arabic Kufi Bold"/>
                <a:ea typeface="Droid Arabic Kufi Bold"/>
                <a:cs typeface="Droid Arabic Kufi Bold"/>
                <a:sym typeface="Droid Arabic Kufi Bold"/>
              </a:rPr>
              <a:t>Marketing Channels Overview:</a:t>
            </a:r>
          </a:p>
          <a:p>
            <a:pPr marL="0" lvl="0" indent="0" algn="l">
              <a:lnSpc>
                <a:spcPts val="5196"/>
              </a:lnSpc>
              <a:spcBef>
                <a:spcPct val="0"/>
              </a:spcBef>
            </a:pPr>
            <a:endParaRPr lang="en-US" sz="5045" b="1">
              <a:solidFill>
                <a:srgbClr val="000000"/>
              </a:solidFill>
              <a:latin typeface="Droid Arabic Kufi Bold"/>
              <a:ea typeface="Droid Arabic Kufi Bold"/>
              <a:cs typeface="Droid Arabic Kufi Bold"/>
              <a:sym typeface="Droid Arabic Kufi Bold"/>
            </a:endParaRPr>
          </a:p>
          <a:p>
            <a:pPr marL="657488" lvl="1" indent="-328744" algn="l">
              <a:lnSpc>
                <a:spcPts val="3136"/>
              </a:lnSpc>
              <a:buFont typeface="Arial"/>
              <a:buChar char="•"/>
            </a:pPr>
            <a:r>
              <a:rPr lang="en-US" sz="3045" b="1">
                <a:solidFill>
                  <a:srgbClr val="000000"/>
                </a:solidFill>
                <a:latin typeface="Droid Arabic Naskh Bold"/>
                <a:ea typeface="Droid Arabic Naskh Bold"/>
                <a:cs typeface="Droid Arabic Naskh Bold"/>
                <a:sym typeface="Droid Arabic Naskh Bold"/>
              </a:rPr>
              <a:t>WhatsApp Business:</a:t>
            </a:r>
          </a:p>
          <a:p>
            <a:pPr marL="0" lvl="0" indent="0" algn="l">
              <a:lnSpc>
                <a:spcPts val="3136"/>
              </a:lnSpc>
              <a:spcBef>
                <a:spcPct val="0"/>
              </a:spcBef>
            </a:pPr>
            <a:r>
              <a:rPr lang="en-US" sz="3045" b="1">
                <a:solidFill>
                  <a:srgbClr val="000000"/>
                </a:solidFill>
                <a:latin typeface="Droid Arabic Naskh Bold"/>
                <a:ea typeface="Droid Arabic Naskh Bold"/>
                <a:cs typeface="Droid Arabic Naskh Bold"/>
                <a:sym typeface="Droid Arabic Naskh Bold"/>
              </a:rPr>
              <a:t>Used as a direct and personal communication channel, enabling customers to inquire about and order products easily and quickly.</a:t>
            </a:r>
          </a:p>
          <a:p>
            <a:pPr marL="0" lvl="0" indent="0" algn="l">
              <a:lnSpc>
                <a:spcPts val="3136"/>
              </a:lnSpc>
              <a:spcBef>
                <a:spcPct val="0"/>
              </a:spcBef>
            </a:pPr>
            <a:endParaRPr lang="en-US" sz="3045" b="1">
              <a:solidFill>
                <a:srgbClr val="000000"/>
              </a:solidFill>
              <a:latin typeface="Droid Arabic Naskh Bold"/>
              <a:ea typeface="Droid Arabic Naskh Bold"/>
              <a:cs typeface="Droid Arabic Naskh Bold"/>
              <a:sym typeface="Droid Arabic Naskh Bold"/>
            </a:endParaRPr>
          </a:p>
          <a:p>
            <a:pPr marL="657488" lvl="1" indent="-328744" algn="l">
              <a:lnSpc>
                <a:spcPts val="3136"/>
              </a:lnSpc>
              <a:buFont typeface="Arial"/>
              <a:buChar char="•"/>
            </a:pPr>
            <a:r>
              <a:rPr lang="en-US" sz="3045" b="1">
                <a:solidFill>
                  <a:srgbClr val="000000"/>
                </a:solidFill>
                <a:latin typeface="Droid Arabic Naskh Bold"/>
                <a:ea typeface="Droid Arabic Naskh Bold"/>
                <a:cs typeface="Droid Arabic Naskh Bold"/>
                <a:sym typeface="Droid Arabic Naskh Bold"/>
              </a:rPr>
              <a:t>Email Marketing:</a:t>
            </a:r>
          </a:p>
          <a:p>
            <a:pPr marL="0" lvl="0" indent="0" algn="l">
              <a:lnSpc>
                <a:spcPts val="3136"/>
              </a:lnSpc>
              <a:spcBef>
                <a:spcPct val="0"/>
              </a:spcBef>
            </a:pPr>
            <a:r>
              <a:rPr lang="en-US" sz="3045" b="1">
                <a:solidFill>
                  <a:srgbClr val="000000"/>
                </a:solidFill>
                <a:latin typeface="Droid Arabic Naskh Bold"/>
                <a:ea typeface="Droid Arabic Naskh Bold"/>
                <a:cs typeface="Droid Arabic Naskh Bold"/>
                <a:sym typeface="Droid Arabic Naskh Bold"/>
              </a:rPr>
              <a:t>A mailing list will be created to send exclusive offers and helpful content, aiming to enhance customer loyalty and encourage repeat purchases.</a:t>
            </a:r>
          </a:p>
          <a:p>
            <a:pPr marL="0" lvl="0" indent="0" algn="l">
              <a:lnSpc>
                <a:spcPts val="3136"/>
              </a:lnSpc>
              <a:spcBef>
                <a:spcPct val="0"/>
              </a:spcBef>
            </a:pPr>
            <a:endParaRPr lang="en-US" sz="3045" b="1">
              <a:solidFill>
                <a:srgbClr val="000000"/>
              </a:solidFill>
              <a:latin typeface="Droid Arabic Naskh Bold"/>
              <a:ea typeface="Droid Arabic Naskh Bold"/>
              <a:cs typeface="Droid Arabic Naskh Bold"/>
              <a:sym typeface="Droid Arabic Naskh Bold"/>
            </a:endParaRPr>
          </a:p>
          <a:p>
            <a:pPr marL="657488" lvl="1" indent="-328744" algn="l">
              <a:lnSpc>
                <a:spcPts val="3136"/>
              </a:lnSpc>
              <a:buFont typeface="Arial"/>
              <a:buChar char="•"/>
            </a:pPr>
            <a:r>
              <a:rPr lang="en-US" sz="3045" b="1">
                <a:solidFill>
                  <a:srgbClr val="000000"/>
                </a:solidFill>
                <a:latin typeface="Droid Arabic Naskh Bold"/>
                <a:ea typeface="Droid Arabic Naskh Bold"/>
                <a:cs typeface="Droid Arabic Naskh Bold"/>
                <a:sym typeface="Droid Arabic Naskh Bold"/>
              </a:rPr>
              <a:t>Social Media (Facebook, Instagram, TikTok):</a:t>
            </a:r>
          </a:p>
          <a:p>
            <a:pPr marL="0" lvl="0" indent="0" algn="l">
              <a:lnSpc>
                <a:spcPts val="3136"/>
              </a:lnSpc>
              <a:spcBef>
                <a:spcPct val="0"/>
              </a:spcBef>
            </a:pPr>
            <a:r>
              <a:rPr lang="en-US" sz="3045" b="1">
                <a:solidFill>
                  <a:srgbClr val="000000"/>
                </a:solidFill>
                <a:latin typeface="Droid Arabic Naskh Bold"/>
                <a:ea typeface="Droid Arabic Naskh Bold"/>
                <a:cs typeface="Droid Arabic Naskh Bold"/>
                <a:sym typeface="Droid Arabic Naskh Bold"/>
              </a:rPr>
              <a:t>These are the cornerstones of marketing campaigns, focusing on visual and interactive content such as Reels and short videos to showcase product usage and build an emotional connection with the audience.</a:t>
            </a:r>
          </a:p>
          <a:p>
            <a:pPr marL="0" lvl="0" indent="0" algn="l">
              <a:lnSpc>
                <a:spcPts val="3136"/>
              </a:lnSpc>
              <a:spcBef>
                <a:spcPct val="0"/>
              </a:spcBef>
            </a:pPr>
            <a:endParaRPr lang="en-US" sz="3045" b="1">
              <a:solidFill>
                <a:srgbClr val="000000"/>
              </a:solidFill>
              <a:latin typeface="Droid Arabic Naskh Bold"/>
              <a:ea typeface="Droid Arabic Naskh Bold"/>
              <a:cs typeface="Droid Arabic Naskh Bold"/>
              <a:sym typeface="Droid Arabic Naskh Bold"/>
            </a:endParaRPr>
          </a:p>
          <a:p>
            <a:pPr marL="657488" lvl="1" indent="-328744" algn="l">
              <a:lnSpc>
                <a:spcPts val="3136"/>
              </a:lnSpc>
              <a:buFont typeface="Arial"/>
              <a:buChar char="•"/>
            </a:pPr>
            <a:r>
              <a:rPr lang="en-US" sz="3045" b="1">
                <a:solidFill>
                  <a:srgbClr val="000000"/>
                </a:solidFill>
                <a:latin typeface="Droid Arabic Naskh Bold"/>
                <a:ea typeface="Droid Arabic Naskh Bold"/>
                <a:cs typeface="Droid Arabic Naskh Bold"/>
                <a:sym typeface="Droid Arabic Naskh Bold"/>
              </a:rPr>
              <a:t>Paid Advertising:</a:t>
            </a:r>
          </a:p>
          <a:p>
            <a:pPr marL="0" lvl="0" indent="0" algn="l">
              <a:lnSpc>
                <a:spcPts val="3136"/>
              </a:lnSpc>
              <a:spcBef>
                <a:spcPct val="0"/>
              </a:spcBef>
            </a:pPr>
            <a:r>
              <a:rPr lang="en-US" sz="3045" b="1">
                <a:solidFill>
                  <a:srgbClr val="000000"/>
                </a:solidFill>
                <a:latin typeface="Droid Arabic Naskh Bold"/>
                <a:ea typeface="Droid Arabic Naskh Bold"/>
                <a:cs typeface="Droid Arabic Naskh Bold"/>
                <a:sym typeface="Droid Arabic Naskh Bold"/>
              </a:rPr>
              <a:t>Through Google Ads and social media, we will reach potential customers based on their interests and digital behavior, ensuring increased awareness and sales within the local community.</a:t>
            </a:r>
          </a:p>
        </p:txBody>
      </p:sp>
      <p:sp>
        <p:nvSpPr>
          <p:cNvPr id="14" name="Freeform 14"/>
          <p:cNvSpPr/>
          <p:nvPr/>
        </p:nvSpPr>
        <p:spPr>
          <a:xfrm>
            <a:off x="1028700" y="2047616"/>
            <a:ext cx="2711651" cy="6191769"/>
          </a:xfrm>
          <a:custGeom>
            <a:avLst/>
            <a:gdLst/>
            <a:ahLst/>
            <a:cxnLst/>
            <a:rect l="l" t="t" r="r" b="b"/>
            <a:pathLst>
              <a:path w="2711651" h="6191769">
                <a:moveTo>
                  <a:pt x="0" y="0"/>
                </a:moveTo>
                <a:lnTo>
                  <a:pt x="2711651" y="0"/>
                </a:lnTo>
                <a:lnTo>
                  <a:pt x="2711651" y="6191768"/>
                </a:lnTo>
                <a:lnTo>
                  <a:pt x="0" y="6191768"/>
                </a:lnTo>
                <a:lnTo>
                  <a:pt x="0" y="0"/>
                </a:lnTo>
                <a:close/>
              </a:path>
            </a:pathLst>
          </a:custGeom>
          <a:blipFill>
            <a:blip r:embed="rId9"/>
            <a:stretch>
              <a:fillRect r="-5428"/>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sp>
        <p:nvSpPr>
          <p:cNvPr id="3" name="TextBox 3"/>
          <p:cNvSpPr txBox="1"/>
          <p:nvPr/>
        </p:nvSpPr>
        <p:spPr>
          <a:xfrm>
            <a:off x="155880" y="476250"/>
            <a:ext cx="13475172" cy="9334500"/>
          </a:xfrm>
          <a:prstGeom prst="rect">
            <a:avLst/>
          </a:prstGeom>
        </p:spPr>
        <p:txBody>
          <a:bodyPr lIns="0" tIns="0" rIns="0" bIns="0" rtlCol="0" anchor="t">
            <a:spAutoFit/>
          </a:bodyPr>
          <a:lstStyle/>
          <a:p>
            <a:pPr marL="0" lvl="0" indent="0" algn="l">
              <a:lnSpc>
                <a:spcPts val="6049"/>
              </a:lnSpc>
              <a:spcBef>
                <a:spcPct val="0"/>
              </a:spcBef>
            </a:pPr>
            <a:r>
              <a:rPr lang="en-US" sz="5041" b="1">
                <a:solidFill>
                  <a:srgbClr val="3E3E3E"/>
                </a:solidFill>
                <a:latin typeface="Droid Arabic Kufi Bold"/>
                <a:ea typeface="Droid Arabic Kufi Bold"/>
                <a:cs typeface="Droid Arabic Kufi Bold"/>
                <a:sym typeface="Droid Arabic Kufi Bold"/>
              </a:rPr>
              <a:t>Digital Ma</a:t>
            </a:r>
            <a:r>
              <a:rPr lang="en-US" sz="5041" b="1" u="none" strike="noStrike">
                <a:solidFill>
                  <a:srgbClr val="3E3E3E"/>
                </a:solidFill>
                <a:latin typeface="Droid Arabic Kufi Bold"/>
                <a:ea typeface="Droid Arabic Kufi Bold"/>
                <a:cs typeface="Droid Arabic Kufi Bold"/>
                <a:sym typeface="Droid Arabic Kufi Bold"/>
              </a:rPr>
              <a:t>rketing Plan </a:t>
            </a:r>
          </a:p>
          <a:p>
            <a:pPr marL="0" lvl="0" indent="0" algn="l">
              <a:lnSpc>
                <a:spcPts val="3409"/>
              </a:lnSpc>
              <a:spcBef>
                <a:spcPct val="0"/>
              </a:spcBef>
            </a:pPr>
            <a:r>
              <a:rPr lang="en-US" sz="2841" b="1" u="none" strike="noStrike">
                <a:solidFill>
                  <a:srgbClr val="3E3E3E"/>
                </a:solidFill>
                <a:latin typeface="Droid Arabic Naskh Bold"/>
                <a:ea typeface="Droid Arabic Naskh Bold"/>
                <a:cs typeface="Droid Arabic Naskh Bold"/>
                <a:sym typeface="Droid Arabic Naskh Bold"/>
              </a:rPr>
              <a:t>Internal Analysis (SWOT):</a:t>
            </a:r>
          </a:p>
          <a:p>
            <a:pPr marL="613451" lvl="1" indent="-306726" algn="l">
              <a:lnSpc>
                <a:spcPts val="3409"/>
              </a:lnSpc>
              <a:buFont typeface="Arial"/>
              <a:buChar char="•"/>
            </a:pPr>
            <a:r>
              <a:rPr lang="en-US" sz="2841" b="1" u="none" strike="noStrike">
                <a:solidFill>
                  <a:srgbClr val="3E3E3E"/>
                </a:solidFill>
                <a:latin typeface="Droid Arabic Naskh Bold"/>
                <a:ea typeface="Droid Arabic Naskh Bold"/>
                <a:cs typeface="Droid Arabic Naskh Bold"/>
                <a:sym typeface="Droid Arabic Naskh Bold"/>
              </a:rPr>
              <a:t>Strengths: Tayba Store stands out as the one-stop family store in Banha, offering beauty, cleaning, and baby care products all in one place.</a:t>
            </a:r>
          </a:p>
          <a:p>
            <a:pPr marL="0" lvl="0" indent="0" algn="l">
              <a:lnSpc>
                <a:spcPts val="3409"/>
              </a:lnSpc>
              <a:spcBef>
                <a:spcPct val="0"/>
              </a:spcBef>
            </a:pPr>
            <a:endParaRPr lang="en-US" sz="2841" b="1" u="none" strike="noStrike">
              <a:solidFill>
                <a:srgbClr val="3E3E3E"/>
              </a:solidFill>
              <a:latin typeface="Droid Arabic Naskh Bold"/>
              <a:ea typeface="Droid Arabic Naskh Bold"/>
              <a:cs typeface="Droid Arabic Naskh Bold"/>
              <a:sym typeface="Droid Arabic Naskh Bold"/>
            </a:endParaRPr>
          </a:p>
          <a:p>
            <a:pPr marL="613451" lvl="1" indent="-306726" algn="l">
              <a:lnSpc>
                <a:spcPts val="3409"/>
              </a:lnSpc>
              <a:buFont typeface="Arial"/>
              <a:buChar char="•"/>
            </a:pPr>
            <a:r>
              <a:rPr lang="en-US" sz="2841" b="1" u="none" strike="noStrike">
                <a:solidFill>
                  <a:srgbClr val="3E3E3E"/>
                </a:solidFill>
                <a:latin typeface="Droid Arabic Naskh Bold"/>
                <a:ea typeface="Droid Arabic Naskh Bold"/>
                <a:cs typeface="Droid Arabic Naskh Bold"/>
                <a:sym typeface="Droid Arabic Naskh Bold"/>
              </a:rPr>
              <a:t>Weaknesses: Low brand awareness outside of existing customers due to a heavy reliance on organic marketing.</a:t>
            </a:r>
          </a:p>
          <a:p>
            <a:pPr marL="0" lvl="0" indent="0" algn="l">
              <a:lnSpc>
                <a:spcPts val="3409"/>
              </a:lnSpc>
              <a:spcBef>
                <a:spcPct val="0"/>
              </a:spcBef>
            </a:pPr>
            <a:endParaRPr lang="en-US" sz="2841" b="1" u="none" strike="noStrike">
              <a:solidFill>
                <a:srgbClr val="3E3E3E"/>
              </a:solidFill>
              <a:latin typeface="Droid Arabic Naskh Bold"/>
              <a:ea typeface="Droid Arabic Naskh Bold"/>
              <a:cs typeface="Droid Arabic Naskh Bold"/>
              <a:sym typeface="Droid Arabic Naskh Bold"/>
            </a:endParaRPr>
          </a:p>
          <a:p>
            <a:pPr marL="613451" lvl="1" indent="-306726" algn="l">
              <a:lnSpc>
                <a:spcPts val="3409"/>
              </a:lnSpc>
              <a:spcBef>
                <a:spcPct val="0"/>
              </a:spcBef>
              <a:buFont typeface="Arial"/>
              <a:buChar char="•"/>
            </a:pPr>
            <a:r>
              <a:rPr lang="en-US" sz="2841" b="1" u="none" strike="noStrike">
                <a:solidFill>
                  <a:srgbClr val="3E3E3E"/>
                </a:solidFill>
                <a:latin typeface="Droid Arabic Naskh Bold"/>
                <a:ea typeface="Droid Arabic Naskh Bold"/>
                <a:cs typeface="Droid Arabic Naskh Bold"/>
                <a:sym typeface="Droid Arabic Naskh Bold"/>
              </a:rPr>
              <a:t>External Analysis:Opportunities: The increasing activity of Banha residents on Facebook, Instagram, and TikTok presents strong opportunities for visual merchandising and direct engagement.</a:t>
            </a:r>
          </a:p>
          <a:p>
            <a:pPr marL="0" lvl="0" indent="0" algn="l">
              <a:lnSpc>
                <a:spcPts val="3409"/>
              </a:lnSpc>
              <a:spcBef>
                <a:spcPct val="0"/>
              </a:spcBef>
            </a:pPr>
            <a:endParaRPr lang="en-US" sz="2841" b="1" u="none" strike="noStrike">
              <a:solidFill>
                <a:srgbClr val="3E3E3E"/>
              </a:solidFill>
              <a:latin typeface="Droid Arabic Naskh Bold"/>
              <a:ea typeface="Droid Arabic Naskh Bold"/>
              <a:cs typeface="Droid Arabic Naskh Bold"/>
              <a:sym typeface="Droid Arabic Naskh Bold"/>
            </a:endParaRPr>
          </a:p>
          <a:p>
            <a:pPr marL="613451" lvl="1" indent="-306726" algn="l">
              <a:lnSpc>
                <a:spcPts val="3409"/>
              </a:lnSpc>
              <a:buFont typeface="Arial"/>
              <a:buChar char="•"/>
            </a:pPr>
            <a:r>
              <a:rPr lang="en-US" sz="2841" b="1" u="none" strike="noStrike">
                <a:solidFill>
                  <a:srgbClr val="3E3E3E"/>
                </a:solidFill>
                <a:latin typeface="Droid Arabic Naskh Bold"/>
                <a:ea typeface="Droid Arabic Naskh Bold"/>
                <a:cs typeface="Droid Arabic Naskh Bold"/>
                <a:sym typeface="Droid Arabic Naskh Bold"/>
              </a:rPr>
              <a:t>Threats: Growing competition from supermarkets and specialty online stores targeting the same demographics.</a:t>
            </a:r>
          </a:p>
          <a:p>
            <a:pPr marL="0" lvl="0" indent="0" algn="l">
              <a:lnSpc>
                <a:spcPts val="3409"/>
              </a:lnSpc>
              <a:spcBef>
                <a:spcPct val="0"/>
              </a:spcBef>
            </a:pPr>
            <a:endParaRPr lang="en-US" sz="2841" b="1" u="none" strike="noStrike">
              <a:solidFill>
                <a:srgbClr val="3E3E3E"/>
              </a:solidFill>
              <a:latin typeface="Droid Arabic Naskh Bold"/>
              <a:ea typeface="Droid Arabic Naskh Bold"/>
              <a:cs typeface="Droid Arabic Naskh Bold"/>
              <a:sym typeface="Droid Arabic Naskh Bold"/>
            </a:endParaRPr>
          </a:p>
          <a:p>
            <a:pPr marL="613451" lvl="1" indent="-306726" algn="l">
              <a:lnSpc>
                <a:spcPts val="3409"/>
              </a:lnSpc>
              <a:spcBef>
                <a:spcPct val="0"/>
              </a:spcBef>
              <a:buFont typeface="Arial"/>
              <a:buChar char="•"/>
            </a:pPr>
            <a:r>
              <a:rPr lang="en-US" sz="2841" b="1" u="none" strike="noStrike">
                <a:solidFill>
                  <a:srgbClr val="3E3E3E"/>
                </a:solidFill>
                <a:latin typeface="Droid Arabic Naskh Bold"/>
                <a:ea typeface="Droid Arabic Naskh Bold"/>
                <a:cs typeface="Droid Arabic Naskh Bold"/>
                <a:sym typeface="Droid Arabic Naskh Bold"/>
              </a:rPr>
              <a:t>Target Audience:Mothers aged 25-45 seeking safe and reliable family products.</a:t>
            </a:r>
          </a:p>
          <a:p>
            <a:pPr marL="0" lvl="0" indent="0" algn="l">
              <a:lnSpc>
                <a:spcPts val="3409"/>
              </a:lnSpc>
              <a:spcBef>
                <a:spcPct val="0"/>
              </a:spcBef>
            </a:pPr>
            <a:endParaRPr lang="en-US" sz="2841" b="1" u="none" strike="noStrike">
              <a:solidFill>
                <a:srgbClr val="3E3E3E"/>
              </a:solidFill>
              <a:latin typeface="Droid Arabic Naskh Bold"/>
              <a:ea typeface="Droid Arabic Naskh Bold"/>
              <a:cs typeface="Droid Arabic Naskh Bold"/>
              <a:sym typeface="Droid Arabic Naskh Bold"/>
            </a:endParaRPr>
          </a:p>
          <a:p>
            <a:pPr marL="613451" lvl="1" indent="-306726" algn="l">
              <a:lnSpc>
                <a:spcPts val="3409"/>
              </a:lnSpc>
              <a:buFont typeface="Arial"/>
              <a:buChar char="•"/>
            </a:pPr>
            <a:r>
              <a:rPr lang="en-US" sz="2841" b="1" u="none" strike="noStrike">
                <a:solidFill>
                  <a:srgbClr val="3E3E3E"/>
                </a:solidFill>
                <a:latin typeface="Droid Arabic Naskh Bold"/>
                <a:ea typeface="Droid Arabic Naskh Bold"/>
                <a:cs typeface="Droid Arabic Naskh Bold"/>
                <a:sym typeface="Droid Arabic Naskh Bold"/>
              </a:rPr>
              <a:t>Young adults aged 18-30 seeking affordable beauty and personal care products with easy online ordering.</a:t>
            </a:r>
          </a:p>
        </p:txBody>
      </p:sp>
      <p:grpSp>
        <p:nvGrpSpPr>
          <p:cNvPr id="4" name="Group 4"/>
          <p:cNvGrpSpPr/>
          <p:nvPr/>
        </p:nvGrpSpPr>
        <p:grpSpPr>
          <a:xfrm rot="-5100252">
            <a:off x="11416636" y="2719838"/>
            <a:ext cx="11204796" cy="4847324"/>
            <a:chOff x="0" y="0"/>
            <a:chExt cx="14939728" cy="6463098"/>
          </a:xfrm>
        </p:grpSpPr>
        <p:sp>
          <p:nvSpPr>
            <p:cNvPr id="5" name="Freeform 5"/>
            <p:cNvSpPr/>
            <p:nvPr/>
          </p:nvSpPr>
          <p:spPr>
            <a:xfrm>
              <a:off x="3436578" y="0"/>
              <a:ext cx="8006401" cy="4803840"/>
            </a:xfrm>
            <a:custGeom>
              <a:avLst/>
              <a:gdLst/>
              <a:ahLst/>
              <a:cxnLst/>
              <a:rect l="l" t="t" r="r" b="b"/>
              <a:pathLst>
                <a:path w="8006401" h="4803840">
                  <a:moveTo>
                    <a:pt x="0" y="0"/>
                  </a:moveTo>
                  <a:lnTo>
                    <a:pt x="8006401" y="0"/>
                  </a:lnTo>
                  <a:lnTo>
                    <a:pt x="8006401" y="4803840"/>
                  </a:lnTo>
                  <a:lnTo>
                    <a:pt x="0" y="4803840"/>
                  </a:lnTo>
                  <a:lnTo>
                    <a:pt x="0" y="0"/>
                  </a:lnTo>
                  <a:close/>
                </a:path>
              </a:pathLst>
            </a:custGeom>
            <a:blipFill>
              <a:blip r:embed="rId3"/>
              <a:stretch>
                <a:fillRect/>
              </a:stretch>
            </a:blipFill>
            <a:ln cap="sq">
              <a:noFill/>
              <a:prstDash val="solid"/>
              <a:miter/>
            </a:ln>
          </p:spPr>
        </p:sp>
        <p:sp>
          <p:nvSpPr>
            <p:cNvPr id="6" name="Freeform 6"/>
            <p:cNvSpPr/>
            <p:nvPr/>
          </p:nvSpPr>
          <p:spPr>
            <a:xfrm>
              <a:off x="11442979" y="4160411"/>
              <a:ext cx="2443170" cy="2302687"/>
            </a:xfrm>
            <a:custGeom>
              <a:avLst/>
              <a:gdLst/>
              <a:ahLst/>
              <a:cxnLst/>
              <a:rect l="l" t="t" r="r" b="b"/>
              <a:pathLst>
                <a:path w="2443170" h="2302687">
                  <a:moveTo>
                    <a:pt x="0" y="0"/>
                  </a:moveTo>
                  <a:lnTo>
                    <a:pt x="2443169" y="0"/>
                  </a:lnTo>
                  <a:lnTo>
                    <a:pt x="2443169" y="2302687"/>
                  </a:lnTo>
                  <a:lnTo>
                    <a:pt x="0" y="2302687"/>
                  </a:lnTo>
                  <a:lnTo>
                    <a:pt x="0" y="0"/>
                  </a:lnTo>
                  <a:close/>
                </a:path>
              </a:pathLst>
            </a:custGeom>
            <a:blipFill>
              <a:blip r:embed="rId4"/>
              <a:stretch>
                <a:fillRect/>
              </a:stretch>
            </a:blipFill>
          </p:spPr>
        </p:sp>
        <p:sp>
          <p:nvSpPr>
            <p:cNvPr id="7" name="Freeform 7"/>
            <p:cNvSpPr/>
            <p:nvPr/>
          </p:nvSpPr>
          <p:spPr>
            <a:xfrm>
              <a:off x="562492" y="3314937"/>
              <a:ext cx="1488904" cy="1488904"/>
            </a:xfrm>
            <a:custGeom>
              <a:avLst/>
              <a:gdLst/>
              <a:ahLst/>
              <a:cxnLst/>
              <a:rect l="l" t="t" r="r" b="b"/>
              <a:pathLst>
                <a:path w="1488904" h="1488904">
                  <a:moveTo>
                    <a:pt x="0" y="0"/>
                  </a:moveTo>
                  <a:lnTo>
                    <a:pt x="1488904" y="0"/>
                  </a:lnTo>
                  <a:lnTo>
                    <a:pt x="1488904" y="1488903"/>
                  </a:lnTo>
                  <a:lnTo>
                    <a:pt x="0" y="1488903"/>
                  </a:lnTo>
                  <a:lnTo>
                    <a:pt x="0" y="0"/>
                  </a:lnTo>
                  <a:close/>
                </a:path>
              </a:pathLst>
            </a:custGeom>
            <a:blipFill>
              <a:blip r:embed="rId5"/>
              <a:stretch>
                <a:fillRect/>
              </a:stretch>
            </a:blipFill>
          </p:spPr>
        </p:sp>
        <p:sp>
          <p:nvSpPr>
            <p:cNvPr id="8" name="Freeform 8"/>
            <p:cNvSpPr/>
            <p:nvPr/>
          </p:nvSpPr>
          <p:spPr>
            <a:xfrm>
              <a:off x="3193649" y="2829685"/>
              <a:ext cx="485859" cy="485251"/>
            </a:xfrm>
            <a:custGeom>
              <a:avLst/>
              <a:gdLst/>
              <a:ahLst/>
              <a:cxnLst/>
              <a:rect l="l" t="t" r="r" b="b"/>
              <a:pathLst>
                <a:path w="485859" h="485251">
                  <a:moveTo>
                    <a:pt x="0" y="0"/>
                  </a:moveTo>
                  <a:lnTo>
                    <a:pt x="485858" y="0"/>
                  </a:lnTo>
                  <a:lnTo>
                    <a:pt x="485858" y="485252"/>
                  </a:lnTo>
                  <a:lnTo>
                    <a:pt x="0" y="485252"/>
                  </a:lnTo>
                  <a:lnTo>
                    <a:pt x="0" y="0"/>
                  </a:lnTo>
                  <a:close/>
                </a:path>
              </a:pathLst>
            </a:custGeom>
            <a:blipFill>
              <a:blip r:embed="rId6"/>
              <a:stretch>
                <a:fillRect/>
              </a:stretch>
            </a:blipFill>
          </p:spPr>
        </p:sp>
        <p:sp>
          <p:nvSpPr>
            <p:cNvPr id="9" name="Freeform 9"/>
            <p:cNvSpPr/>
            <p:nvPr/>
          </p:nvSpPr>
          <p:spPr>
            <a:xfrm>
              <a:off x="8646648" y="5081880"/>
              <a:ext cx="586499" cy="585766"/>
            </a:xfrm>
            <a:custGeom>
              <a:avLst/>
              <a:gdLst/>
              <a:ahLst/>
              <a:cxnLst/>
              <a:rect l="l" t="t" r="r" b="b"/>
              <a:pathLst>
                <a:path w="586499" h="585766">
                  <a:moveTo>
                    <a:pt x="0" y="0"/>
                  </a:moveTo>
                  <a:lnTo>
                    <a:pt x="586499" y="0"/>
                  </a:lnTo>
                  <a:lnTo>
                    <a:pt x="586499" y="585765"/>
                  </a:lnTo>
                  <a:lnTo>
                    <a:pt x="0" y="585765"/>
                  </a:lnTo>
                  <a:lnTo>
                    <a:pt x="0" y="0"/>
                  </a:lnTo>
                  <a:close/>
                </a:path>
              </a:pathLst>
            </a:custGeom>
            <a:blipFill>
              <a:blip r:embed="rId7"/>
              <a:stretch>
                <a:fillRect/>
              </a:stretch>
            </a:blipFill>
            <a:ln cap="sq">
              <a:noFill/>
              <a:prstDash val="solid"/>
              <a:miter/>
            </a:ln>
          </p:spPr>
        </p:sp>
        <p:sp>
          <p:nvSpPr>
            <p:cNvPr id="10" name="Freeform 10"/>
            <p:cNvSpPr/>
            <p:nvPr/>
          </p:nvSpPr>
          <p:spPr>
            <a:xfrm rot="-9382171">
              <a:off x="12374612" y="507121"/>
              <a:ext cx="2156579" cy="2489557"/>
            </a:xfrm>
            <a:custGeom>
              <a:avLst/>
              <a:gdLst/>
              <a:ahLst/>
              <a:cxnLst/>
              <a:rect l="l" t="t" r="r" b="b"/>
              <a:pathLst>
                <a:path w="2156579" h="2489557">
                  <a:moveTo>
                    <a:pt x="0" y="0"/>
                  </a:moveTo>
                  <a:lnTo>
                    <a:pt x="2156578" y="0"/>
                  </a:lnTo>
                  <a:lnTo>
                    <a:pt x="2156578" y="2489557"/>
                  </a:lnTo>
                  <a:lnTo>
                    <a:pt x="0" y="2489557"/>
                  </a:lnTo>
                  <a:lnTo>
                    <a:pt x="0" y="0"/>
                  </a:lnTo>
                  <a:close/>
                </a:path>
              </a:pathLst>
            </a:custGeom>
            <a:blipFill>
              <a:blip r:embed="rId8"/>
              <a:stretch>
                <a:fillRect/>
              </a:stretch>
            </a:blipFill>
          </p:spPr>
        </p:sp>
        <p:sp>
          <p:nvSpPr>
            <p:cNvPr id="11" name="Freeform 11"/>
            <p:cNvSpPr/>
            <p:nvPr/>
          </p:nvSpPr>
          <p:spPr>
            <a:xfrm>
              <a:off x="0" y="826302"/>
              <a:ext cx="926756" cy="925597"/>
            </a:xfrm>
            <a:custGeom>
              <a:avLst/>
              <a:gdLst/>
              <a:ahLst/>
              <a:cxnLst/>
              <a:rect l="l" t="t" r="r" b="b"/>
              <a:pathLst>
                <a:path w="926756" h="925597">
                  <a:moveTo>
                    <a:pt x="0" y="0"/>
                  </a:moveTo>
                  <a:lnTo>
                    <a:pt x="926756" y="0"/>
                  </a:lnTo>
                  <a:lnTo>
                    <a:pt x="926756" y="925598"/>
                  </a:lnTo>
                  <a:lnTo>
                    <a:pt x="0" y="925598"/>
                  </a:lnTo>
                  <a:lnTo>
                    <a:pt x="0" y="0"/>
                  </a:lnTo>
                  <a:close/>
                </a:path>
              </a:pathLst>
            </a:custGeom>
            <a:blipFill>
              <a:blip r:embed="rId9"/>
              <a:stretch>
                <a:fillRect/>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sp>
        <p:nvSpPr>
          <p:cNvPr id="3" name="TextBox 3"/>
          <p:cNvSpPr txBox="1"/>
          <p:nvPr/>
        </p:nvSpPr>
        <p:spPr>
          <a:xfrm>
            <a:off x="199586" y="-142875"/>
            <a:ext cx="9334981" cy="9916504"/>
          </a:xfrm>
          <a:prstGeom prst="rect">
            <a:avLst/>
          </a:prstGeom>
        </p:spPr>
        <p:txBody>
          <a:bodyPr lIns="0" tIns="0" rIns="0" bIns="0" rtlCol="0" anchor="t">
            <a:spAutoFit/>
          </a:bodyPr>
          <a:lstStyle/>
          <a:p>
            <a:pPr algn="ctr">
              <a:lnSpc>
                <a:spcPts val="7420"/>
              </a:lnSpc>
            </a:pPr>
            <a:r>
              <a:rPr lang="en-US" sz="5014" b="1">
                <a:solidFill>
                  <a:srgbClr val="3E3E3E"/>
                </a:solidFill>
                <a:latin typeface="Droid Arabic Kufi Bold"/>
                <a:ea typeface="Droid Arabic Kufi Bold"/>
                <a:cs typeface="Droid Arabic Kufi Bold"/>
                <a:sym typeface="Droid Arabic Kufi Bold"/>
              </a:rPr>
              <a:t>Objectives</a:t>
            </a:r>
          </a:p>
          <a:p>
            <a:pPr algn="ctr">
              <a:lnSpc>
                <a:spcPts val="4460"/>
              </a:lnSpc>
            </a:pPr>
            <a:endParaRPr lang="en-US" sz="5014" b="1">
              <a:solidFill>
                <a:srgbClr val="3E3E3E"/>
              </a:solidFill>
              <a:latin typeface="Droid Arabic Kufi Bold"/>
              <a:ea typeface="Droid Arabic Kufi Bold"/>
              <a:cs typeface="Droid Arabic Kufi Bold"/>
              <a:sym typeface="Droid Arabic Kufi Bold"/>
            </a:endParaRPr>
          </a:p>
          <a:p>
            <a:pPr algn="ctr">
              <a:lnSpc>
                <a:spcPts val="4460"/>
              </a:lnSpc>
            </a:pPr>
            <a:r>
              <a:rPr lang="en-US" sz="3014" b="1">
                <a:solidFill>
                  <a:srgbClr val="3E3E3E"/>
                </a:solidFill>
                <a:latin typeface="Droid Arabic Naskh Bold"/>
                <a:ea typeface="Droid Arabic Naskh Bold"/>
                <a:cs typeface="Droid Arabic Naskh Bold"/>
                <a:sym typeface="Droid Arabic Naskh Bold"/>
              </a:rPr>
              <a:t>Sell: Increase sales by 20% within three months across digital channels.</a:t>
            </a:r>
          </a:p>
          <a:p>
            <a:pPr algn="ctr">
              <a:lnSpc>
                <a:spcPts val="4460"/>
              </a:lnSpc>
            </a:pPr>
            <a:r>
              <a:rPr lang="en-US" sz="3014" b="1">
                <a:solidFill>
                  <a:srgbClr val="3E3E3E"/>
                </a:solidFill>
                <a:latin typeface="Droid Arabic Naskh Bold"/>
                <a:ea typeface="Droid Arabic Naskh Bold"/>
                <a:cs typeface="Droid Arabic Naskh Bold"/>
                <a:sym typeface="Droid Arabic Naskh Bold"/>
              </a:rPr>
              <a:t>Serve: Improve customer satisfaction through faster response times and higher-quality service on WhatsApp and Telegram.</a:t>
            </a:r>
          </a:p>
          <a:p>
            <a:pPr algn="ctr">
              <a:lnSpc>
                <a:spcPts val="4460"/>
              </a:lnSpc>
            </a:pPr>
            <a:endParaRPr lang="en-US" sz="3014" b="1">
              <a:solidFill>
                <a:srgbClr val="3E3E3E"/>
              </a:solidFill>
              <a:latin typeface="Droid Arabic Naskh Bold"/>
              <a:ea typeface="Droid Arabic Naskh Bold"/>
              <a:cs typeface="Droid Arabic Naskh Bold"/>
              <a:sym typeface="Droid Arabic Naskh Bold"/>
            </a:endParaRPr>
          </a:p>
          <a:p>
            <a:pPr algn="ctr">
              <a:lnSpc>
                <a:spcPts val="4460"/>
              </a:lnSpc>
            </a:pPr>
            <a:r>
              <a:rPr lang="en-US" sz="3014" b="1">
                <a:solidFill>
                  <a:srgbClr val="3E3E3E"/>
                </a:solidFill>
                <a:latin typeface="Droid Arabic Naskh Bold"/>
                <a:ea typeface="Droid Arabic Naskh Bold"/>
                <a:cs typeface="Droid Arabic Naskh Bold"/>
                <a:sym typeface="Droid Arabic Naskh Bold"/>
              </a:rPr>
              <a:t>Speak: Boost brand awareness and reach 10,000 new followers on Facebook and Instagram.</a:t>
            </a:r>
          </a:p>
          <a:p>
            <a:pPr algn="ctr">
              <a:lnSpc>
                <a:spcPts val="4460"/>
              </a:lnSpc>
            </a:pPr>
            <a:r>
              <a:rPr lang="en-US" sz="3014" b="1">
                <a:solidFill>
                  <a:srgbClr val="3E3E3E"/>
                </a:solidFill>
                <a:latin typeface="Droid Arabic Naskh Bold"/>
                <a:ea typeface="Droid Arabic Naskh Bold"/>
                <a:cs typeface="Droid Arabic Naskh Bold"/>
                <a:sym typeface="Droid Arabic Naskh Bold"/>
              </a:rPr>
              <a:t>Save: Reduce customer acquisition cost (CAC) by 15% through targeted campaigns.</a:t>
            </a:r>
          </a:p>
          <a:p>
            <a:pPr algn="ctr">
              <a:lnSpc>
                <a:spcPts val="4460"/>
              </a:lnSpc>
            </a:pPr>
            <a:endParaRPr lang="en-US" sz="3014" b="1">
              <a:solidFill>
                <a:srgbClr val="3E3E3E"/>
              </a:solidFill>
              <a:latin typeface="Droid Arabic Naskh Bold"/>
              <a:ea typeface="Droid Arabic Naskh Bold"/>
              <a:cs typeface="Droid Arabic Naskh Bold"/>
              <a:sym typeface="Droid Arabic Naskh Bold"/>
            </a:endParaRPr>
          </a:p>
          <a:p>
            <a:pPr algn="ctr">
              <a:lnSpc>
                <a:spcPts val="4460"/>
              </a:lnSpc>
            </a:pPr>
            <a:r>
              <a:rPr lang="en-US" sz="3014" b="1">
                <a:solidFill>
                  <a:srgbClr val="3E3E3E"/>
                </a:solidFill>
                <a:latin typeface="Droid Arabic Naskh Bold"/>
                <a:ea typeface="Droid Arabic Naskh Bold"/>
                <a:cs typeface="Droid Arabic Naskh Bold"/>
                <a:sym typeface="Droid Arabic Naskh Bold"/>
              </a:rPr>
              <a:t>Sizzle: Build a strong brand image as the best and most trusted local store serving the families of Banha.</a:t>
            </a:r>
          </a:p>
          <a:p>
            <a:pPr marL="0" lvl="0" indent="0" algn="l">
              <a:lnSpc>
                <a:spcPts val="4390"/>
              </a:lnSpc>
            </a:pPr>
            <a:endParaRPr lang="en-US" sz="3014" b="1">
              <a:solidFill>
                <a:srgbClr val="3E3E3E"/>
              </a:solidFill>
              <a:latin typeface="Droid Arabic Naskh Bold"/>
              <a:ea typeface="Droid Arabic Naskh Bold"/>
              <a:cs typeface="Droid Arabic Naskh Bold"/>
              <a:sym typeface="Droid Arabic Naskh Bold"/>
            </a:endParaRPr>
          </a:p>
        </p:txBody>
      </p:sp>
      <p:grpSp>
        <p:nvGrpSpPr>
          <p:cNvPr id="4" name="Group 4"/>
          <p:cNvGrpSpPr/>
          <p:nvPr/>
        </p:nvGrpSpPr>
        <p:grpSpPr>
          <a:xfrm>
            <a:off x="9534567" y="0"/>
            <a:ext cx="951055" cy="10987779"/>
            <a:chOff x="0" y="0"/>
            <a:chExt cx="1268073" cy="14650371"/>
          </a:xfrm>
        </p:grpSpPr>
        <p:sp>
          <p:nvSpPr>
            <p:cNvPr id="5" name="Freeform 5"/>
            <p:cNvSpPr/>
            <p:nvPr/>
          </p:nvSpPr>
          <p:spPr>
            <a:xfrm>
              <a:off x="0" y="2899409"/>
              <a:ext cx="1025505" cy="9439074"/>
            </a:xfrm>
            <a:custGeom>
              <a:avLst/>
              <a:gdLst/>
              <a:ahLst/>
              <a:cxnLst/>
              <a:rect l="l" t="t" r="r" b="b"/>
              <a:pathLst>
                <a:path w="1025505" h="9439074">
                  <a:moveTo>
                    <a:pt x="0" y="0"/>
                  </a:moveTo>
                  <a:lnTo>
                    <a:pt x="1025505" y="0"/>
                  </a:lnTo>
                  <a:lnTo>
                    <a:pt x="1025505" y="9439074"/>
                  </a:lnTo>
                  <a:lnTo>
                    <a:pt x="0" y="9439074"/>
                  </a:lnTo>
                  <a:lnTo>
                    <a:pt x="0" y="0"/>
                  </a:lnTo>
                  <a:close/>
                </a:path>
              </a:pathLst>
            </a:custGeom>
            <a:blipFill>
              <a:blip r:embed="rId3"/>
              <a:stretch>
                <a:fillRect l="-405038" r="-405038"/>
              </a:stretch>
            </a:blipFill>
          </p:spPr>
        </p:sp>
        <p:sp>
          <p:nvSpPr>
            <p:cNvPr id="6" name="Freeform 6"/>
            <p:cNvSpPr/>
            <p:nvPr/>
          </p:nvSpPr>
          <p:spPr>
            <a:xfrm>
              <a:off x="350197" y="232860"/>
              <a:ext cx="95210" cy="865404"/>
            </a:xfrm>
            <a:custGeom>
              <a:avLst/>
              <a:gdLst/>
              <a:ahLst/>
              <a:cxnLst/>
              <a:rect l="l" t="t" r="r" b="b"/>
              <a:pathLst>
                <a:path w="95210" h="865404">
                  <a:moveTo>
                    <a:pt x="0" y="0"/>
                  </a:moveTo>
                  <a:lnTo>
                    <a:pt x="95211" y="0"/>
                  </a:lnTo>
                  <a:lnTo>
                    <a:pt x="95211" y="865404"/>
                  </a:lnTo>
                  <a:lnTo>
                    <a:pt x="0" y="865404"/>
                  </a:lnTo>
                  <a:lnTo>
                    <a:pt x="0" y="0"/>
                  </a:lnTo>
                  <a:close/>
                </a:path>
              </a:pathLst>
            </a:custGeom>
            <a:blipFill>
              <a:blip r:embed="rId4"/>
              <a:stretch>
                <a:fillRect l="-405038" r="-405038"/>
              </a:stretch>
            </a:blipFill>
          </p:spPr>
        </p:sp>
        <p:sp>
          <p:nvSpPr>
            <p:cNvPr id="7" name="Freeform 7"/>
            <p:cNvSpPr/>
            <p:nvPr/>
          </p:nvSpPr>
          <p:spPr>
            <a:xfrm>
              <a:off x="1201170" y="7450068"/>
              <a:ext cx="66903" cy="608107"/>
            </a:xfrm>
            <a:custGeom>
              <a:avLst/>
              <a:gdLst/>
              <a:ahLst/>
              <a:cxnLst/>
              <a:rect l="l" t="t" r="r" b="b"/>
              <a:pathLst>
                <a:path w="66903" h="608107">
                  <a:moveTo>
                    <a:pt x="0" y="0"/>
                  </a:moveTo>
                  <a:lnTo>
                    <a:pt x="66903" y="0"/>
                  </a:lnTo>
                  <a:lnTo>
                    <a:pt x="66903" y="608108"/>
                  </a:lnTo>
                  <a:lnTo>
                    <a:pt x="0" y="608108"/>
                  </a:lnTo>
                  <a:lnTo>
                    <a:pt x="0" y="0"/>
                  </a:lnTo>
                  <a:close/>
                </a:path>
              </a:pathLst>
            </a:custGeom>
            <a:blipFill>
              <a:blip r:embed="rId5"/>
              <a:stretch>
                <a:fillRect l="-405038" r="-405038"/>
              </a:stretch>
            </a:blipFill>
            <a:ln cap="sq">
              <a:noFill/>
              <a:prstDash val="solid"/>
              <a:miter/>
            </a:ln>
          </p:spPr>
        </p:sp>
        <p:sp>
          <p:nvSpPr>
            <p:cNvPr id="8" name="Freeform 8"/>
            <p:cNvSpPr/>
            <p:nvPr/>
          </p:nvSpPr>
          <p:spPr>
            <a:xfrm>
              <a:off x="532675" y="12749791"/>
              <a:ext cx="76196" cy="692575"/>
            </a:xfrm>
            <a:custGeom>
              <a:avLst/>
              <a:gdLst/>
              <a:ahLst/>
              <a:cxnLst/>
              <a:rect l="l" t="t" r="r" b="b"/>
              <a:pathLst>
                <a:path w="76196" h="692575">
                  <a:moveTo>
                    <a:pt x="0" y="0"/>
                  </a:moveTo>
                  <a:lnTo>
                    <a:pt x="76196" y="0"/>
                  </a:lnTo>
                  <a:lnTo>
                    <a:pt x="76196" y="692575"/>
                  </a:lnTo>
                  <a:lnTo>
                    <a:pt x="0" y="692575"/>
                  </a:lnTo>
                  <a:lnTo>
                    <a:pt x="0" y="0"/>
                  </a:lnTo>
                  <a:close/>
                </a:path>
              </a:pathLst>
            </a:custGeom>
            <a:blipFill>
              <a:blip r:embed="rId6"/>
              <a:stretch>
                <a:fillRect l="-405038" r="-405038"/>
              </a:stretch>
            </a:blipFill>
          </p:spPr>
        </p:sp>
        <p:sp>
          <p:nvSpPr>
            <p:cNvPr id="9" name="Freeform 9"/>
            <p:cNvSpPr/>
            <p:nvPr/>
          </p:nvSpPr>
          <p:spPr>
            <a:xfrm>
              <a:off x="956243" y="0"/>
              <a:ext cx="299517" cy="3146711"/>
            </a:xfrm>
            <a:custGeom>
              <a:avLst/>
              <a:gdLst/>
              <a:ahLst/>
              <a:cxnLst/>
              <a:rect l="l" t="t" r="r" b="b"/>
              <a:pathLst>
                <a:path w="299517" h="3146711">
                  <a:moveTo>
                    <a:pt x="0" y="0"/>
                  </a:moveTo>
                  <a:lnTo>
                    <a:pt x="299517" y="0"/>
                  </a:lnTo>
                  <a:lnTo>
                    <a:pt x="299517" y="3146711"/>
                  </a:lnTo>
                  <a:lnTo>
                    <a:pt x="0" y="3146711"/>
                  </a:lnTo>
                  <a:lnTo>
                    <a:pt x="0" y="0"/>
                  </a:lnTo>
                  <a:close/>
                </a:path>
              </a:pathLst>
            </a:custGeom>
            <a:blipFill>
              <a:blip r:embed="rId7"/>
              <a:stretch>
                <a:fillRect l="-405038" r="-405038"/>
              </a:stretch>
            </a:blipFill>
          </p:spPr>
        </p:sp>
        <p:sp>
          <p:nvSpPr>
            <p:cNvPr id="10" name="Freeform 10"/>
            <p:cNvSpPr/>
            <p:nvPr/>
          </p:nvSpPr>
          <p:spPr>
            <a:xfrm rot="-3599469">
              <a:off x="-259820" y="13775260"/>
              <a:ext cx="1911159" cy="63500"/>
            </a:xfrm>
            <a:custGeom>
              <a:avLst/>
              <a:gdLst/>
              <a:ahLst/>
              <a:cxnLst/>
              <a:rect l="l" t="t" r="r" b="b"/>
              <a:pathLst>
                <a:path w="1911159" h="63500">
                  <a:moveTo>
                    <a:pt x="0" y="0"/>
                  </a:moveTo>
                  <a:lnTo>
                    <a:pt x="1911159" y="0"/>
                  </a:lnTo>
                  <a:lnTo>
                    <a:pt x="1911159" y="63500"/>
                  </a:lnTo>
                  <a:lnTo>
                    <a:pt x="0" y="63500"/>
                  </a:lnTo>
                  <a:lnTo>
                    <a:pt x="0" y="0"/>
                  </a:lnTo>
                  <a:close/>
                </a:path>
              </a:pathLst>
            </a:custGeom>
            <a:blipFill>
              <a:blip r:embed="rId8"/>
              <a:stretch>
                <a:fillRect t="-1507412" b="-1507412"/>
              </a:stretch>
            </a:blipFill>
          </p:spPr>
        </p:sp>
      </p:grpSp>
      <p:sp>
        <p:nvSpPr>
          <p:cNvPr id="11" name="TextBox 11"/>
          <p:cNvSpPr txBox="1"/>
          <p:nvPr/>
        </p:nvSpPr>
        <p:spPr>
          <a:xfrm>
            <a:off x="10485622" y="187617"/>
            <a:ext cx="7591942" cy="8982889"/>
          </a:xfrm>
          <a:prstGeom prst="rect">
            <a:avLst/>
          </a:prstGeom>
        </p:spPr>
        <p:txBody>
          <a:bodyPr lIns="0" tIns="0" rIns="0" bIns="0" rtlCol="0" anchor="t">
            <a:spAutoFit/>
          </a:bodyPr>
          <a:lstStyle/>
          <a:p>
            <a:pPr algn="ctr">
              <a:lnSpc>
                <a:spcPts val="5983"/>
              </a:lnSpc>
            </a:pPr>
            <a:r>
              <a:rPr lang="en-US" sz="5070" b="1">
                <a:solidFill>
                  <a:srgbClr val="3E3E3E"/>
                </a:solidFill>
                <a:latin typeface="Droid Arabic Kufi Bold"/>
                <a:ea typeface="Droid Arabic Kufi Bold"/>
                <a:cs typeface="Droid Arabic Kufi Bold"/>
                <a:sym typeface="Droid Arabic Kufi Bold"/>
              </a:rPr>
              <a:t>Strategy</a:t>
            </a:r>
          </a:p>
          <a:p>
            <a:pPr algn="ctr" rtl="1">
              <a:lnSpc>
                <a:spcPts val="3623"/>
              </a:lnSpc>
            </a:pPr>
            <a:endParaRPr lang="en-US" sz="5070" b="1">
              <a:solidFill>
                <a:srgbClr val="3E3E3E"/>
              </a:solidFill>
              <a:latin typeface="Droid Arabic Kufi Bold"/>
              <a:ea typeface="Droid Arabic Kufi Bold"/>
              <a:cs typeface="Droid Arabic Kufi Bold"/>
              <a:sym typeface="Droid Arabic Kufi Bold"/>
            </a:endParaRPr>
          </a:p>
          <a:p>
            <a:pPr algn="ctr" rtl="1">
              <a:lnSpc>
                <a:spcPts val="3623"/>
              </a:lnSpc>
            </a:pPr>
            <a:r>
              <a:rPr lang="en-US" sz="3070" b="1">
                <a:solidFill>
                  <a:srgbClr val="3E3E3E"/>
                </a:solidFill>
                <a:latin typeface="Droid Arabic Naskh Bold"/>
                <a:ea typeface="Droid Arabic Naskh Bold"/>
                <a:cs typeface="Droid Arabic Naskh Bold"/>
                <a:sym typeface="Droid Arabic Naskh Bold"/>
              </a:rPr>
              <a:t>Positioning: “The local store that understands the needs of Banha families and offers everything they need in one place</a:t>
            </a:r>
            <a:r>
              <a:rPr lang="ar-EG" sz="3070" b="1">
                <a:solidFill>
                  <a:srgbClr val="3E3E3E"/>
                </a:solidFill>
                <a:latin typeface="Droid Arabic Naskh Bold"/>
                <a:ea typeface="Droid Arabic Naskh Bold"/>
                <a:cs typeface="Droid Arabic Naskh Bold"/>
                <a:sym typeface="Droid Arabic Naskh Bold"/>
                <a:rtl/>
              </a:rPr>
              <a:t>.”</a:t>
            </a:r>
          </a:p>
          <a:p>
            <a:pPr algn="ctr" rtl="1">
              <a:lnSpc>
                <a:spcPts val="3623"/>
              </a:lnSpc>
            </a:pPr>
            <a:endParaRPr lang="ar-EG" sz="3070" b="1">
              <a:solidFill>
                <a:srgbClr val="3E3E3E"/>
              </a:solidFill>
              <a:latin typeface="Droid Arabic Naskh Bold"/>
              <a:ea typeface="Droid Arabic Naskh Bold"/>
              <a:cs typeface="Droid Arabic Naskh Bold"/>
              <a:sym typeface="Droid Arabic Naskh Bold"/>
              <a:rtl/>
            </a:endParaRPr>
          </a:p>
          <a:p>
            <a:pPr algn="ctr" rtl="1">
              <a:lnSpc>
                <a:spcPts val="3623"/>
              </a:lnSpc>
            </a:pPr>
            <a:r>
              <a:rPr lang="en-US" sz="3070" b="1">
                <a:solidFill>
                  <a:srgbClr val="3E3E3E"/>
                </a:solidFill>
                <a:latin typeface="Droid Arabic Naskh Bold"/>
                <a:ea typeface="Droid Arabic Naskh Bold"/>
                <a:cs typeface="Droid Arabic Naskh Bold"/>
                <a:sym typeface="Droid Arabic Naskh Bold"/>
              </a:rPr>
              <a:t>Value Proposition: Reliable quality, reasonable prices, and convenient and fast digital service</a:t>
            </a:r>
            <a:r>
              <a:rPr lang="ar-EG" sz="3070" b="1">
                <a:solidFill>
                  <a:srgbClr val="3E3E3E"/>
                </a:solidFill>
                <a:latin typeface="Droid Arabic Naskh Bold"/>
                <a:ea typeface="Droid Arabic Naskh Bold"/>
                <a:cs typeface="Droid Arabic Naskh Bold"/>
                <a:sym typeface="Droid Arabic Naskh Bold"/>
                <a:rtl/>
              </a:rPr>
              <a:t>.</a:t>
            </a:r>
          </a:p>
          <a:p>
            <a:pPr algn="ctr" rtl="1">
              <a:lnSpc>
                <a:spcPts val="3623"/>
              </a:lnSpc>
            </a:pPr>
            <a:endParaRPr lang="ar-EG" sz="3070" b="1">
              <a:solidFill>
                <a:srgbClr val="3E3E3E"/>
              </a:solidFill>
              <a:latin typeface="Droid Arabic Naskh Bold"/>
              <a:ea typeface="Droid Arabic Naskh Bold"/>
              <a:cs typeface="Droid Arabic Naskh Bold"/>
              <a:sym typeface="Droid Arabic Naskh Bold"/>
              <a:rtl/>
            </a:endParaRPr>
          </a:p>
          <a:p>
            <a:pPr algn="ctr" rtl="1">
              <a:lnSpc>
                <a:spcPts val="3623"/>
              </a:lnSpc>
            </a:pPr>
            <a:r>
              <a:rPr lang="en-US" sz="3070" b="1">
                <a:solidFill>
                  <a:srgbClr val="3E3E3E"/>
                </a:solidFill>
                <a:latin typeface="Droid Arabic Naskh Bold"/>
                <a:ea typeface="Droid Arabic Naskh Bold"/>
                <a:cs typeface="Droid Arabic Naskh Bold"/>
                <a:sym typeface="Droid Arabic Naskh Bold"/>
              </a:rPr>
              <a:t>Targeting: Focusing on families in Banha through the most active local social media platforms (Facebook, WhatsApp, Telegram)</a:t>
            </a:r>
            <a:r>
              <a:rPr lang="ar-EG" sz="3070" b="1">
                <a:solidFill>
                  <a:srgbClr val="3E3E3E"/>
                </a:solidFill>
                <a:latin typeface="Droid Arabic Naskh Bold"/>
                <a:ea typeface="Droid Arabic Naskh Bold"/>
                <a:cs typeface="Droid Arabic Naskh Bold"/>
                <a:sym typeface="Droid Arabic Naskh Bold"/>
                <a:rtl/>
              </a:rPr>
              <a:t>.</a:t>
            </a:r>
          </a:p>
          <a:p>
            <a:pPr algn="ctr" rtl="1">
              <a:lnSpc>
                <a:spcPts val="3623"/>
              </a:lnSpc>
            </a:pPr>
            <a:endParaRPr lang="ar-EG" sz="3070" b="1">
              <a:solidFill>
                <a:srgbClr val="3E3E3E"/>
              </a:solidFill>
              <a:latin typeface="Droid Arabic Naskh Bold"/>
              <a:ea typeface="Droid Arabic Naskh Bold"/>
              <a:cs typeface="Droid Arabic Naskh Bold"/>
              <a:sym typeface="Droid Arabic Naskh Bold"/>
              <a:rtl/>
            </a:endParaRPr>
          </a:p>
          <a:p>
            <a:pPr algn="ctr" rtl="1">
              <a:lnSpc>
                <a:spcPts val="3623"/>
              </a:lnSpc>
              <a:spcBef>
                <a:spcPct val="0"/>
              </a:spcBef>
            </a:pPr>
            <a:r>
              <a:rPr lang="en-US" sz="3070" b="1">
                <a:solidFill>
                  <a:srgbClr val="3E3E3E"/>
                </a:solidFill>
                <a:latin typeface="Droid Arabic Naskh Bold"/>
                <a:ea typeface="Droid Arabic Naskh Bold"/>
                <a:cs typeface="Droid Arabic Naskh Bold"/>
                <a:sym typeface="Droid Arabic Naskh Bold"/>
              </a:rPr>
              <a:t>Tone of Voice: Friendly, reliable, approachable, and emphasizing the family aspect</a:t>
            </a:r>
            <a:r>
              <a:rPr lang="ar-EG" sz="3070" b="1">
                <a:solidFill>
                  <a:srgbClr val="3E3E3E"/>
                </a:solidFill>
                <a:latin typeface="Droid Arabic Naskh Bold"/>
                <a:ea typeface="Droid Arabic Naskh Bold"/>
                <a:cs typeface="Droid Arabic Naskh Bold"/>
                <a:sym typeface="Droid Arabic Naskh Bold"/>
                <a:rt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grpSp>
        <p:nvGrpSpPr>
          <p:cNvPr id="3" name="Group 3"/>
          <p:cNvGrpSpPr/>
          <p:nvPr/>
        </p:nvGrpSpPr>
        <p:grpSpPr>
          <a:xfrm>
            <a:off x="11919844" y="-394480"/>
            <a:ext cx="7302530" cy="11199157"/>
            <a:chOff x="0" y="0"/>
            <a:chExt cx="9736706" cy="14932209"/>
          </a:xfrm>
        </p:grpSpPr>
        <p:sp>
          <p:nvSpPr>
            <p:cNvPr id="4" name="Freeform 4"/>
            <p:cNvSpPr/>
            <p:nvPr/>
          </p:nvSpPr>
          <p:spPr>
            <a:xfrm>
              <a:off x="2029550" y="3350980"/>
              <a:ext cx="6015340" cy="8060757"/>
            </a:xfrm>
            <a:custGeom>
              <a:avLst/>
              <a:gdLst/>
              <a:ahLst/>
              <a:cxnLst/>
              <a:rect l="l" t="t" r="r" b="b"/>
              <a:pathLst>
                <a:path w="6015340" h="8060757">
                  <a:moveTo>
                    <a:pt x="0" y="0"/>
                  </a:moveTo>
                  <a:lnTo>
                    <a:pt x="6015340" y="0"/>
                  </a:lnTo>
                  <a:lnTo>
                    <a:pt x="6015340" y="8060757"/>
                  </a:lnTo>
                  <a:lnTo>
                    <a:pt x="0" y="8060757"/>
                  </a:lnTo>
                  <a:lnTo>
                    <a:pt x="0" y="0"/>
                  </a:lnTo>
                  <a:close/>
                </a:path>
              </a:pathLst>
            </a:custGeom>
            <a:blipFill>
              <a:blip r:embed="rId3"/>
              <a:stretch>
                <a:fillRect/>
              </a:stretch>
            </a:blipFill>
          </p:spPr>
        </p:sp>
        <p:sp>
          <p:nvSpPr>
            <p:cNvPr id="5" name="Freeform 5"/>
            <p:cNvSpPr/>
            <p:nvPr/>
          </p:nvSpPr>
          <p:spPr>
            <a:xfrm rot="-1100670">
              <a:off x="5571982" y="1357890"/>
              <a:ext cx="1915805" cy="1843962"/>
            </a:xfrm>
            <a:custGeom>
              <a:avLst/>
              <a:gdLst/>
              <a:ahLst/>
              <a:cxnLst/>
              <a:rect l="l" t="t" r="r" b="b"/>
              <a:pathLst>
                <a:path w="1915805" h="1843962">
                  <a:moveTo>
                    <a:pt x="0" y="0"/>
                  </a:moveTo>
                  <a:lnTo>
                    <a:pt x="1915804" y="0"/>
                  </a:lnTo>
                  <a:lnTo>
                    <a:pt x="1915804" y="1843962"/>
                  </a:lnTo>
                  <a:lnTo>
                    <a:pt x="0" y="1843962"/>
                  </a:lnTo>
                  <a:lnTo>
                    <a:pt x="0" y="0"/>
                  </a:lnTo>
                  <a:close/>
                </a:path>
              </a:pathLst>
            </a:custGeom>
            <a:blipFill>
              <a:blip r:embed="rId4"/>
              <a:stretch>
                <a:fillRect/>
              </a:stretch>
            </a:blipFill>
          </p:spPr>
        </p:sp>
        <p:sp>
          <p:nvSpPr>
            <p:cNvPr id="6" name="Freeform 6"/>
            <p:cNvSpPr/>
            <p:nvPr/>
          </p:nvSpPr>
          <p:spPr>
            <a:xfrm>
              <a:off x="5051375" y="11706407"/>
              <a:ext cx="558222" cy="557524"/>
            </a:xfrm>
            <a:custGeom>
              <a:avLst/>
              <a:gdLst/>
              <a:ahLst/>
              <a:cxnLst/>
              <a:rect l="l" t="t" r="r" b="b"/>
              <a:pathLst>
                <a:path w="558222" h="557524">
                  <a:moveTo>
                    <a:pt x="0" y="0"/>
                  </a:moveTo>
                  <a:lnTo>
                    <a:pt x="558222" y="0"/>
                  </a:lnTo>
                  <a:lnTo>
                    <a:pt x="558222" y="557524"/>
                  </a:lnTo>
                  <a:lnTo>
                    <a:pt x="0" y="557524"/>
                  </a:lnTo>
                  <a:lnTo>
                    <a:pt x="0" y="0"/>
                  </a:lnTo>
                  <a:close/>
                </a:path>
              </a:pathLst>
            </a:custGeom>
            <a:blipFill>
              <a:blip r:embed="rId5"/>
              <a:stretch>
                <a:fillRect/>
              </a:stretch>
            </a:blipFill>
            <a:ln cap="sq">
              <a:noFill/>
              <a:prstDash val="solid"/>
              <a:miter/>
            </a:ln>
          </p:spPr>
        </p:sp>
        <p:sp>
          <p:nvSpPr>
            <p:cNvPr id="7" name="Freeform 7"/>
            <p:cNvSpPr/>
            <p:nvPr/>
          </p:nvSpPr>
          <p:spPr>
            <a:xfrm>
              <a:off x="1363057" y="4735195"/>
              <a:ext cx="450420" cy="449857"/>
            </a:xfrm>
            <a:custGeom>
              <a:avLst/>
              <a:gdLst/>
              <a:ahLst/>
              <a:cxnLst/>
              <a:rect l="l" t="t" r="r" b="b"/>
              <a:pathLst>
                <a:path w="450420" h="449857">
                  <a:moveTo>
                    <a:pt x="0" y="0"/>
                  </a:moveTo>
                  <a:lnTo>
                    <a:pt x="450420" y="0"/>
                  </a:lnTo>
                  <a:lnTo>
                    <a:pt x="450420" y="449857"/>
                  </a:lnTo>
                  <a:lnTo>
                    <a:pt x="0" y="449857"/>
                  </a:lnTo>
                  <a:lnTo>
                    <a:pt x="0" y="0"/>
                  </a:lnTo>
                  <a:close/>
                </a:path>
              </a:pathLst>
            </a:custGeom>
            <a:blipFill>
              <a:blip r:embed="rId6"/>
              <a:stretch>
                <a:fillRect/>
              </a:stretch>
            </a:blipFill>
          </p:spPr>
        </p:sp>
        <p:sp>
          <p:nvSpPr>
            <p:cNvPr id="8" name="Freeform 8"/>
            <p:cNvSpPr/>
            <p:nvPr/>
          </p:nvSpPr>
          <p:spPr>
            <a:xfrm rot="-1777721">
              <a:off x="917072" y="454604"/>
              <a:ext cx="2339515" cy="1892083"/>
            </a:xfrm>
            <a:custGeom>
              <a:avLst/>
              <a:gdLst/>
              <a:ahLst/>
              <a:cxnLst/>
              <a:rect l="l" t="t" r="r" b="b"/>
              <a:pathLst>
                <a:path w="2339515" h="1892083">
                  <a:moveTo>
                    <a:pt x="0" y="0"/>
                  </a:moveTo>
                  <a:lnTo>
                    <a:pt x="2339515" y="0"/>
                  </a:lnTo>
                  <a:lnTo>
                    <a:pt x="2339515" y="1892083"/>
                  </a:lnTo>
                  <a:lnTo>
                    <a:pt x="0" y="1892083"/>
                  </a:lnTo>
                  <a:lnTo>
                    <a:pt x="0" y="0"/>
                  </a:lnTo>
                  <a:close/>
                </a:path>
              </a:pathLst>
            </a:custGeom>
            <a:blipFill>
              <a:blip r:embed="rId7"/>
              <a:stretch>
                <a:fillRect/>
              </a:stretch>
            </a:blipFill>
          </p:spPr>
        </p:sp>
        <p:sp>
          <p:nvSpPr>
            <p:cNvPr id="9" name="Freeform 9"/>
            <p:cNvSpPr/>
            <p:nvPr/>
          </p:nvSpPr>
          <p:spPr>
            <a:xfrm rot="4239088">
              <a:off x="1838552" y="6277943"/>
              <a:ext cx="1310417" cy="2186241"/>
            </a:xfrm>
            <a:custGeom>
              <a:avLst/>
              <a:gdLst/>
              <a:ahLst/>
              <a:cxnLst/>
              <a:rect l="l" t="t" r="r" b="b"/>
              <a:pathLst>
                <a:path w="1310417" h="2186241">
                  <a:moveTo>
                    <a:pt x="0" y="0"/>
                  </a:moveTo>
                  <a:lnTo>
                    <a:pt x="1310417" y="0"/>
                  </a:lnTo>
                  <a:lnTo>
                    <a:pt x="1310417" y="2186241"/>
                  </a:lnTo>
                  <a:lnTo>
                    <a:pt x="0" y="2186241"/>
                  </a:lnTo>
                  <a:lnTo>
                    <a:pt x="0" y="0"/>
                  </a:lnTo>
                  <a:close/>
                </a:path>
              </a:pathLst>
            </a:custGeom>
            <a:blipFill>
              <a:blip r:embed="rId8"/>
              <a:stretch>
                <a:fillRect/>
              </a:stretch>
            </a:blipFill>
          </p:spPr>
        </p:sp>
        <p:sp>
          <p:nvSpPr>
            <p:cNvPr id="10" name="Freeform 10"/>
            <p:cNvSpPr/>
            <p:nvPr/>
          </p:nvSpPr>
          <p:spPr>
            <a:xfrm rot="2633171">
              <a:off x="741300" y="11625057"/>
              <a:ext cx="2116348" cy="2991304"/>
            </a:xfrm>
            <a:custGeom>
              <a:avLst/>
              <a:gdLst/>
              <a:ahLst/>
              <a:cxnLst/>
              <a:rect l="l" t="t" r="r" b="b"/>
              <a:pathLst>
                <a:path w="2116348" h="2991304">
                  <a:moveTo>
                    <a:pt x="0" y="0"/>
                  </a:moveTo>
                  <a:lnTo>
                    <a:pt x="2116347" y="0"/>
                  </a:lnTo>
                  <a:lnTo>
                    <a:pt x="2116347" y="2991304"/>
                  </a:lnTo>
                  <a:lnTo>
                    <a:pt x="0" y="2991304"/>
                  </a:lnTo>
                  <a:lnTo>
                    <a:pt x="0" y="0"/>
                  </a:lnTo>
                  <a:close/>
                </a:path>
              </a:pathLst>
            </a:custGeom>
            <a:blipFill>
              <a:blip r:embed="rId9"/>
              <a:stretch>
                <a:fillRect/>
              </a:stretch>
            </a:blipFill>
          </p:spPr>
        </p:sp>
        <p:sp>
          <p:nvSpPr>
            <p:cNvPr id="11" name="Freeform 11"/>
            <p:cNvSpPr/>
            <p:nvPr/>
          </p:nvSpPr>
          <p:spPr>
            <a:xfrm rot="2456265">
              <a:off x="7351366" y="11238926"/>
              <a:ext cx="1899285" cy="2192537"/>
            </a:xfrm>
            <a:custGeom>
              <a:avLst/>
              <a:gdLst/>
              <a:ahLst/>
              <a:cxnLst/>
              <a:rect l="l" t="t" r="r" b="b"/>
              <a:pathLst>
                <a:path w="1899285" h="2192537">
                  <a:moveTo>
                    <a:pt x="0" y="0"/>
                  </a:moveTo>
                  <a:lnTo>
                    <a:pt x="1899285" y="0"/>
                  </a:lnTo>
                  <a:lnTo>
                    <a:pt x="1899285" y="2192537"/>
                  </a:lnTo>
                  <a:lnTo>
                    <a:pt x="0" y="2192537"/>
                  </a:lnTo>
                  <a:lnTo>
                    <a:pt x="0" y="0"/>
                  </a:lnTo>
                  <a:close/>
                </a:path>
              </a:pathLst>
            </a:custGeom>
            <a:blipFill>
              <a:blip r:embed="rId10"/>
              <a:stretch>
                <a:fillRect/>
              </a:stretch>
            </a:blipFill>
          </p:spPr>
        </p:sp>
      </p:grpSp>
      <p:sp>
        <p:nvSpPr>
          <p:cNvPr id="12" name="TextBox 12"/>
          <p:cNvSpPr txBox="1"/>
          <p:nvPr/>
        </p:nvSpPr>
        <p:spPr>
          <a:xfrm>
            <a:off x="1028700" y="499745"/>
            <a:ext cx="10422840" cy="9239884"/>
          </a:xfrm>
          <a:prstGeom prst="rect">
            <a:avLst/>
          </a:prstGeom>
        </p:spPr>
        <p:txBody>
          <a:bodyPr lIns="0" tIns="0" rIns="0" bIns="0" rtlCol="0" anchor="t">
            <a:spAutoFit/>
          </a:bodyPr>
          <a:lstStyle/>
          <a:p>
            <a:pPr algn="l">
              <a:lnSpc>
                <a:spcPts val="5149"/>
              </a:lnSpc>
            </a:pPr>
            <a:r>
              <a:rPr lang="en-US" sz="4999" b="1">
                <a:solidFill>
                  <a:srgbClr val="3E3E3E"/>
                </a:solidFill>
                <a:latin typeface="Droid Arabic Kufi Bold"/>
                <a:ea typeface="Droid Arabic Kufi Bold"/>
                <a:cs typeface="Droid Arabic Kufi Bold"/>
                <a:sym typeface="Droid Arabic Kufi Bold"/>
              </a:rPr>
              <a:t>Tactics</a:t>
            </a:r>
          </a:p>
          <a:p>
            <a:pPr algn="l">
              <a:lnSpc>
                <a:spcPts val="5149"/>
              </a:lnSpc>
            </a:pPr>
            <a:endParaRPr lang="en-US" sz="4999" b="1">
              <a:solidFill>
                <a:srgbClr val="3E3E3E"/>
              </a:solidFill>
              <a:latin typeface="Droid Arabic Kufi Bold"/>
              <a:ea typeface="Droid Arabic Kufi Bold"/>
              <a:cs typeface="Droid Arabic Kufi Bold"/>
              <a:sym typeface="Droid Arabic Kufi Bold"/>
            </a:endParaRPr>
          </a:p>
          <a:p>
            <a:pPr marL="863595" lvl="1" indent="-431797" algn="l">
              <a:lnSpc>
                <a:spcPts val="4119"/>
              </a:lnSpc>
              <a:buFont typeface="Arial"/>
              <a:buChar char="•"/>
            </a:pPr>
            <a:r>
              <a:rPr lang="en-US" sz="3999" b="1">
                <a:solidFill>
                  <a:srgbClr val="3E3E3E"/>
                </a:solidFill>
                <a:latin typeface="Droid Arabic Naskh Bold"/>
                <a:ea typeface="Droid Arabic Naskh Bold"/>
                <a:cs typeface="Droid Arabic Naskh Bold"/>
                <a:sym typeface="Droid Arabic Naskh Bold"/>
              </a:rPr>
              <a:t>Social Media:</a:t>
            </a:r>
          </a:p>
          <a:p>
            <a:pPr algn="l">
              <a:lnSpc>
                <a:spcPts val="3090"/>
              </a:lnSpc>
            </a:pPr>
            <a:endParaRPr lang="en-US" sz="3999" b="1">
              <a:solidFill>
                <a:srgbClr val="3E3E3E"/>
              </a:solidFill>
              <a:latin typeface="Droid Arabic Naskh Bold"/>
              <a:ea typeface="Droid Arabic Naskh Bold"/>
              <a:cs typeface="Droid Arabic Naskh Bold"/>
              <a:sym typeface="Droid Arabic Naskh Bold"/>
            </a:endParaRPr>
          </a:p>
          <a:p>
            <a:pPr algn="l">
              <a:lnSpc>
                <a:spcPts val="3090"/>
              </a:lnSpc>
              <a:spcBef>
                <a:spcPct val="0"/>
              </a:spcBef>
            </a:pPr>
            <a:r>
              <a:rPr lang="en-US" sz="3000" b="1">
                <a:solidFill>
                  <a:srgbClr val="3E3E3E"/>
                </a:solidFill>
                <a:latin typeface="Droid Arabic Naskh Bold"/>
                <a:ea typeface="Droid Arabic Naskh Bold"/>
                <a:cs typeface="Droid Arabic Naskh Bold"/>
                <a:sym typeface="Droid Arabic Naskh Bold"/>
              </a:rPr>
              <a:t>Facebook and Instagram: Post visual content (Reels, photos, tips).</a:t>
            </a:r>
          </a:p>
          <a:p>
            <a:pPr algn="l">
              <a:lnSpc>
                <a:spcPts val="3090"/>
              </a:lnSpc>
              <a:spcBef>
                <a:spcPct val="0"/>
              </a:spcBef>
            </a:pPr>
            <a:endParaRPr lang="en-US" sz="3000" b="1">
              <a:solidFill>
                <a:srgbClr val="3E3E3E"/>
              </a:solidFill>
              <a:latin typeface="Droid Arabic Naskh Bold"/>
              <a:ea typeface="Droid Arabic Naskh Bold"/>
              <a:cs typeface="Droid Arabic Naskh Bold"/>
              <a:sym typeface="Droid Arabic Naskh Bold"/>
            </a:endParaRPr>
          </a:p>
          <a:p>
            <a:pPr algn="l">
              <a:lnSpc>
                <a:spcPts val="3090"/>
              </a:lnSpc>
              <a:spcBef>
                <a:spcPct val="0"/>
              </a:spcBef>
            </a:pPr>
            <a:r>
              <a:rPr lang="en-US" sz="3000" b="1">
                <a:solidFill>
                  <a:srgbClr val="3E3E3E"/>
                </a:solidFill>
                <a:latin typeface="Droid Arabic Naskh Bold"/>
                <a:ea typeface="Droid Arabic Naskh Bold"/>
                <a:cs typeface="Droid Arabic Naskh Bold"/>
                <a:sym typeface="Droid Arabic Naskh Bold"/>
              </a:rPr>
              <a:t>TikTok: Short videos showcasing products in an interactive way.</a:t>
            </a:r>
          </a:p>
          <a:p>
            <a:pPr algn="l">
              <a:lnSpc>
                <a:spcPts val="3090"/>
              </a:lnSpc>
              <a:spcBef>
                <a:spcPct val="0"/>
              </a:spcBef>
            </a:pPr>
            <a:endParaRPr lang="en-US" sz="3000" b="1">
              <a:solidFill>
                <a:srgbClr val="3E3E3E"/>
              </a:solidFill>
              <a:latin typeface="Droid Arabic Naskh Bold"/>
              <a:ea typeface="Droid Arabic Naskh Bold"/>
              <a:cs typeface="Droid Arabic Naskh Bold"/>
              <a:sym typeface="Droid Arabic Naskh Bold"/>
            </a:endParaRPr>
          </a:p>
          <a:p>
            <a:pPr algn="l">
              <a:lnSpc>
                <a:spcPts val="3090"/>
              </a:lnSpc>
              <a:spcBef>
                <a:spcPct val="0"/>
              </a:spcBef>
            </a:pPr>
            <a:r>
              <a:rPr lang="en-US" sz="3000" b="1">
                <a:solidFill>
                  <a:srgbClr val="3E3E3E"/>
                </a:solidFill>
                <a:latin typeface="Droid Arabic Naskh Bold"/>
                <a:ea typeface="Droid Arabic Naskh Bold"/>
                <a:cs typeface="Droid Arabic Naskh Bold"/>
                <a:sym typeface="Droid Arabic Naskh Bold"/>
              </a:rPr>
              <a:t>WhatsApp Business: For direct communication and order placement.</a:t>
            </a:r>
          </a:p>
          <a:p>
            <a:pPr algn="l">
              <a:lnSpc>
                <a:spcPts val="3090"/>
              </a:lnSpc>
              <a:spcBef>
                <a:spcPct val="0"/>
              </a:spcBef>
            </a:pPr>
            <a:endParaRPr lang="en-US" sz="3000" b="1">
              <a:solidFill>
                <a:srgbClr val="3E3E3E"/>
              </a:solidFill>
              <a:latin typeface="Droid Arabic Naskh Bold"/>
              <a:ea typeface="Droid Arabic Naskh Bold"/>
              <a:cs typeface="Droid Arabic Naskh Bold"/>
              <a:sym typeface="Droid Arabic Naskh Bold"/>
            </a:endParaRPr>
          </a:p>
          <a:p>
            <a:pPr algn="l">
              <a:lnSpc>
                <a:spcPts val="3090"/>
              </a:lnSpc>
              <a:spcBef>
                <a:spcPct val="0"/>
              </a:spcBef>
            </a:pPr>
            <a:r>
              <a:rPr lang="en-US" sz="3000" b="1">
                <a:solidFill>
                  <a:srgbClr val="3E3E3E"/>
                </a:solidFill>
                <a:latin typeface="Droid Arabic Naskh Bold"/>
                <a:ea typeface="Droid Arabic Naskh Bold"/>
                <a:cs typeface="Droid Arabic Naskh Bold"/>
                <a:sym typeface="Droid Arabic Naskh Bold"/>
              </a:rPr>
              <a:t>Telegram: A dedicated group to display each product with its updated price.</a:t>
            </a:r>
          </a:p>
          <a:p>
            <a:pPr algn="l">
              <a:lnSpc>
                <a:spcPts val="3090"/>
              </a:lnSpc>
              <a:spcBef>
                <a:spcPct val="0"/>
              </a:spcBef>
            </a:pPr>
            <a:endParaRPr lang="en-US" sz="3000" b="1">
              <a:solidFill>
                <a:srgbClr val="3E3E3E"/>
              </a:solidFill>
              <a:latin typeface="Droid Arabic Naskh Bold"/>
              <a:ea typeface="Droid Arabic Naskh Bold"/>
              <a:cs typeface="Droid Arabic Naskh Bold"/>
              <a:sym typeface="Droid Arabic Naskh Bold"/>
            </a:endParaRPr>
          </a:p>
          <a:p>
            <a:pPr marL="0" lvl="0" indent="0" algn="l">
              <a:lnSpc>
                <a:spcPts val="3090"/>
              </a:lnSpc>
              <a:spcBef>
                <a:spcPct val="0"/>
              </a:spcBef>
            </a:pPr>
            <a:r>
              <a:rPr lang="en-US" sz="3000" b="1">
                <a:solidFill>
                  <a:srgbClr val="3E3E3E"/>
                </a:solidFill>
                <a:latin typeface="Droid Arabic Naskh Bold"/>
                <a:ea typeface="Droid Arabic Naskh Bold"/>
                <a:cs typeface="Droid Arabic Naskh Bold"/>
                <a:sym typeface="Droid Arabic Naskh Bold"/>
              </a:rPr>
              <a:t>Email: Sending exclusive offers and educational content to members.</a:t>
            </a:r>
          </a:p>
          <a:p>
            <a:pPr marL="0" lvl="0" indent="0" algn="l">
              <a:lnSpc>
                <a:spcPts val="3090"/>
              </a:lnSpc>
              <a:spcBef>
                <a:spcPct val="0"/>
              </a:spcBef>
            </a:pPr>
            <a:endParaRPr lang="en-US" sz="3000" b="1">
              <a:solidFill>
                <a:srgbClr val="3E3E3E"/>
              </a:solidFill>
              <a:latin typeface="Droid Arabic Naskh Bold"/>
              <a:ea typeface="Droid Arabic Naskh Bold"/>
              <a:cs typeface="Droid Arabic Naskh Bold"/>
              <a:sym typeface="Droid Arabic Naskh Bold"/>
            </a:endParaRPr>
          </a:p>
          <a:p>
            <a:pPr algn="l">
              <a:lnSpc>
                <a:spcPts val="3090"/>
              </a:lnSpc>
              <a:spcBef>
                <a:spcPct val="0"/>
              </a:spcBef>
            </a:pPr>
            <a:r>
              <a:rPr lang="en-US" sz="3000" b="1">
                <a:solidFill>
                  <a:srgbClr val="3E3E3E"/>
                </a:solidFill>
                <a:latin typeface="Droid Arabic Naskh Bold"/>
                <a:ea typeface="Droid Arabic Naskh Bold"/>
                <a:cs typeface="Droid Arabic Naskh Bold"/>
                <a:sym typeface="Droid Arabic Naskh Bold"/>
              </a:rPr>
              <a:t>Paid Advertising: Through Facebook and Instagram to target Banha residents based on their interests and purchasing behavior.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sp>
        <p:nvSpPr>
          <p:cNvPr id="3" name="Freeform 3"/>
          <p:cNvSpPr/>
          <p:nvPr/>
        </p:nvSpPr>
        <p:spPr>
          <a:xfrm>
            <a:off x="1827369" y="6777495"/>
            <a:ext cx="578420" cy="577696"/>
          </a:xfrm>
          <a:custGeom>
            <a:avLst/>
            <a:gdLst/>
            <a:ahLst/>
            <a:cxnLst/>
            <a:rect l="l" t="t" r="r" b="b"/>
            <a:pathLst>
              <a:path w="578420" h="577696">
                <a:moveTo>
                  <a:pt x="0" y="0"/>
                </a:moveTo>
                <a:lnTo>
                  <a:pt x="578420" y="0"/>
                </a:lnTo>
                <a:lnTo>
                  <a:pt x="578420" y="577696"/>
                </a:lnTo>
                <a:lnTo>
                  <a:pt x="0" y="577696"/>
                </a:lnTo>
                <a:lnTo>
                  <a:pt x="0" y="0"/>
                </a:lnTo>
                <a:close/>
              </a:path>
            </a:pathLst>
          </a:custGeom>
          <a:blipFill>
            <a:blip r:embed="rId3"/>
            <a:stretch>
              <a:fillRect/>
            </a:stretch>
          </a:blipFill>
          <a:ln cap="sq">
            <a:noFill/>
            <a:prstDash val="solid"/>
            <a:miter/>
          </a:ln>
        </p:spPr>
      </p:sp>
      <p:sp>
        <p:nvSpPr>
          <p:cNvPr id="4" name="Freeform 4"/>
          <p:cNvSpPr/>
          <p:nvPr/>
        </p:nvSpPr>
        <p:spPr>
          <a:xfrm>
            <a:off x="752022" y="-312123"/>
            <a:ext cx="899287" cy="898163"/>
          </a:xfrm>
          <a:custGeom>
            <a:avLst/>
            <a:gdLst/>
            <a:ahLst/>
            <a:cxnLst/>
            <a:rect l="l" t="t" r="r" b="b"/>
            <a:pathLst>
              <a:path w="899287" h="898163">
                <a:moveTo>
                  <a:pt x="0" y="0"/>
                </a:moveTo>
                <a:lnTo>
                  <a:pt x="899287" y="0"/>
                </a:lnTo>
                <a:lnTo>
                  <a:pt x="899287" y="898164"/>
                </a:lnTo>
                <a:lnTo>
                  <a:pt x="0" y="898164"/>
                </a:lnTo>
                <a:lnTo>
                  <a:pt x="0" y="0"/>
                </a:lnTo>
                <a:close/>
              </a:path>
            </a:pathLst>
          </a:custGeom>
          <a:blipFill>
            <a:blip r:embed="rId4"/>
            <a:stretch>
              <a:fillRect/>
            </a:stretch>
          </a:blipFill>
        </p:spPr>
      </p:sp>
      <p:sp>
        <p:nvSpPr>
          <p:cNvPr id="5" name="Freeform 5"/>
          <p:cNvSpPr/>
          <p:nvPr/>
        </p:nvSpPr>
        <p:spPr>
          <a:xfrm>
            <a:off x="16526172" y="-202297"/>
            <a:ext cx="991306" cy="990066"/>
          </a:xfrm>
          <a:custGeom>
            <a:avLst/>
            <a:gdLst/>
            <a:ahLst/>
            <a:cxnLst/>
            <a:rect l="l" t="t" r="r" b="b"/>
            <a:pathLst>
              <a:path w="991306" h="990066">
                <a:moveTo>
                  <a:pt x="0" y="0"/>
                </a:moveTo>
                <a:lnTo>
                  <a:pt x="991306" y="0"/>
                </a:lnTo>
                <a:lnTo>
                  <a:pt x="991306" y="990067"/>
                </a:lnTo>
                <a:lnTo>
                  <a:pt x="0" y="990067"/>
                </a:lnTo>
                <a:lnTo>
                  <a:pt x="0" y="0"/>
                </a:lnTo>
                <a:close/>
              </a:path>
            </a:pathLst>
          </a:custGeom>
          <a:blipFill>
            <a:blip r:embed="rId5"/>
            <a:stretch>
              <a:fillRect/>
            </a:stretch>
          </a:blipFill>
        </p:spPr>
      </p:sp>
      <p:sp>
        <p:nvSpPr>
          <p:cNvPr id="6" name="Freeform 6"/>
          <p:cNvSpPr/>
          <p:nvPr/>
        </p:nvSpPr>
        <p:spPr>
          <a:xfrm>
            <a:off x="-474058" y="8788060"/>
            <a:ext cx="1226080" cy="1224548"/>
          </a:xfrm>
          <a:custGeom>
            <a:avLst/>
            <a:gdLst/>
            <a:ahLst/>
            <a:cxnLst/>
            <a:rect l="l" t="t" r="r" b="b"/>
            <a:pathLst>
              <a:path w="1226080" h="1224548">
                <a:moveTo>
                  <a:pt x="0" y="0"/>
                </a:moveTo>
                <a:lnTo>
                  <a:pt x="1226080" y="0"/>
                </a:lnTo>
                <a:lnTo>
                  <a:pt x="1226080" y="1224548"/>
                </a:lnTo>
                <a:lnTo>
                  <a:pt x="0" y="1224548"/>
                </a:lnTo>
                <a:lnTo>
                  <a:pt x="0" y="0"/>
                </a:lnTo>
                <a:close/>
              </a:path>
            </a:pathLst>
          </a:custGeom>
          <a:blipFill>
            <a:blip r:embed="rId5"/>
            <a:stretch>
              <a:fillRect/>
            </a:stretch>
          </a:blipFill>
        </p:spPr>
      </p:sp>
      <p:sp>
        <p:nvSpPr>
          <p:cNvPr id="7" name="Freeform 7"/>
          <p:cNvSpPr/>
          <p:nvPr/>
        </p:nvSpPr>
        <p:spPr>
          <a:xfrm>
            <a:off x="16945533" y="9833230"/>
            <a:ext cx="1484819" cy="1482963"/>
          </a:xfrm>
          <a:custGeom>
            <a:avLst/>
            <a:gdLst/>
            <a:ahLst/>
            <a:cxnLst/>
            <a:rect l="l" t="t" r="r" b="b"/>
            <a:pathLst>
              <a:path w="1484819" h="1482963">
                <a:moveTo>
                  <a:pt x="0" y="0"/>
                </a:moveTo>
                <a:lnTo>
                  <a:pt x="1484819" y="0"/>
                </a:lnTo>
                <a:lnTo>
                  <a:pt x="1484819" y="1482963"/>
                </a:lnTo>
                <a:lnTo>
                  <a:pt x="0" y="1482963"/>
                </a:lnTo>
                <a:lnTo>
                  <a:pt x="0" y="0"/>
                </a:lnTo>
                <a:close/>
              </a:path>
            </a:pathLst>
          </a:custGeom>
          <a:blipFill>
            <a:blip r:embed="rId6"/>
            <a:stretch>
              <a:fillRect/>
            </a:stretch>
          </a:blipFill>
          <a:ln cap="sq">
            <a:noFill/>
            <a:prstDash val="solid"/>
            <a:miter/>
          </a:ln>
        </p:spPr>
      </p:sp>
      <p:sp>
        <p:nvSpPr>
          <p:cNvPr id="8" name="Freeform 8"/>
          <p:cNvSpPr/>
          <p:nvPr/>
        </p:nvSpPr>
        <p:spPr>
          <a:xfrm>
            <a:off x="427079" y="3290011"/>
            <a:ext cx="601621" cy="600869"/>
          </a:xfrm>
          <a:custGeom>
            <a:avLst/>
            <a:gdLst/>
            <a:ahLst/>
            <a:cxnLst/>
            <a:rect l="l" t="t" r="r" b="b"/>
            <a:pathLst>
              <a:path w="601621" h="600869">
                <a:moveTo>
                  <a:pt x="0" y="0"/>
                </a:moveTo>
                <a:lnTo>
                  <a:pt x="601621" y="0"/>
                </a:lnTo>
                <a:lnTo>
                  <a:pt x="601621" y="600869"/>
                </a:lnTo>
                <a:lnTo>
                  <a:pt x="0" y="600869"/>
                </a:lnTo>
                <a:lnTo>
                  <a:pt x="0" y="0"/>
                </a:lnTo>
                <a:close/>
              </a:path>
            </a:pathLst>
          </a:custGeom>
          <a:blipFill>
            <a:blip r:embed="rId6"/>
            <a:stretch>
              <a:fillRect/>
            </a:stretch>
          </a:blipFill>
          <a:ln cap="sq">
            <a:noFill/>
            <a:prstDash val="solid"/>
            <a:miter/>
          </a:ln>
        </p:spPr>
      </p:sp>
      <p:graphicFrame>
        <p:nvGraphicFramePr>
          <p:cNvPr id="9" name="Object 9"/>
          <p:cNvGraphicFramePr/>
          <p:nvPr/>
        </p:nvGraphicFramePr>
        <p:xfrm>
          <a:off x="2687972" y="586041"/>
          <a:ext cx="7543800" cy="3771900"/>
        </p:xfrm>
        <a:graphic>
          <a:graphicData uri="http://schemas.openxmlformats.org/presentationml/2006/ole">
            <mc:AlternateContent xmlns:mc="http://schemas.openxmlformats.org/markup-compatibility/2006">
              <mc:Choice xmlns:v="urn:schemas-microsoft-com:vml" Requires="v">
                <p:oleObj name="Worksheet" r:id="rId7" imgW="9042400" imgH="5270500" progId="Excel.Sheet.12">
                  <p:embed/>
                </p:oleObj>
              </mc:Choice>
              <mc:Fallback>
                <p:oleObj name="Worksheet" r:id="rId7" imgW="9042400" imgH="5270500" progId="Excel.Sheet.12">
                  <p:embed/>
                  <p:pic>
                    <p:nvPicPr>
                      <p:cNvPr id="9" name="Object 9"/>
                      <p:cNvPicPr/>
                      <p:nvPr/>
                    </p:nvPicPr>
                    <p:blipFill>
                      <a:blip r:embed="rId8"/>
                      <a:stretch>
                        <a:fillRect/>
                      </a:stretch>
                    </p:blipFill>
                    <p:spPr>
                      <a:xfrm>
                        <a:off x="2687972" y="586041"/>
                        <a:ext cx="7543800" cy="3771900"/>
                      </a:xfrm>
                      <a:prstGeom prst="rect">
                        <a:avLst/>
                      </a:prstGeom>
                    </p:spPr>
                  </p:pic>
                </p:oleObj>
              </mc:Fallback>
            </mc:AlternateContent>
          </a:graphicData>
        </a:graphic>
      </p:graphicFrame>
      <p:graphicFrame>
        <p:nvGraphicFramePr>
          <p:cNvPr id="10" name="Object 10"/>
          <p:cNvGraphicFramePr/>
          <p:nvPr/>
        </p:nvGraphicFramePr>
        <p:xfrm>
          <a:off x="2687972" y="5628434"/>
          <a:ext cx="5657850" cy="3771900"/>
        </p:xfrm>
        <a:graphic>
          <a:graphicData uri="http://schemas.openxmlformats.org/presentationml/2006/ole">
            <mc:AlternateContent xmlns:mc="http://schemas.openxmlformats.org/markup-compatibility/2006">
              <mc:Choice xmlns:v="urn:schemas-microsoft-com:vml" Requires="v">
                <p:oleObj name="Worksheet" r:id="rId9" imgW="6781800" imgH="4902200" progId="Excel.Sheet.12">
                  <p:embed/>
                </p:oleObj>
              </mc:Choice>
              <mc:Fallback>
                <p:oleObj name="Worksheet" r:id="rId9" imgW="6781800" imgH="4902200" progId="Excel.Sheet.12">
                  <p:embed/>
                  <p:pic>
                    <p:nvPicPr>
                      <p:cNvPr id="10" name="Object 10"/>
                      <p:cNvPicPr/>
                      <p:nvPr/>
                    </p:nvPicPr>
                    <p:blipFill>
                      <a:blip r:embed="rId10"/>
                      <a:stretch>
                        <a:fillRect/>
                      </a:stretch>
                    </p:blipFill>
                    <p:spPr>
                      <a:xfrm>
                        <a:off x="2687972" y="5628434"/>
                        <a:ext cx="5657850" cy="3771900"/>
                      </a:xfrm>
                      <a:prstGeom prst="rect">
                        <a:avLst/>
                      </a:prstGeom>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0F0"/>
        </a:solidFill>
        <a:effectLst/>
      </p:bgPr>
    </p:bg>
    <p:spTree>
      <p:nvGrpSpPr>
        <p:cNvPr id="1" name=""/>
        <p:cNvGrpSpPr/>
        <p:nvPr/>
      </p:nvGrpSpPr>
      <p:grpSpPr>
        <a:xfrm>
          <a:off x="0" y="0"/>
          <a:ext cx="0" cy="0"/>
          <a:chOff x="0" y="0"/>
          <a:chExt cx="0" cy="0"/>
        </a:xfrm>
      </p:grpSpPr>
      <p:sp>
        <p:nvSpPr>
          <p:cNvPr id="2" name="Freeform 2"/>
          <p:cNvSpPr/>
          <p:nvPr/>
        </p:nvSpPr>
        <p:spPr>
          <a:xfrm>
            <a:off x="-170936" y="0"/>
            <a:ext cx="2399272" cy="2372280"/>
          </a:xfrm>
          <a:custGeom>
            <a:avLst/>
            <a:gdLst/>
            <a:ahLst/>
            <a:cxnLst/>
            <a:rect l="l" t="t" r="r" b="b"/>
            <a:pathLst>
              <a:path w="2399272" h="2372280">
                <a:moveTo>
                  <a:pt x="0" y="0"/>
                </a:moveTo>
                <a:lnTo>
                  <a:pt x="2399272" y="0"/>
                </a:lnTo>
                <a:lnTo>
                  <a:pt x="2399272" y="2372280"/>
                </a:lnTo>
                <a:lnTo>
                  <a:pt x="0" y="2372280"/>
                </a:lnTo>
                <a:lnTo>
                  <a:pt x="0" y="0"/>
                </a:lnTo>
                <a:close/>
              </a:path>
            </a:pathLst>
          </a:custGeom>
          <a:blipFill>
            <a:blip r:embed="rId2"/>
            <a:stretch>
              <a:fillRect/>
            </a:stretch>
          </a:blipFill>
          <a:ln cap="sq">
            <a:noFill/>
            <a:prstDash val="solid"/>
            <a:miter/>
          </a:ln>
        </p:spPr>
      </p:sp>
      <p:sp>
        <p:nvSpPr>
          <p:cNvPr id="3" name="Freeform 3"/>
          <p:cNvSpPr/>
          <p:nvPr/>
        </p:nvSpPr>
        <p:spPr>
          <a:xfrm>
            <a:off x="17259300" y="9669530"/>
            <a:ext cx="243043" cy="242739"/>
          </a:xfrm>
          <a:custGeom>
            <a:avLst/>
            <a:gdLst/>
            <a:ahLst/>
            <a:cxnLst/>
            <a:rect l="l" t="t" r="r" b="b"/>
            <a:pathLst>
              <a:path w="243043" h="242739">
                <a:moveTo>
                  <a:pt x="0" y="0"/>
                </a:moveTo>
                <a:lnTo>
                  <a:pt x="243043" y="0"/>
                </a:lnTo>
                <a:lnTo>
                  <a:pt x="243043" y="242738"/>
                </a:lnTo>
                <a:lnTo>
                  <a:pt x="0" y="242738"/>
                </a:lnTo>
                <a:lnTo>
                  <a:pt x="0" y="0"/>
                </a:lnTo>
                <a:close/>
              </a:path>
            </a:pathLst>
          </a:custGeom>
          <a:blipFill>
            <a:blip r:embed="rId3"/>
            <a:stretch>
              <a:fillRect/>
            </a:stretch>
          </a:blipFill>
        </p:spPr>
      </p:sp>
      <p:sp>
        <p:nvSpPr>
          <p:cNvPr id="4" name="Freeform 4"/>
          <p:cNvSpPr/>
          <p:nvPr/>
        </p:nvSpPr>
        <p:spPr>
          <a:xfrm>
            <a:off x="17727552" y="397817"/>
            <a:ext cx="214533" cy="214265"/>
          </a:xfrm>
          <a:custGeom>
            <a:avLst/>
            <a:gdLst/>
            <a:ahLst/>
            <a:cxnLst/>
            <a:rect l="l" t="t" r="r" b="b"/>
            <a:pathLst>
              <a:path w="214533" h="214265">
                <a:moveTo>
                  <a:pt x="0" y="0"/>
                </a:moveTo>
                <a:lnTo>
                  <a:pt x="214533" y="0"/>
                </a:lnTo>
                <a:lnTo>
                  <a:pt x="214533" y="214265"/>
                </a:lnTo>
                <a:lnTo>
                  <a:pt x="0" y="214265"/>
                </a:lnTo>
                <a:lnTo>
                  <a:pt x="0" y="0"/>
                </a:lnTo>
                <a:close/>
              </a:path>
            </a:pathLst>
          </a:custGeom>
          <a:blipFill>
            <a:blip r:embed="rId4"/>
            <a:stretch>
              <a:fillRect/>
            </a:stretch>
          </a:blipFill>
          <a:ln cap="sq">
            <a:noFill/>
            <a:prstDash val="solid"/>
            <a:miter/>
          </a:ln>
        </p:spPr>
      </p:sp>
      <p:sp>
        <p:nvSpPr>
          <p:cNvPr id="5" name="Freeform 5"/>
          <p:cNvSpPr/>
          <p:nvPr/>
        </p:nvSpPr>
        <p:spPr>
          <a:xfrm>
            <a:off x="531615" y="3688020"/>
            <a:ext cx="301200" cy="300824"/>
          </a:xfrm>
          <a:custGeom>
            <a:avLst/>
            <a:gdLst/>
            <a:ahLst/>
            <a:cxnLst/>
            <a:rect l="l" t="t" r="r" b="b"/>
            <a:pathLst>
              <a:path w="301200" h="300824">
                <a:moveTo>
                  <a:pt x="0" y="0"/>
                </a:moveTo>
                <a:lnTo>
                  <a:pt x="301200" y="0"/>
                </a:lnTo>
                <a:lnTo>
                  <a:pt x="301200" y="300823"/>
                </a:lnTo>
                <a:lnTo>
                  <a:pt x="0" y="300823"/>
                </a:lnTo>
                <a:lnTo>
                  <a:pt x="0" y="0"/>
                </a:lnTo>
                <a:close/>
              </a:path>
            </a:pathLst>
          </a:custGeom>
          <a:blipFill>
            <a:blip r:embed="rId5"/>
            <a:stretch>
              <a:fillRect/>
            </a:stretch>
          </a:blipFill>
        </p:spPr>
      </p:sp>
      <p:sp>
        <p:nvSpPr>
          <p:cNvPr id="6" name="TextBox 6"/>
          <p:cNvSpPr txBox="1"/>
          <p:nvPr/>
        </p:nvSpPr>
        <p:spPr>
          <a:xfrm>
            <a:off x="2438698" y="-95250"/>
            <a:ext cx="15849302" cy="11740988"/>
          </a:xfrm>
          <a:prstGeom prst="rect">
            <a:avLst/>
          </a:prstGeom>
        </p:spPr>
        <p:txBody>
          <a:bodyPr lIns="0" tIns="0" rIns="0" bIns="0" rtlCol="0" anchor="t">
            <a:spAutoFit/>
          </a:bodyPr>
          <a:lstStyle/>
          <a:p>
            <a:pPr algn="ctr">
              <a:lnSpc>
                <a:spcPts val="6999"/>
              </a:lnSpc>
            </a:pPr>
            <a:r>
              <a:rPr lang="en-US" sz="4999" b="1">
                <a:solidFill>
                  <a:srgbClr val="3E3E3E"/>
                </a:solidFill>
                <a:latin typeface="Droid Arabic Kufi Bold"/>
                <a:ea typeface="Droid Arabic Kufi Bold"/>
                <a:cs typeface="Droid Arabic Kufi Bold"/>
                <a:sym typeface="Droid Arabic Kufi Bold"/>
              </a:rPr>
              <a:t>Situational Analysis</a:t>
            </a:r>
          </a:p>
          <a:p>
            <a:pPr algn="ctr">
              <a:lnSpc>
                <a:spcPts val="5599"/>
              </a:lnSpc>
            </a:pPr>
            <a:r>
              <a:rPr lang="en-US" sz="3999" b="1">
                <a:solidFill>
                  <a:srgbClr val="3E3E3E"/>
                </a:solidFill>
                <a:latin typeface="Droid Arabic Naskh Bold"/>
                <a:ea typeface="Droid Arabic Naskh Bold"/>
                <a:cs typeface="Droid Arabic Naskh Bold"/>
                <a:sym typeface="Droid Arabic Naskh Bold"/>
              </a:rPr>
              <a:t>Overview:</a:t>
            </a:r>
          </a:p>
          <a:p>
            <a:pPr algn="ctr">
              <a:lnSpc>
                <a:spcPts val="4339"/>
              </a:lnSpc>
            </a:pPr>
            <a:r>
              <a:rPr lang="en-US" sz="3099" b="1">
                <a:solidFill>
                  <a:srgbClr val="3E3E3E"/>
                </a:solidFill>
                <a:latin typeface="Droid Arabic Naskh Bold"/>
                <a:ea typeface="Droid Arabic Naskh Bold"/>
                <a:cs typeface="Droid Arabic Naskh Bold"/>
                <a:sym typeface="Droid Arabic Naskh Bold"/>
              </a:rPr>
              <a:t>Tayba Store is a local store in Banha specializing in beauty, baby care, and household cleaning products. The store operates under the "One-Stop Family Shop" concept, bringing together all the family's needs in one place.</a:t>
            </a:r>
          </a:p>
          <a:p>
            <a:pPr algn="ctr">
              <a:lnSpc>
                <a:spcPts val="5599"/>
              </a:lnSpc>
            </a:pPr>
            <a:r>
              <a:rPr lang="en-US" sz="3999" b="1">
                <a:solidFill>
                  <a:srgbClr val="3E3E3E"/>
                </a:solidFill>
                <a:latin typeface="Droid Arabic Naskh Bold"/>
                <a:ea typeface="Droid Arabic Naskh Bold"/>
                <a:cs typeface="Droid Arabic Naskh Bold"/>
                <a:sym typeface="Droid Arabic Naskh Bold"/>
              </a:rPr>
              <a:t>Strengths:</a:t>
            </a:r>
          </a:p>
          <a:p>
            <a:pPr algn="ctr">
              <a:lnSpc>
                <a:spcPts val="3919"/>
              </a:lnSpc>
            </a:pPr>
            <a:r>
              <a:rPr lang="en-US" sz="2799" b="1">
                <a:solidFill>
                  <a:srgbClr val="3E3E3E"/>
                </a:solidFill>
                <a:latin typeface="Droid Arabic Naskh Bold"/>
                <a:ea typeface="Droid Arabic Naskh Bold"/>
                <a:cs typeface="Droid Arabic Naskh Bold"/>
                <a:sym typeface="Droid Arabic Naskh Bold"/>
              </a:rPr>
              <a:t>Diverse product categories in one store.</a:t>
            </a:r>
          </a:p>
          <a:p>
            <a:pPr algn="ctr">
              <a:lnSpc>
                <a:spcPts val="3919"/>
              </a:lnSpc>
            </a:pPr>
            <a:r>
              <a:rPr lang="en-US" sz="2799" b="1">
                <a:solidFill>
                  <a:srgbClr val="3E3E3E"/>
                </a:solidFill>
                <a:latin typeface="Droid Arabic Naskh Bold"/>
                <a:ea typeface="Droid Arabic Naskh Bold"/>
                <a:cs typeface="Droid Arabic Naskh Bold"/>
                <a:sym typeface="Droid Arabic Naskh Bold"/>
              </a:rPr>
              <a:t>Growing trust from local customers in product quality.</a:t>
            </a:r>
          </a:p>
          <a:p>
            <a:pPr algn="ctr">
              <a:lnSpc>
                <a:spcPts val="5599"/>
              </a:lnSpc>
            </a:pPr>
            <a:r>
              <a:rPr lang="en-US" sz="3999" b="1">
                <a:solidFill>
                  <a:srgbClr val="3E3E3E"/>
                </a:solidFill>
                <a:latin typeface="Droid Arabic Naskh Bold"/>
                <a:ea typeface="Droid Arabic Naskh Bold"/>
                <a:cs typeface="Droid Arabic Naskh Bold"/>
                <a:sym typeface="Droid Arabic Naskh Bold"/>
              </a:rPr>
              <a:t>Weaknesses:</a:t>
            </a:r>
          </a:p>
          <a:p>
            <a:pPr algn="ctr">
              <a:lnSpc>
                <a:spcPts val="3919"/>
              </a:lnSpc>
            </a:pPr>
            <a:r>
              <a:rPr lang="en-US" sz="2799" b="1">
                <a:solidFill>
                  <a:srgbClr val="3E3E3E"/>
                </a:solidFill>
                <a:latin typeface="Droid Arabic Naskh Bold"/>
                <a:ea typeface="Droid Arabic Naskh Bold"/>
                <a:cs typeface="Droid Arabic Naskh Bold"/>
                <a:sym typeface="Droid Arabic Naskh Bold"/>
              </a:rPr>
              <a:t>Limited brand awareness outside Banha.</a:t>
            </a:r>
          </a:p>
          <a:p>
            <a:pPr algn="ctr">
              <a:lnSpc>
                <a:spcPts val="3919"/>
              </a:lnSpc>
            </a:pPr>
            <a:r>
              <a:rPr lang="en-US" sz="2799" b="1">
                <a:solidFill>
                  <a:srgbClr val="3E3E3E"/>
                </a:solidFill>
                <a:latin typeface="Droid Arabic Naskh Bold"/>
                <a:ea typeface="Droid Arabic Naskh Bold"/>
                <a:cs typeface="Droid Arabic Naskh Bold"/>
                <a:sym typeface="Droid Arabic Naskh Bold"/>
              </a:rPr>
              <a:t>Heavy reliance on organic marketing only.</a:t>
            </a:r>
          </a:p>
          <a:p>
            <a:pPr algn="ctr">
              <a:lnSpc>
                <a:spcPts val="5599"/>
              </a:lnSpc>
            </a:pPr>
            <a:r>
              <a:rPr lang="en-US" sz="3999" b="1">
                <a:solidFill>
                  <a:srgbClr val="3E3E3E"/>
                </a:solidFill>
                <a:latin typeface="Droid Arabic Naskh Bold"/>
                <a:ea typeface="Droid Arabic Naskh Bold"/>
                <a:cs typeface="Droid Arabic Naskh Bold"/>
                <a:sym typeface="Droid Arabic Naskh Bold"/>
              </a:rPr>
              <a:t>Opportunities:</a:t>
            </a:r>
          </a:p>
          <a:p>
            <a:pPr algn="ctr">
              <a:lnSpc>
                <a:spcPts val="3919"/>
              </a:lnSpc>
            </a:pPr>
            <a:r>
              <a:rPr lang="en-US" sz="2799" b="1">
                <a:solidFill>
                  <a:srgbClr val="3E3E3E"/>
                </a:solidFill>
                <a:latin typeface="Droid Arabic Naskh Bold"/>
                <a:ea typeface="Droid Arabic Naskh Bold"/>
                <a:cs typeface="Droid Arabic Naskh Bold"/>
                <a:sym typeface="Droid Arabic Naskh Bold"/>
              </a:rPr>
              <a:t>Strong social media presence among Banha residents (Facebook, Instagram, TikTok).</a:t>
            </a:r>
          </a:p>
          <a:p>
            <a:pPr algn="ctr">
              <a:lnSpc>
                <a:spcPts val="3919"/>
              </a:lnSpc>
            </a:pPr>
            <a:r>
              <a:rPr lang="en-US" sz="2799" b="1">
                <a:solidFill>
                  <a:srgbClr val="3E3E3E"/>
                </a:solidFill>
                <a:latin typeface="Droid Arabic Naskh Bold"/>
                <a:ea typeface="Droid Arabic Naskh Bold"/>
                <a:cs typeface="Droid Arabic Naskh Bold"/>
                <a:sym typeface="Droid Arabic Naskh Bold"/>
              </a:rPr>
              <a:t>Potential to attract new customers through targeted digital marketing and paid advertising.</a:t>
            </a:r>
          </a:p>
          <a:p>
            <a:pPr algn="ctr">
              <a:lnSpc>
                <a:spcPts val="5599"/>
              </a:lnSpc>
            </a:pPr>
            <a:r>
              <a:rPr lang="en-US" sz="3999" b="1">
                <a:solidFill>
                  <a:srgbClr val="3E3E3E"/>
                </a:solidFill>
                <a:latin typeface="Droid Arabic Naskh Bold"/>
                <a:ea typeface="Droid Arabic Naskh Bold"/>
                <a:cs typeface="Droid Arabic Naskh Bold"/>
                <a:sym typeface="Droid Arabic Naskh Bold"/>
              </a:rPr>
              <a:t>Threats:</a:t>
            </a:r>
          </a:p>
          <a:p>
            <a:pPr algn="ctr">
              <a:lnSpc>
                <a:spcPts val="3919"/>
              </a:lnSpc>
            </a:pPr>
            <a:r>
              <a:rPr lang="en-US" sz="2799" b="1">
                <a:solidFill>
                  <a:srgbClr val="3E3E3E"/>
                </a:solidFill>
                <a:latin typeface="Droid Arabic Naskh Bold"/>
                <a:ea typeface="Droid Arabic Naskh Bold"/>
                <a:cs typeface="Droid Arabic Naskh Bold"/>
                <a:sym typeface="Droid Arabic Naskh Bold"/>
              </a:rPr>
              <a:t>Competition from large and specialized online stores.</a:t>
            </a:r>
          </a:p>
          <a:p>
            <a:pPr marL="0" lvl="0" indent="0" algn="ctr">
              <a:lnSpc>
                <a:spcPts val="4059"/>
              </a:lnSpc>
              <a:spcBef>
                <a:spcPct val="0"/>
              </a:spcBef>
            </a:pPr>
            <a:r>
              <a:rPr lang="en-US" sz="2899" b="1">
                <a:solidFill>
                  <a:srgbClr val="3E3E3E"/>
                </a:solidFill>
                <a:latin typeface="Droid Arabic Naskh Bold"/>
                <a:ea typeface="Droid Arabic Naskh Bold"/>
                <a:cs typeface="Droid Arabic Naskh Bold"/>
                <a:sym typeface="Droid Arabic Naskh Bold"/>
              </a:rPr>
              <a:t>Changing consumer behavior towards app-based shopping.</a:t>
            </a:r>
          </a:p>
          <a:p>
            <a:pPr algn="ctr">
              <a:lnSpc>
                <a:spcPts val="4918"/>
              </a:lnSpc>
              <a:spcBef>
                <a:spcPct val="0"/>
              </a:spcBef>
            </a:pPr>
            <a:endParaRPr lang="en-US" sz="2899" b="1">
              <a:solidFill>
                <a:srgbClr val="3E3E3E"/>
              </a:solidFill>
              <a:latin typeface="Droid Arabic Naskh Bold"/>
              <a:ea typeface="Droid Arabic Naskh Bold"/>
              <a:cs typeface="Droid Arabic Naskh Bold"/>
              <a:sym typeface="Droid Arabic Naskh Bold"/>
            </a:endParaRPr>
          </a:p>
          <a:p>
            <a:pPr marL="0" lvl="0" indent="0" algn="ctr">
              <a:lnSpc>
                <a:spcPts val="4918"/>
              </a:lnSpc>
              <a:spcBef>
                <a:spcPct val="0"/>
              </a:spcBef>
            </a:pPr>
            <a:endParaRPr lang="en-US" sz="2899" b="1">
              <a:solidFill>
                <a:srgbClr val="3E3E3E"/>
              </a:solidFill>
              <a:latin typeface="Droid Arabic Naskh Bold"/>
              <a:ea typeface="Droid Arabic Naskh Bold"/>
              <a:cs typeface="Droid Arabic Naskh Bold"/>
              <a:sym typeface="Droid Arabic Naskh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sp>
        <p:nvSpPr>
          <p:cNvPr id="3" name="Freeform 3"/>
          <p:cNvSpPr/>
          <p:nvPr/>
        </p:nvSpPr>
        <p:spPr>
          <a:xfrm rot="4958177">
            <a:off x="415519" y="-2438663"/>
            <a:ext cx="17015618" cy="17624463"/>
          </a:xfrm>
          <a:custGeom>
            <a:avLst/>
            <a:gdLst/>
            <a:ahLst/>
            <a:cxnLst/>
            <a:rect l="l" t="t" r="r" b="b"/>
            <a:pathLst>
              <a:path w="17015618" h="17624463">
                <a:moveTo>
                  <a:pt x="0" y="0"/>
                </a:moveTo>
                <a:lnTo>
                  <a:pt x="17015618" y="0"/>
                </a:lnTo>
                <a:lnTo>
                  <a:pt x="17015618" y="17624463"/>
                </a:lnTo>
                <a:lnTo>
                  <a:pt x="0" y="17624463"/>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1373827" y="7751867"/>
            <a:ext cx="4805055" cy="4763010"/>
          </a:xfrm>
          <a:custGeom>
            <a:avLst/>
            <a:gdLst/>
            <a:ahLst/>
            <a:cxnLst/>
            <a:rect l="l" t="t" r="r" b="b"/>
            <a:pathLst>
              <a:path w="4805055" h="4763010">
                <a:moveTo>
                  <a:pt x="0" y="0"/>
                </a:moveTo>
                <a:lnTo>
                  <a:pt x="4805054" y="0"/>
                </a:lnTo>
                <a:lnTo>
                  <a:pt x="4805054" y="4763010"/>
                </a:lnTo>
                <a:lnTo>
                  <a:pt x="0" y="4763010"/>
                </a:lnTo>
                <a:lnTo>
                  <a:pt x="0" y="0"/>
                </a:lnTo>
                <a:close/>
              </a:path>
            </a:pathLst>
          </a:custGeom>
          <a:blipFill>
            <a:blip r:embed="rId5"/>
            <a:stretch>
              <a:fillRect/>
            </a:stretch>
          </a:blipFill>
        </p:spPr>
      </p:sp>
      <p:grpSp>
        <p:nvGrpSpPr>
          <p:cNvPr id="5" name="Group 5"/>
          <p:cNvGrpSpPr/>
          <p:nvPr/>
        </p:nvGrpSpPr>
        <p:grpSpPr>
          <a:xfrm>
            <a:off x="15753749" y="-1162134"/>
            <a:ext cx="3463137" cy="3421713"/>
            <a:chOff x="0" y="0"/>
            <a:chExt cx="4617516" cy="4562283"/>
          </a:xfrm>
        </p:grpSpPr>
        <p:sp>
          <p:nvSpPr>
            <p:cNvPr id="6" name="Freeform 6"/>
            <p:cNvSpPr/>
            <p:nvPr/>
          </p:nvSpPr>
          <p:spPr>
            <a:xfrm rot="771167">
              <a:off x="2529647" y="183412"/>
              <a:ext cx="1881696" cy="2065623"/>
            </a:xfrm>
            <a:custGeom>
              <a:avLst/>
              <a:gdLst/>
              <a:ahLst/>
              <a:cxnLst/>
              <a:rect l="l" t="t" r="r" b="b"/>
              <a:pathLst>
                <a:path w="1881696" h="2065623">
                  <a:moveTo>
                    <a:pt x="0" y="0"/>
                  </a:moveTo>
                  <a:lnTo>
                    <a:pt x="1881696" y="0"/>
                  </a:lnTo>
                  <a:lnTo>
                    <a:pt x="1881696" y="2065622"/>
                  </a:lnTo>
                  <a:lnTo>
                    <a:pt x="0" y="2065622"/>
                  </a:lnTo>
                  <a:lnTo>
                    <a:pt x="0" y="0"/>
                  </a:lnTo>
                  <a:close/>
                </a:path>
              </a:pathLst>
            </a:custGeom>
            <a:blipFill>
              <a:blip r:embed="rId6"/>
              <a:stretch>
                <a:fillRect l="-530034" t="-133257" b="-374081"/>
              </a:stretch>
            </a:blipFill>
            <a:ln cap="sq">
              <a:noFill/>
              <a:prstDash val="solid"/>
              <a:miter/>
            </a:ln>
          </p:spPr>
        </p:sp>
        <p:sp>
          <p:nvSpPr>
            <p:cNvPr id="7" name="Freeform 7"/>
            <p:cNvSpPr/>
            <p:nvPr/>
          </p:nvSpPr>
          <p:spPr>
            <a:xfrm>
              <a:off x="0" y="1696388"/>
              <a:ext cx="1611379" cy="1624768"/>
            </a:xfrm>
            <a:custGeom>
              <a:avLst/>
              <a:gdLst/>
              <a:ahLst/>
              <a:cxnLst/>
              <a:rect l="l" t="t" r="r" b="b"/>
              <a:pathLst>
                <a:path w="1611379" h="1624768">
                  <a:moveTo>
                    <a:pt x="0" y="0"/>
                  </a:moveTo>
                  <a:lnTo>
                    <a:pt x="1611379" y="0"/>
                  </a:lnTo>
                  <a:lnTo>
                    <a:pt x="1611379" y="1624768"/>
                  </a:lnTo>
                  <a:lnTo>
                    <a:pt x="0" y="1624768"/>
                  </a:lnTo>
                  <a:lnTo>
                    <a:pt x="0" y="0"/>
                  </a:lnTo>
                  <a:close/>
                </a:path>
              </a:pathLst>
            </a:custGeom>
            <a:blipFill>
              <a:blip r:embed="rId7"/>
              <a:stretch>
                <a:fillRect t="-137512" r="-583867" b="-480192"/>
              </a:stretch>
            </a:blipFill>
          </p:spPr>
        </p:sp>
        <p:sp>
          <p:nvSpPr>
            <p:cNvPr id="8" name="Freeform 8"/>
            <p:cNvSpPr/>
            <p:nvPr/>
          </p:nvSpPr>
          <p:spPr>
            <a:xfrm>
              <a:off x="2859982" y="4289633"/>
              <a:ext cx="272992" cy="272651"/>
            </a:xfrm>
            <a:custGeom>
              <a:avLst/>
              <a:gdLst/>
              <a:ahLst/>
              <a:cxnLst/>
              <a:rect l="l" t="t" r="r" b="b"/>
              <a:pathLst>
                <a:path w="272992" h="272651">
                  <a:moveTo>
                    <a:pt x="0" y="0"/>
                  </a:moveTo>
                  <a:lnTo>
                    <a:pt x="272993" y="0"/>
                  </a:lnTo>
                  <a:lnTo>
                    <a:pt x="272993" y="272650"/>
                  </a:lnTo>
                  <a:lnTo>
                    <a:pt x="0" y="272650"/>
                  </a:lnTo>
                  <a:lnTo>
                    <a:pt x="0" y="0"/>
                  </a:lnTo>
                  <a:close/>
                </a:path>
              </a:pathLst>
            </a:custGeom>
            <a:blipFill>
              <a:blip r:embed="rId8"/>
              <a:stretch>
                <a:fillRect/>
              </a:stretch>
            </a:blipFill>
          </p:spPr>
        </p:sp>
        <p:sp>
          <p:nvSpPr>
            <p:cNvPr id="9" name="Freeform 9"/>
            <p:cNvSpPr/>
            <p:nvPr/>
          </p:nvSpPr>
          <p:spPr>
            <a:xfrm>
              <a:off x="1860687" y="2682756"/>
              <a:ext cx="279945" cy="279596"/>
            </a:xfrm>
            <a:custGeom>
              <a:avLst/>
              <a:gdLst/>
              <a:ahLst/>
              <a:cxnLst/>
              <a:rect l="l" t="t" r="r" b="b"/>
              <a:pathLst>
                <a:path w="279945" h="279596">
                  <a:moveTo>
                    <a:pt x="0" y="0"/>
                  </a:moveTo>
                  <a:lnTo>
                    <a:pt x="279945" y="0"/>
                  </a:lnTo>
                  <a:lnTo>
                    <a:pt x="279945" y="279596"/>
                  </a:lnTo>
                  <a:lnTo>
                    <a:pt x="0" y="279596"/>
                  </a:lnTo>
                  <a:lnTo>
                    <a:pt x="0" y="0"/>
                  </a:lnTo>
                  <a:close/>
                </a:path>
              </a:pathLst>
            </a:custGeom>
            <a:blipFill>
              <a:blip r:embed="rId9"/>
              <a:stretch>
                <a:fillRect/>
              </a:stretch>
            </a:blipFill>
            <a:ln cap="sq">
              <a:noFill/>
              <a:prstDash val="solid"/>
              <a:miter/>
            </a:ln>
          </p:spPr>
        </p:sp>
        <p:sp>
          <p:nvSpPr>
            <p:cNvPr id="10" name="Freeform 10"/>
            <p:cNvSpPr/>
            <p:nvPr/>
          </p:nvSpPr>
          <p:spPr>
            <a:xfrm>
              <a:off x="1392752" y="834357"/>
              <a:ext cx="405747" cy="405240"/>
            </a:xfrm>
            <a:custGeom>
              <a:avLst/>
              <a:gdLst/>
              <a:ahLst/>
              <a:cxnLst/>
              <a:rect l="l" t="t" r="r" b="b"/>
              <a:pathLst>
                <a:path w="405747" h="405240">
                  <a:moveTo>
                    <a:pt x="0" y="0"/>
                  </a:moveTo>
                  <a:lnTo>
                    <a:pt x="405747" y="0"/>
                  </a:lnTo>
                  <a:lnTo>
                    <a:pt x="405747" y="405240"/>
                  </a:lnTo>
                  <a:lnTo>
                    <a:pt x="0" y="405240"/>
                  </a:lnTo>
                  <a:lnTo>
                    <a:pt x="0" y="0"/>
                  </a:lnTo>
                  <a:close/>
                </a:path>
              </a:pathLst>
            </a:custGeom>
            <a:blipFill>
              <a:blip r:embed="rId10"/>
              <a:stretch>
                <a:fillRect/>
              </a:stretch>
            </a:blipFill>
          </p:spPr>
        </p:sp>
        <p:sp>
          <p:nvSpPr>
            <p:cNvPr id="11" name="Freeform 11"/>
            <p:cNvSpPr/>
            <p:nvPr/>
          </p:nvSpPr>
          <p:spPr>
            <a:xfrm>
              <a:off x="3122832" y="2508772"/>
              <a:ext cx="454148" cy="453580"/>
            </a:xfrm>
            <a:custGeom>
              <a:avLst/>
              <a:gdLst/>
              <a:ahLst/>
              <a:cxnLst/>
              <a:rect l="l" t="t" r="r" b="b"/>
              <a:pathLst>
                <a:path w="454148" h="453580">
                  <a:moveTo>
                    <a:pt x="0" y="0"/>
                  </a:moveTo>
                  <a:lnTo>
                    <a:pt x="454148" y="0"/>
                  </a:lnTo>
                  <a:lnTo>
                    <a:pt x="454148" y="453580"/>
                  </a:lnTo>
                  <a:lnTo>
                    <a:pt x="0" y="453580"/>
                  </a:lnTo>
                  <a:lnTo>
                    <a:pt x="0" y="0"/>
                  </a:lnTo>
                  <a:close/>
                </a:path>
              </a:pathLst>
            </a:custGeom>
            <a:blipFill>
              <a:blip r:embed="rId11"/>
              <a:stretch>
                <a:fillRect/>
              </a:stretch>
            </a:blipFill>
          </p:spPr>
        </p:sp>
      </p:grpSp>
      <p:sp>
        <p:nvSpPr>
          <p:cNvPr id="12" name="TextBox 12"/>
          <p:cNvSpPr txBox="1"/>
          <p:nvPr/>
        </p:nvSpPr>
        <p:spPr>
          <a:xfrm>
            <a:off x="426639" y="453472"/>
            <a:ext cx="17861361" cy="8305981"/>
          </a:xfrm>
          <a:prstGeom prst="rect">
            <a:avLst/>
          </a:prstGeom>
        </p:spPr>
        <p:txBody>
          <a:bodyPr lIns="0" tIns="0" rIns="0" bIns="0" rtlCol="0" anchor="t">
            <a:spAutoFit/>
          </a:bodyPr>
          <a:lstStyle/>
          <a:p>
            <a:pPr algn="l">
              <a:lnSpc>
                <a:spcPts val="7106"/>
              </a:lnSpc>
            </a:pPr>
            <a:r>
              <a:rPr lang="en-US" sz="5075" b="1">
                <a:solidFill>
                  <a:srgbClr val="FFFFFF"/>
                </a:solidFill>
                <a:latin typeface="Droid Arabic Kufi Bold"/>
                <a:ea typeface="Droid Arabic Kufi Bold"/>
                <a:cs typeface="Droid Arabic Kufi Bold"/>
                <a:sym typeface="Droid Arabic Kufi Bold"/>
              </a:rPr>
              <a:t>2. Objectives (Where do we want to go?)</a:t>
            </a:r>
          </a:p>
          <a:p>
            <a:pPr marL="664106" lvl="1" indent="-332053" algn="l">
              <a:lnSpc>
                <a:spcPts val="4306"/>
              </a:lnSpc>
              <a:buFont typeface="Arial"/>
              <a:buChar char="•"/>
            </a:pPr>
            <a:r>
              <a:rPr lang="en-US" sz="3075" b="1">
                <a:solidFill>
                  <a:srgbClr val="FFFFFF"/>
                </a:solidFill>
                <a:latin typeface="Droid Arabic Naskh Bold"/>
                <a:ea typeface="Droid Arabic Naskh Bold"/>
                <a:cs typeface="Droid Arabic Naskh Bold"/>
                <a:sym typeface="Droid Arabic Naskh Bold"/>
              </a:rPr>
              <a:t>Increase brand awareness by 40% within 3 months in Banha city.</a:t>
            </a:r>
          </a:p>
          <a:p>
            <a:pPr marL="664106" lvl="1" indent="-332053" algn="l">
              <a:lnSpc>
                <a:spcPts val="4306"/>
              </a:lnSpc>
              <a:buFont typeface="Arial"/>
              <a:buChar char="•"/>
            </a:pPr>
            <a:r>
              <a:rPr lang="en-US" sz="3075" b="1">
                <a:solidFill>
                  <a:srgbClr val="FFFFFF"/>
                </a:solidFill>
                <a:latin typeface="Droid Arabic Naskh Bold"/>
                <a:ea typeface="Droid Arabic Naskh Bold"/>
                <a:cs typeface="Droid Arabic Naskh Bold"/>
                <a:sym typeface="Droid Arabic Naskh Bold"/>
              </a:rPr>
              <a:t>Increase new customers by 25% within 6 months through digital channels.</a:t>
            </a:r>
          </a:p>
          <a:p>
            <a:pPr marL="664106" lvl="1" indent="-332053" algn="l">
              <a:lnSpc>
                <a:spcPts val="4306"/>
              </a:lnSpc>
              <a:buFont typeface="Arial"/>
              <a:buChar char="•"/>
            </a:pPr>
            <a:r>
              <a:rPr lang="en-US" sz="3075" b="1">
                <a:solidFill>
                  <a:srgbClr val="FFFFFF"/>
                </a:solidFill>
                <a:latin typeface="Droid Arabic Naskh Bold"/>
                <a:ea typeface="Droid Arabic Naskh Bold"/>
                <a:cs typeface="Droid Arabic Naskh Bold"/>
                <a:sym typeface="Droid Arabic Naskh Bold"/>
              </a:rPr>
              <a:t>Reach 10,000 followers on Facebook and Instagram by the end of the campaign.</a:t>
            </a:r>
          </a:p>
          <a:p>
            <a:pPr marL="664106" lvl="1" indent="-332053" algn="l">
              <a:lnSpc>
                <a:spcPts val="4306"/>
              </a:lnSpc>
              <a:buFont typeface="Arial"/>
              <a:buChar char="•"/>
            </a:pPr>
            <a:r>
              <a:rPr lang="en-US" sz="3075" b="1">
                <a:solidFill>
                  <a:srgbClr val="FFFFFF"/>
                </a:solidFill>
                <a:latin typeface="Droid Arabic Naskh Bold"/>
                <a:ea typeface="Droid Arabic Naskh Bold"/>
                <a:cs typeface="Droid Arabic Naskh Bold"/>
                <a:sym typeface="Droid Arabic Naskh Bold"/>
              </a:rPr>
              <a:t>Achieve a 30% increase in sales through WhatsApp and Telegram.</a:t>
            </a:r>
          </a:p>
          <a:p>
            <a:pPr algn="l">
              <a:lnSpc>
                <a:spcPts val="4306"/>
              </a:lnSpc>
            </a:pPr>
            <a:endParaRPr lang="en-US" sz="3075" b="1">
              <a:solidFill>
                <a:srgbClr val="FFFFFF"/>
              </a:solidFill>
              <a:latin typeface="Droid Arabic Naskh Bold"/>
              <a:ea typeface="Droid Arabic Naskh Bold"/>
              <a:cs typeface="Droid Arabic Naskh Bold"/>
              <a:sym typeface="Droid Arabic Naskh Bold"/>
            </a:endParaRPr>
          </a:p>
          <a:p>
            <a:pPr algn="l">
              <a:lnSpc>
                <a:spcPts val="7106"/>
              </a:lnSpc>
            </a:pPr>
            <a:r>
              <a:rPr lang="en-US" sz="5075" b="1">
                <a:solidFill>
                  <a:srgbClr val="FFFFFF"/>
                </a:solidFill>
                <a:latin typeface="Droid Arabic Kufi Bold"/>
                <a:ea typeface="Droid Arabic Kufi Bold"/>
                <a:cs typeface="Droid Arabic Kufi Bold"/>
                <a:sym typeface="Droid Arabic Kufi Bold"/>
              </a:rPr>
              <a:t>3. Tactics (Platform Implementation)</a:t>
            </a:r>
          </a:p>
          <a:p>
            <a:pPr marL="664106" lvl="1" indent="-332053" algn="l">
              <a:lnSpc>
                <a:spcPts val="4306"/>
              </a:lnSpc>
              <a:buFont typeface="Arial"/>
              <a:buChar char="•"/>
            </a:pPr>
            <a:r>
              <a:rPr lang="en-US" sz="3075" b="1">
                <a:solidFill>
                  <a:srgbClr val="FFFFFF"/>
                </a:solidFill>
                <a:latin typeface="Droid Arabic Naskh Bold"/>
                <a:ea typeface="Droid Arabic Naskh Bold"/>
                <a:cs typeface="Droid Arabic Naskh Bold"/>
                <a:sym typeface="Droid Arabic Naskh Bold"/>
              </a:rPr>
              <a:t>Facebook and Instagram: Post 3 types of content weekly (Crucible, Reels, Q&amp;A).</a:t>
            </a:r>
          </a:p>
          <a:p>
            <a:pPr marL="664106" lvl="1" indent="-332053" algn="l">
              <a:lnSpc>
                <a:spcPts val="4306"/>
              </a:lnSpc>
              <a:buFont typeface="Arial"/>
              <a:buChar char="•"/>
            </a:pPr>
            <a:r>
              <a:rPr lang="en-US" sz="3075" b="1">
                <a:solidFill>
                  <a:srgbClr val="FFFFFF"/>
                </a:solidFill>
                <a:latin typeface="Droid Arabic Naskh Bold"/>
                <a:ea typeface="Droid Arabic Naskh Bold"/>
                <a:cs typeface="Droid Arabic Naskh Bold"/>
                <a:sym typeface="Droid Arabic Naskh Bold"/>
              </a:rPr>
              <a:t>Rotate 5 ad designs weekly to test for best performance (CPC and CTR).</a:t>
            </a:r>
          </a:p>
          <a:p>
            <a:pPr marL="664106" lvl="1" indent="-332053" algn="l">
              <a:lnSpc>
                <a:spcPts val="4306"/>
              </a:lnSpc>
              <a:buFont typeface="Arial"/>
              <a:buChar char="•"/>
            </a:pPr>
            <a:r>
              <a:rPr lang="en-US" sz="3075" b="1">
                <a:solidFill>
                  <a:srgbClr val="FFFFFF"/>
                </a:solidFill>
                <a:latin typeface="Droid Arabic Naskh Bold"/>
                <a:ea typeface="Droid Arabic Naskh Bold"/>
                <a:cs typeface="Droid Arabic Naskh Bold"/>
                <a:sym typeface="Droid Arabic Naskh Bold"/>
              </a:rPr>
              <a:t>TikTok: Post 3 trending videos weekly using broad and niche hashtags.</a:t>
            </a:r>
          </a:p>
          <a:p>
            <a:pPr marL="664106" lvl="1" indent="-332053" algn="l">
              <a:lnSpc>
                <a:spcPts val="4306"/>
              </a:lnSpc>
              <a:buFont typeface="Arial"/>
              <a:buChar char="•"/>
            </a:pPr>
            <a:r>
              <a:rPr lang="en-US" sz="3075" b="1">
                <a:solidFill>
                  <a:srgbClr val="FFFFFF"/>
                </a:solidFill>
                <a:latin typeface="Droid Arabic Naskh Bold"/>
                <a:ea typeface="Droid Arabic Naskh Bold"/>
                <a:cs typeface="Droid Arabic Naskh Bold"/>
                <a:sym typeface="Droid Arabic Naskh Bold"/>
              </a:rPr>
              <a:t>WhatsApp Business: Send automated personalized offers and update daily statuses</a:t>
            </a:r>
          </a:p>
          <a:p>
            <a:pPr algn="l">
              <a:lnSpc>
                <a:spcPts val="4306"/>
              </a:lnSpc>
            </a:pPr>
            <a:r>
              <a:rPr lang="en-US" sz="3075" b="1">
                <a:solidFill>
                  <a:srgbClr val="FFFFFF"/>
                </a:solidFill>
                <a:latin typeface="Droid Arabic Naskh Bold"/>
                <a:ea typeface="Droid Arabic Naskh Bold"/>
                <a:cs typeface="Droid Arabic Naskh Bold"/>
                <a:sym typeface="Droid Arabic Naskh Bold"/>
              </a:rPr>
              <a:t> with quick offers and customer feedback.</a:t>
            </a:r>
          </a:p>
          <a:p>
            <a:pPr algn="l">
              <a:lnSpc>
                <a:spcPts val="4306"/>
              </a:lnSpc>
            </a:pPr>
            <a:endParaRPr lang="en-US" sz="3075" b="1">
              <a:solidFill>
                <a:srgbClr val="FFFFFF"/>
              </a:solidFill>
              <a:latin typeface="Droid Arabic Naskh Bold"/>
              <a:ea typeface="Droid Arabic Naskh Bold"/>
              <a:cs typeface="Droid Arabic Naskh Bold"/>
              <a:sym typeface="Droid Arabic Naskh Bold"/>
            </a:endParaRPr>
          </a:p>
          <a:p>
            <a:pPr marL="0" lvl="0" indent="0" algn="ctr">
              <a:lnSpc>
                <a:spcPts val="4423"/>
              </a:lnSpc>
            </a:pPr>
            <a:endParaRPr lang="en-US" sz="3075" b="1">
              <a:solidFill>
                <a:srgbClr val="FFFFFF"/>
              </a:solidFill>
              <a:latin typeface="Droid Arabic Naskh Bold"/>
              <a:ea typeface="Droid Arabic Naskh Bold"/>
              <a:cs typeface="Droid Arabic Naskh Bold"/>
              <a:sym typeface="Droid Arabic Naskh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sp>
        <p:nvSpPr>
          <p:cNvPr id="3" name="TextBox 3"/>
          <p:cNvSpPr txBox="1"/>
          <p:nvPr/>
        </p:nvSpPr>
        <p:spPr>
          <a:xfrm>
            <a:off x="0" y="795846"/>
            <a:ext cx="18288000" cy="9230359"/>
          </a:xfrm>
          <a:prstGeom prst="rect">
            <a:avLst/>
          </a:prstGeom>
        </p:spPr>
        <p:txBody>
          <a:bodyPr lIns="0" tIns="0" rIns="0" bIns="0" rtlCol="0" anchor="t">
            <a:spAutoFit/>
          </a:bodyPr>
          <a:lstStyle/>
          <a:p>
            <a:pPr algn="ctr">
              <a:lnSpc>
                <a:spcPts val="5149"/>
              </a:lnSpc>
              <a:spcBef>
                <a:spcPct val="0"/>
              </a:spcBef>
            </a:pPr>
            <a:r>
              <a:rPr lang="en-US" sz="4999" b="1">
                <a:solidFill>
                  <a:srgbClr val="3E3E3E"/>
                </a:solidFill>
                <a:latin typeface="Droid Arabic Kufi Bold"/>
                <a:ea typeface="Droid Arabic Kufi Bold"/>
                <a:cs typeface="Droid Arabic Kufi Bold"/>
                <a:sym typeface="Droid Arabic Kufi Bold"/>
              </a:rPr>
              <a:t>4. Strategy </a:t>
            </a:r>
          </a:p>
          <a:p>
            <a:pPr algn="ctr">
              <a:lnSpc>
                <a:spcPts val="3089"/>
              </a:lnSpc>
              <a:spcBef>
                <a:spcPct val="0"/>
              </a:spcBef>
            </a:pPr>
            <a:endParaRPr lang="en-US" sz="4999" b="1">
              <a:solidFill>
                <a:srgbClr val="3E3E3E"/>
              </a:solidFill>
              <a:latin typeface="Droid Arabic Kufi Bold"/>
              <a:ea typeface="Droid Arabic Kufi Bold"/>
              <a:cs typeface="Droid Arabic Kufi Bold"/>
              <a:sym typeface="Droid Arabic Kufi Bold"/>
            </a:endParaRP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Focusing on a diverse content strategy across all platforms while maintaining the unified brand identity of "Tayba Store – The Best for Your Family Every Day."</a:t>
            </a:r>
          </a:p>
          <a:p>
            <a:pPr algn="ctr">
              <a:lnSpc>
                <a:spcPts val="3089"/>
              </a:lnSpc>
              <a:spcBef>
                <a:spcPct val="0"/>
              </a:spcBef>
            </a:pPr>
            <a:endParaRPr lang="en-US" sz="2999" b="1">
              <a:solidFill>
                <a:srgbClr val="3E3E3E"/>
              </a:solidFill>
              <a:latin typeface="Droid Arabic Naskh Bold"/>
              <a:ea typeface="Droid Arabic Naskh Bold"/>
              <a:cs typeface="Droid Arabic Naskh Bold"/>
              <a:sym typeface="Droid Arabic Naskh Bold"/>
            </a:endParaRPr>
          </a:p>
          <a:p>
            <a:pPr algn="ctr">
              <a:lnSpc>
                <a:spcPts val="4119"/>
              </a:lnSpc>
              <a:spcBef>
                <a:spcPct val="0"/>
              </a:spcBef>
            </a:pPr>
            <a:r>
              <a:rPr lang="en-US" sz="3999" b="1">
                <a:solidFill>
                  <a:srgbClr val="3E3E3E"/>
                </a:solidFill>
                <a:latin typeface="Droid Arabic Naskh Bold"/>
                <a:ea typeface="Droid Arabic Naskh Bold"/>
                <a:cs typeface="Droid Arabic Naskh Bold"/>
                <a:sym typeface="Droid Arabic Naskh Bold"/>
              </a:rPr>
              <a:t>Content Hubs (3Cs):</a:t>
            </a: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Beauty Products: Quick routines, beauty tips, and "Get the Look."</a:t>
            </a: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Cleaning Products: Practical tips, real-life experiences, and before/after results.</a:t>
            </a: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Baby Products: Educational content and ideas for mothers ("Mom Hacks").</a:t>
            </a:r>
          </a:p>
          <a:p>
            <a:pPr algn="ctr">
              <a:lnSpc>
                <a:spcPts val="3089"/>
              </a:lnSpc>
              <a:spcBef>
                <a:spcPct val="0"/>
              </a:spcBef>
            </a:pPr>
            <a:endParaRPr lang="en-US" sz="2999" b="1">
              <a:solidFill>
                <a:srgbClr val="3E3E3E"/>
              </a:solidFill>
              <a:latin typeface="Droid Arabic Naskh Bold"/>
              <a:ea typeface="Droid Arabic Naskh Bold"/>
              <a:cs typeface="Droid Arabic Naskh Bold"/>
              <a:sym typeface="Droid Arabic Naskh Bold"/>
            </a:endParaRPr>
          </a:p>
          <a:p>
            <a:pPr algn="ctr">
              <a:lnSpc>
                <a:spcPts val="4119"/>
              </a:lnSpc>
              <a:spcBef>
                <a:spcPct val="0"/>
              </a:spcBef>
            </a:pPr>
            <a:r>
              <a:rPr lang="en-US" sz="3999" b="1">
                <a:solidFill>
                  <a:srgbClr val="3E3E3E"/>
                </a:solidFill>
                <a:latin typeface="Droid Arabic Naskh Bold"/>
                <a:ea typeface="Droid Arabic Naskh Bold"/>
                <a:cs typeface="Droid Arabic Naskh Bold"/>
                <a:sym typeface="Droid Arabic Naskh Bold"/>
              </a:rPr>
              <a:t>Influencer Plan:</a:t>
            </a: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Collaborating monthly with 5 to 8 local influencers (micro-influencers) from Banha with 5,000–50,000 followers to achieve genuine engagement and credibility.</a:t>
            </a:r>
          </a:p>
          <a:p>
            <a:pPr algn="ctr">
              <a:lnSpc>
                <a:spcPts val="3089"/>
              </a:lnSpc>
              <a:spcBef>
                <a:spcPct val="0"/>
              </a:spcBef>
            </a:pPr>
            <a:endParaRPr lang="en-US" sz="2999" b="1">
              <a:solidFill>
                <a:srgbClr val="3E3E3E"/>
              </a:solidFill>
              <a:latin typeface="Droid Arabic Naskh Bold"/>
              <a:ea typeface="Droid Arabic Naskh Bold"/>
              <a:cs typeface="Droid Arabic Naskh Bold"/>
              <a:sym typeface="Droid Arabic Naskh Bold"/>
            </a:endParaRPr>
          </a:p>
          <a:p>
            <a:pPr algn="ctr">
              <a:lnSpc>
                <a:spcPts val="4119"/>
              </a:lnSpc>
              <a:spcBef>
                <a:spcPct val="0"/>
              </a:spcBef>
            </a:pPr>
            <a:r>
              <a:rPr lang="en-US" sz="3999" b="1">
                <a:solidFill>
                  <a:srgbClr val="3E3E3E"/>
                </a:solidFill>
                <a:latin typeface="Droid Arabic Naskh Bold"/>
                <a:ea typeface="Droid Arabic Naskh Bold"/>
                <a:cs typeface="Droid Arabic Naskh Bold"/>
                <a:sym typeface="Droid Arabic Naskh Bold"/>
              </a:rPr>
              <a:t>Platform Focus:</a:t>
            </a: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TikTok: 80% entertainment content / 20% marketing using trends and challenges.</a:t>
            </a: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Instagram: Publishing visual content with engagement through stories, polls, and paid ads for mothers.</a:t>
            </a: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Facebook: Building community and increasing conversions through offers and links to WhatsApp.</a:t>
            </a: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User Content Initiative (UGC): Launching a monthly challenge to encourage customers to share product review videos using a specific hashtag, with a prize of a £300 voucher.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sp>
        <p:nvSpPr>
          <p:cNvPr id="3" name="Freeform 3"/>
          <p:cNvSpPr/>
          <p:nvPr/>
        </p:nvSpPr>
        <p:spPr>
          <a:xfrm>
            <a:off x="3538881" y="749420"/>
            <a:ext cx="559260" cy="558560"/>
          </a:xfrm>
          <a:custGeom>
            <a:avLst/>
            <a:gdLst/>
            <a:ahLst/>
            <a:cxnLst/>
            <a:rect l="l" t="t" r="r" b="b"/>
            <a:pathLst>
              <a:path w="559260" h="558560">
                <a:moveTo>
                  <a:pt x="0" y="0"/>
                </a:moveTo>
                <a:lnTo>
                  <a:pt x="559260" y="0"/>
                </a:lnTo>
                <a:lnTo>
                  <a:pt x="559260" y="558560"/>
                </a:lnTo>
                <a:lnTo>
                  <a:pt x="0" y="558560"/>
                </a:lnTo>
                <a:lnTo>
                  <a:pt x="0" y="0"/>
                </a:lnTo>
                <a:close/>
              </a:path>
            </a:pathLst>
          </a:custGeom>
          <a:blipFill>
            <a:blip r:embed="rId3"/>
            <a:stretch>
              <a:fillRect/>
            </a:stretch>
          </a:blipFill>
        </p:spPr>
      </p:sp>
      <p:sp>
        <p:nvSpPr>
          <p:cNvPr id="4" name="Freeform 4"/>
          <p:cNvSpPr/>
          <p:nvPr/>
        </p:nvSpPr>
        <p:spPr>
          <a:xfrm>
            <a:off x="4471" y="3119130"/>
            <a:ext cx="570961" cy="570247"/>
          </a:xfrm>
          <a:custGeom>
            <a:avLst/>
            <a:gdLst/>
            <a:ahLst/>
            <a:cxnLst/>
            <a:rect l="l" t="t" r="r" b="b"/>
            <a:pathLst>
              <a:path w="570961" h="570247">
                <a:moveTo>
                  <a:pt x="0" y="0"/>
                </a:moveTo>
                <a:lnTo>
                  <a:pt x="570961" y="0"/>
                </a:lnTo>
                <a:lnTo>
                  <a:pt x="570961" y="570247"/>
                </a:lnTo>
                <a:lnTo>
                  <a:pt x="0" y="570247"/>
                </a:lnTo>
                <a:lnTo>
                  <a:pt x="0" y="0"/>
                </a:lnTo>
                <a:close/>
              </a:path>
            </a:pathLst>
          </a:custGeom>
          <a:blipFill>
            <a:blip r:embed="rId4"/>
            <a:stretch>
              <a:fillRect/>
            </a:stretch>
          </a:blipFill>
          <a:ln cap="sq">
            <a:noFill/>
            <a:prstDash val="solid"/>
            <a:miter/>
          </a:ln>
        </p:spPr>
      </p:sp>
      <p:sp>
        <p:nvSpPr>
          <p:cNvPr id="5" name="Freeform 5"/>
          <p:cNvSpPr/>
          <p:nvPr/>
        </p:nvSpPr>
        <p:spPr>
          <a:xfrm>
            <a:off x="3818511" y="6633968"/>
            <a:ext cx="514225" cy="513582"/>
          </a:xfrm>
          <a:custGeom>
            <a:avLst/>
            <a:gdLst/>
            <a:ahLst/>
            <a:cxnLst/>
            <a:rect l="l" t="t" r="r" b="b"/>
            <a:pathLst>
              <a:path w="514225" h="513582">
                <a:moveTo>
                  <a:pt x="0" y="0"/>
                </a:moveTo>
                <a:lnTo>
                  <a:pt x="514224" y="0"/>
                </a:lnTo>
                <a:lnTo>
                  <a:pt x="514224" y="513582"/>
                </a:lnTo>
                <a:lnTo>
                  <a:pt x="0" y="513582"/>
                </a:lnTo>
                <a:lnTo>
                  <a:pt x="0" y="0"/>
                </a:lnTo>
                <a:close/>
              </a:path>
            </a:pathLst>
          </a:custGeom>
          <a:blipFill>
            <a:blip r:embed="rId5"/>
            <a:stretch>
              <a:fillRect/>
            </a:stretch>
          </a:blipFill>
        </p:spPr>
      </p:sp>
      <p:sp>
        <p:nvSpPr>
          <p:cNvPr id="6" name="Freeform 6"/>
          <p:cNvSpPr/>
          <p:nvPr/>
        </p:nvSpPr>
        <p:spPr>
          <a:xfrm rot="-1485691">
            <a:off x="1537453" y="8289002"/>
            <a:ext cx="2855826" cy="2291800"/>
          </a:xfrm>
          <a:custGeom>
            <a:avLst/>
            <a:gdLst/>
            <a:ahLst/>
            <a:cxnLst/>
            <a:rect l="l" t="t" r="r" b="b"/>
            <a:pathLst>
              <a:path w="2855826" h="2291800">
                <a:moveTo>
                  <a:pt x="0" y="0"/>
                </a:moveTo>
                <a:lnTo>
                  <a:pt x="2855825" y="0"/>
                </a:lnTo>
                <a:lnTo>
                  <a:pt x="2855825" y="2291800"/>
                </a:lnTo>
                <a:lnTo>
                  <a:pt x="0" y="2291800"/>
                </a:lnTo>
                <a:lnTo>
                  <a:pt x="0" y="0"/>
                </a:lnTo>
                <a:close/>
              </a:path>
            </a:pathLst>
          </a:custGeom>
          <a:blipFill>
            <a:blip r:embed="rId6"/>
            <a:stretch>
              <a:fillRect/>
            </a:stretch>
          </a:blipFill>
        </p:spPr>
      </p:sp>
      <p:sp>
        <p:nvSpPr>
          <p:cNvPr id="7" name="Freeform 7"/>
          <p:cNvSpPr/>
          <p:nvPr/>
        </p:nvSpPr>
        <p:spPr>
          <a:xfrm rot="6302772">
            <a:off x="-461861" y="-692871"/>
            <a:ext cx="2074585" cy="2394904"/>
          </a:xfrm>
          <a:custGeom>
            <a:avLst/>
            <a:gdLst/>
            <a:ahLst/>
            <a:cxnLst/>
            <a:rect l="l" t="t" r="r" b="b"/>
            <a:pathLst>
              <a:path w="2074585" h="2394904">
                <a:moveTo>
                  <a:pt x="0" y="0"/>
                </a:moveTo>
                <a:lnTo>
                  <a:pt x="2074585" y="0"/>
                </a:lnTo>
                <a:lnTo>
                  <a:pt x="2074585" y="2394903"/>
                </a:lnTo>
                <a:lnTo>
                  <a:pt x="0" y="2394903"/>
                </a:lnTo>
                <a:lnTo>
                  <a:pt x="0" y="0"/>
                </a:lnTo>
                <a:close/>
              </a:path>
            </a:pathLst>
          </a:custGeom>
          <a:blipFill>
            <a:blip r:embed="rId7"/>
            <a:stretch>
              <a:fillRect/>
            </a:stretch>
          </a:blipFill>
        </p:spPr>
      </p:sp>
      <p:sp>
        <p:nvSpPr>
          <p:cNvPr id="8" name="Freeform 8"/>
          <p:cNvSpPr/>
          <p:nvPr/>
        </p:nvSpPr>
        <p:spPr>
          <a:xfrm rot="2908027">
            <a:off x="-2013118" y="2954139"/>
            <a:ext cx="5570317" cy="7873240"/>
          </a:xfrm>
          <a:custGeom>
            <a:avLst/>
            <a:gdLst/>
            <a:ahLst/>
            <a:cxnLst/>
            <a:rect l="l" t="t" r="r" b="b"/>
            <a:pathLst>
              <a:path w="5570317" h="7873240">
                <a:moveTo>
                  <a:pt x="0" y="0"/>
                </a:moveTo>
                <a:lnTo>
                  <a:pt x="5570317" y="0"/>
                </a:lnTo>
                <a:lnTo>
                  <a:pt x="5570317" y="7873240"/>
                </a:lnTo>
                <a:lnTo>
                  <a:pt x="0" y="7873240"/>
                </a:lnTo>
                <a:lnTo>
                  <a:pt x="0" y="0"/>
                </a:lnTo>
                <a:close/>
              </a:path>
            </a:pathLst>
          </a:custGeom>
          <a:blipFill>
            <a:blip r:embed="rId8"/>
            <a:stretch>
              <a:fillRect/>
            </a:stretch>
          </a:blipFill>
        </p:spPr>
      </p:sp>
      <p:sp>
        <p:nvSpPr>
          <p:cNvPr id="9" name="TextBox 9"/>
          <p:cNvSpPr txBox="1"/>
          <p:nvPr/>
        </p:nvSpPr>
        <p:spPr>
          <a:xfrm>
            <a:off x="4918548" y="1331866"/>
            <a:ext cx="12807349" cy="7528018"/>
          </a:xfrm>
          <a:prstGeom prst="rect">
            <a:avLst/>
          </a:prstGeom>
        </p:spPr>
        <p:txBody>
          <a:bodyPr lIns="0" tIns="0" rIns="0" bIns="0" rtlCol="0" anchor="t">
            <a:spAutoFit/>
          </a:bodyPr>
          <a:lstStyle/>
          <a:p>
            <a:pPr algn="ctr">
              <a:lnSpc>
                <a:spcPts val="6994"/>
              </a:lnSpc>
            </a:pPr>
            <a:r>
              <a:rPr lang="en-US" sz="4996" b="1">
                <a:solidFill>
                  <a:srgbClr val="3E3E3E"/>
                </a:solidFill>
                <a:latin typeface="Droid Arabic Kufi Bold"/>
                <a:ea typeface="Droid Arabic Kufi Bold"/>
                <a:cs typeface="Droid Arabic Kufi Bold"/>
                <a:sym typeface="Droid Arabic Kufi Bold"/>
              </a:rPr>
              <a:t>5. Implementation (Action – Practical Application of the Plan)</a:t>
            </a:r>
          </a:p>
          <a:p>
            <a:pPr algn="ctr">
              <a:lnSpc>
                <a:spcPts val="4194"/>
              </a:lnSpc>
            </a:pPr>
            <a:endParaRPr lang="en-US" sz="4996" b="1">
              <a:solidFill>
                <a:srgbClr val="3E3E3E"/>
              </a:solidFill>
              <a:latin typeface="Droid Arabic Kufi Bold"/>
              <a:ea typeface="Droid Arabic Kufi Bold"/>
              <a:cs typeface="Droid Arabic Kufi Bold"/>
              <a:sym typeface="Droid Arabic Kufi Bold"/>
            </a:endParaRPr>
          </a:p>
          <a:p>
            <a:pPr algn="ctr">
              <a:lnSpc>
                <a:spcPts val="4194"/>
              </a:lnSpc>
            </a:pPr>
            <a:r>
              <a:rPr lang="en-US" sz="2996" b="1">
                <a:solidFill>
                  <a:srgbClr val="3E3E3E"/>
                </a:solidFill>
                <a:latin typeface="Droid Arabic Naskh Bold"/>
                <a:ea typeface="Droid Arabic Naskh Bold"/>
                <a:cs typeface="Droid Arabic Naskh Bold"/>
                <a:sym typeface="Droid Arabic Naskh Bold"/>
              </a:rPr>
              <a:t>Create a weekly content calendar with daily monitoring of trending topics.</a:t>
            </a:r>
          </a:p>
          <a:p>
            <a:pPr algn="ctr">
              <a:lnSpc>
                <a:spcPts val="4194"/>
              </a:lnSpc>
            </a:pPr>
            <a:endParaRPr lang="en-US" sz="2996" b="1">
              <a:solidFill>
                <a:srgbClr val="3E3E3E"/>
              </a:solidFill>
              <a:latin typeface="Droid Arabic Naskh Bold"/>
              <a:ea typeface="Droid Arabic Naskh Bold"/>
              <a:cs typeface="Droid Arabic Naskh Bold"/>
              <a:sym typeface="Droid Arabic Naskh Bold"/>
            </a:endParaRPr>
          </a:p>
          <a:p>
            <a:pPr algn="ctr">
              <a:lnSpc>
                <a:spcPts val="4194"/>
              </a:lnSpc>
            </a:pPr>
            <a:r>
              <a:rPr lang="en-US" sz="2996" b="1">
                <a:solidFill>
                  <a:srgbClr val="3E3E3E"/>
                </a:solidFill>
                <a:latin typeface="Droid Arabic Naskh Bold"/>
                <a:ea typeface="Droid Arabic Naskh Bold"/>
                <a:cs typeface="Droid Arabic Naskh Bold"/>
                <a:sym typeface="Droid Arabic Naskh Bold"/>
              </a:rPr>
              <a:t>Conduct A/B testing to evaluate ads among mothers and youth demographics (video versus still images).</a:t>
            </a:r>
          </a:p>
          <a:p>
            <a:pPr algn="ctr">
              <a:lnSpc>
                <a:spcPts val="4194"/>
              </a:lnSpc>
            </a:pPr>
            <a:endParaRPr lang="en-US" sz="2996" b="1">
              <a:solidFill>
                <a:srgbClr val="3E3E3E"/>
              </a:solidFill>
              <a:latin typeface="Droid Arabic Naskh Bold"/>
              <a:ea typeface="Droid Arabic Naskh Bold"/>
              <a:cs typeface="Droid Arabic Naskh Bold"/>
              <a:sym typeface="Droid Arabic Naskh Bold"/>
            </a:endParaRPr>
          </a:p>
          <a:p>
            <a:pPr algn="ctr">
              <a:lnSpc>
                <a:spcPts val="4194"/>
              </a:lnSpc>
            </a:pPr>
            <a:r>
              <a:rPr lang="en-US" sz="2996" b="1">
                <a:solidFill>
                  <a:srgbClr val="3E3E3E"/>
                </a:solidFill>
                <a:latin typeface="Droid Arabic Naskh Bold"/>
                <a:ea typeface="Droid Arabic Naskh Bold"/>
                <a:cs typeface="Droid Arabic Naskh Bold"/>
                <a:sym typeface="Droid Arabic Naskh Bold"/>
              </a:rPr>
              <a:t>Provide influencers with discount codes and direct purchase links.</a:t>
            </a:r>
          </a:p>
          <a:p>
            <a:pPr algn="ctr">
              <a:lnSpc>
                <a:spcPts val="4194"/>
              </a:lnSpc>
            </a:pPr>
            <a:endParaRPr lang="en-US" sz="2996" b="1">
              <a:solidFill>
                <a:srgbClr val="3E3E3E"/>
              </a:solidFill>
              <a:latin typeface="Droid Arabic Naskh Bold"/>
              <a:ea typeface="Droid Arabic Naskh Bold"/>
              <a:cs typeface="Droid Arabic Naskh Bold"/>
              <a:sym typeface="Droid Arabic Naskh Bold"/>
            </a:endParaRPr>
          </a:p>
          <a:p>
            <a:pPr marL="0" lvl="0" indent="0" algn="ctr">
              <a:lnSpc>
                <a:spcPts val="4194"/>
              </a:lnSpc>
            </a:pPr>
            <a:r>
              <a:rPr lang="en-US" sz="2996" b="1">
                <a:solidFill>
                  <a:srgbClr val="3E3E3E"/>
                </a:solidFill>
                <a:latin typeface="Droid Arabic Naskh Bold"/>
                <a:ea typeface="Droid Arabic Naskh Bold"/>
                <a:cs typeface="Droid Arabic Naskh Bold"/>
                <a:sym typeface="Droid Arabic Naskh Bold"/>
              </a:rPr>
              <a:t>Manually publish content on each platform, adding the Tayba Store logo to the videos.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sp>
        <p:nvSpPr>
          <p:cNvPr id="3" name="TextBox 3"/>
          <p:cNvSpPr txBox="1"/>
          <p:nvPr/>
        </p:nvSpPr>
        <p:spPr>
          <a:xfrm>
            <a:off x="-207516" y="76200"/>
            <a:ext cx="19104786" cy="10960819"/>
          </a:xfrm>
          <a:prstGeom prst="rect">
            <a:avLst/>
          </a:prstGeom>
        </p:spPr>
        <p:txBody>
          <a:bodyPr lIns="0" tIns="0" rIns="0" bIns="0" rtlCol="0" anchor="t">
            <a:spAutoFit/>
          </a:bodyPr>
          <a:lstStyle/>
          <a:p>
            <a:pPr algn="ctr">
              <a:lnSpc>
                <a:spcPts val="5154"/>
              </a:lnSpc>
            </a:pPr>
            <a:r>
              <a:rPr lang="en-US" sz="5003" b="1">
                <a:solidFill>
                  <a:srgbClr val="000000"/>
                </a:solidFill>
                <a:latin typeface="Droid Arabic Kufi Bold"/>
                <a:ea typeface="Droid Arabic Kufi Bold"/>
                <a:cs typeface="Droid Arabic Kufi Bold"/>
                <a:sym typeface="Droid Arabic Kufi Bold"/>
              </a:rPr>
              <a:t>6. Control – KPIs &amp; Measurement</a:t>
            </a:r>
          </a:p>
          <a:p>
            <a:pPr algn="ctr">
              <a:lnSpc>
                <a:spcPts val="3094"/>
              </a:lnSpc>
            </a:pPr>
            <a:endParaRPr lang="en-US" sz="5003" b="1">
              <a:solidFill>
                <a:srgbClr val="000000"/>
              </a:solidFill>
              <a:latin typeface="Droid Arabic Kufi Bold"/>
              <a:ea typeface="Droid Arabic Kufi Bold"/>
              <a:cs typeface="Droid Arabic Kufi Bold"/>
              <a:sym typeface="Droid Arabic Kufi Bold"/>
            </a:endParaRPr>
          </a:p>
          <a:p>
            <a:pPr algn="ctr">
              <a:lnSpc>
                <a:spcPts val="4124"/>
              </a:lnSpc>
            </a:pPr>
            <a:r>
              <a:rPr lang="en-US" sz="4003" b="1">
                <a:solidFill>
                  <a:srgbClr val="000000"/>
                </a:solidFill>
                <a:latin typeface="Droid Arabic Naskh Bold"/>
                <a:ea typeface="Droid Arabic Naskh Bold"/>
                <a:cs typeface="Droid Arabic Naskh Bold"/>
                <a:sym typeface="Droid Arabic Naskh Bold"/>
              </a:rPr>
              <a:t>Weekly Monitoring:</a:t>
            </a:r>
          </a:p>
          <a:p>
            <a:pPr algn="ctr">
              <a:lnSpc>
                <a:spcPts val="3094"/>
              </a:lnSpc>
            </a:pPr>
            <a:endParaRPr lang="en-US" sz="4003" b="1">
              <a:solidFill>
                <a:srgbClr val="000000"/>
              </a:solidFill>
              <a:latin typeface="Droid Arabic Naskh Bold"/>
              <a:ea typeface="Droid Arabic Naskh Bold"/>
              <a:cs typeface="Droid Arabic Naskh Bold"/>
              <a:sym typeface="Droid Arabic Naskh Bold"/>
            </a:endParaRPr>
          </a:p>
          <a:p>
            <a:pPr algn="ctr">
              <a:lnSpc>
                <a:spcPts val="3094"/>
              </a:lnSpc>
            </a:pPr>
            <a:r>
              <a:rPr lang="en-US" sz="3004" b="1">
                <a:solidFill>
                  <a:srgbClr val="000000"/>
                </a:solidFill>
                <a:latin typeface="Droid Arabic Naskh Bold"/>
                <a:ea typeface="Droid Arabic Naskh Bold"/>
                <a:cs typeface="Droid Arabic Naskh Bold"/>
                <a:sym typeface="Droid Arabic Naskh Bold"/>
              </a:rPr>
              <a:t>Measure engagement and daily page growth rate.</a:t>
            </a:r>
          </a:p>
          <a:p>
            <a:pPr algn="ctr">
              <a:lnSpc>
                <a:spcPts val="3094"/>
              </a:lnSpc>
            </a:pPr>
            <a:endParaRPr lang="en-US" sz="3004" b="1">
              <a:solidFill>
                <a:srgbClr val="000000"/>
              </a:solidFill>
              <a:latin typeface="Droid Arabic Naskh Bold"/>
              <a:ea typeface="Droid Arabic Naskh Bold"/>
              <a:cs typeface="Droid Arabic Naskh Bold"/>
              <a:sym typeface="Droid Arabic Naskh Bold"/>
            </a:endParaRPr>
          </a:p>
          <a:p>
            <a:pPr algn="ctr">
              <a:lnSpc>
                <a:spcPts val="3094"/>
              </a:lnSpc>
            </a:pPr>
            <a:r>
              <a:rPr lang="en-US" sz="3004" b="1">
                <a:solidFill>
                  <a:srgbClr val="000000"/>
                </a:solidFill>
                <a:latin typeface="Droid Arabic Naskh Bold"/>
                <a:ea typeface="Droid Arabic Naskh Bold"/>
                <a:cs typeface="Droid Arabic Naskh Bold"/>
                <a:sym typeface="Droid Arabic Naskh Bold"/>
              </a:rPr>
              <a:t>Adjust content if the engagement rate falls below 5% for three consecutive days.</a:t>
            </a:r>
          </a:p>
          <a:p>
            <a:pPr algn="ctr">
              <a:lnSpc>
                <a:spcPts val="4124"/>
              </a:lnSpc>
            </a:pPr>
            <a:endParaRPr lang="en-US" sz="3004" b="1">
              <a:solidFill>
                <a:srgbClr val="000000"/>
              </a:solidFill>
              <a:latin typeface="Droid Arabic Naskh Bold"/>
              <a:ea typeface="Droid Arabic Naskh Bold"/>
              <a:cs typeface="Droid Arabic Naskh Bold"/>
              <a:sym typeface="Droid Arabic Naskh Bold"/>
            </a:endParaRPr>
          </a:p>
          <a:p>
            <a:pPr algn="ctr">
              <a:lnSpc>
                <a:spcPts val="4124"/>
              </a:lnSpc>
            </a:pPr>
            <a:r>
              <a:rPr lang="en-US" sz="4003" b="1">
                <a:solidFill>
                  <a:srgbClr val="000000"/>
                </a:solidFill>
                <a:latin typeface="Droid Arabic Naskh Bold"/>
                <a:ea typeface="Droid Arabic Naskh Bold"/>
                <a:cs typeface="Droid Arabic Naskh Bold"/>
                <a:sym typeface="Droid Arabic Naskh Bold"/>
              </a:rPr>
              <a:t>Monthly Reports:</a:t>
            </a:r>
          </a:p>
          <a:p>
            <a:pPr algn="ctr">
              <a:lnSpc>
                <a:spcPts val="3094"/>
              </a:lnSpc>
            </a:pPr>
            <a:endParaRPr lang="en-US" sz="4003" b="1">
              <a:solidFill>
                <a:srgbClr val="000000"/>
              </a:solidFill>
              <a:latin typeface="Droid Arabic Naskh Bold"/>
              <a:ea typeface="Droid Arabic Naskh Bold"/>
              <a:cs typeface="Droid Arabic Naskh Bold"/>
              <a:sym typeface="Droid Arabic Naskh Bold"/>
            </a:endParaRPr>
          </a:p>
          <a:p>
            <a:pPr algn="ctr">
              <a:lnSpc>
                <a:spcPts val="3094"/>
              </a:lnSpc>
            </a:pPr>
            <a:r>
              <a:rPr lang="en-US" sz="3004" b="1">
                <a:solidFill>
                  <a:srgbClr val="000000"/>
                </a:solidFill>
                <a:latin typeface="Droid Arabic Naskh Bold"/>
                <a:ea typeface="Droid Arabic Naskh Bold"/>
                <a:cs typeface="Droid Arabic Naskh Bold"/>
                <a:sym typeface="Droid Arabic Naskh Bold"/>
              </a:rPr>
              <a:t>Compare actual growth to the target number of followers (10,000).</a:t>
            </a:r>
          </a:p>
          <a:p>
            <a:pPr algn="ctr">
              <a:lnSpc>
                <a:spcPts val="3094"/>
              </a:lnSpc>
            </a:pPr>
            <a:endParaRPr lang="en-US" sz="3004" b="1">
              <a:solidFill>
                <a:srgbClr val="000000"/>
              </a:solidFill>
              <a:latin typeface="Droid Arabic Naskh Bold"/>
              <a:ea typeface="Droid Arabic Naskh Bold"/>
              <a:cs typeface="Droid Arabic Naskh Bold"/>
              <a:sym typeface="Droid Arabic Naskh Bold"/>
            </a:endParaRPr>
          </a:p>
          <a:p>
            <a:pPr algn="ctr">
              <a:lnSpc>
                <a:spcPts val="3094"/>
              </a:lnSpc>
            </a:pPr>
            <a:r>
              <a:rPr lang="en-US" sz="3004" b="1">
                <a:solidFill>
                  <a:srgbClr val="000000"/>
                </a:solidFill>
                <a:latin typeface="Droid Arabic Naskh Bold"/>
                <a:ea typeface="Droid Arabic Naskh Bold"/>
                <a:cs typeface="Droid Arabic Naskh Bold"/>
                <a:sym typeface="Droid Arabic Naskh Bold"/>
              </a:rPr>
              <a:t>Calculate cost per follower.</a:t>
            </a:r>
          </a:p>
          <a:p>
            <a:pPr algn="ctr">
              <a:lnSpc>
                <a:spcPts val="3094"/>
              </a:lnSpc>
            </a:pPr>
            <a:endParaRPr lang="en-US" sz="3004" b="1">
              <a:solidFill>
                <a:srgbClr val="000000"/>
              </a:solidFill>
              <a:latin typeface="Droid Arabic Naskh Bold"/>
              <a:ea typeface="Droid Arabic Naskh Bold"/>
              <a:cs typeface="Droid Arabic Naskh Bold"/>
              <a:sym typeface="Droid Arabic Naskh Bold"/>
            </a:endParaRPr>
          </a:p>
          <a:p>
            <a:pPr algn="ctr">
              <a:lnSpc>
                <a:spcPts val="3094"/>
              </a:lnSpc>
            </a:pPr>
            <a:r>
              <a:rPr lang="en-US" sz="3004" b="1">
                <a:solidFill>
                  <a:srgbClr val="000000"/>
                </a:solidFill>
                <a:latin typeface="Droid Arabic Naskh Bold"/>
                <a:ea typeface="Droid Arabic Naskh Bold"/>
                <a:cs typeface="Droid Arabic Naskh Bold"/>
                <a:sym typeface="Droid Arabic Naskh Bold"/>
              </a:rPr>
              <a:t>Analyze the top 10 performing posts to replicate their performance.</a:t>
            </a:r>
          </a:p>
          <a:p>
            <a:pPr algn="ctr">
              <a:lnSpc>
                <a:spcPts val="4124"/>
              </a:lnSpc>
            </a:pPr>
            <a:endParaRPr lang="en-US" sz="3004" b="1">
              <a:solidFill>
                <a:srgbClr val="000000"/>
              </a:solidFill>
              <a:latin typeface="Droid Arabic Naskh Bold"/>
              <a:ea typeface="Droid Arabic Naskh Bold"/>
              <a:cs typeface="Droid Arabic Naskh Bold"/>
              <a:sym typeface="Droid Arabic Naskh Bold"/>
            </a:endParaRPr>
          </a:p>
          <a:p>
            <a:pPr algn="ctr">
              <a:lnSpc>
                <a:spcPts val="4124"/>
              </a:lnSpc>
            </a:pPr>
            <a:r>
              <a:rPr lang="en-US" sz="4003" b="1">
                <a:solidFill>
                  <a:srgbClr val="000000"/>
                </a:solidFill>
                <a:latin typeface="Droid Arabic Naskh Bold"/>
                <a:ea typeface="Droid Arabic Naskh Bold"/>
                <a:cs typeface="Droid Arabic Naskh Bold"/>
                <a:sym typeface="Droid Arabic Naskh Bold"/>
              </a:rPr>
              <a:t>Key Performance Indicators (KPIs): Engagement Rate</a:t>
            </a:r>
          </a:p>
          <a:p>
            <a:pPr algn="ctr">
              <a:lnSpc>
                <a:spcPts val="3094"/>
              </a:lnSpc>
            </a:pPr>
            <a:endParaRPr lang="en-US" sz="4003" b="1">
              <a:solidFill>
                <a:srgbClr val="000000"/>
              </a:solidFill>
              <a:latin typeface="Droid Arabic Naskh Bold"/>
              <a:ea typeface="Droid Arabic Naskh Bold"/>
              <a:cs typeface="Droid Arabic Naskh Bold"/>
              <a:sym typeface="Droid Arabic Naskh Bold"/>
            </a:endParaRPr>
          </a:p>
          <a:p>
            <a:pPr algn="ctr">
              <a:lnSpc>
                <a:spcPts val="3094"/>
              </a:lnSpc>
            </a:pPr>
            <a:r>
              <a:rPr lang="en-US" sz="3004" b="1">
                <a:solidFill>
                  <a:srgbClr val="000000"/>
                </a:solidFill>
                <a:latin typeface="Droid Arabic Naskh Bold"/>
                <a:ea typeface="Droid Arabic Naskh Bold"/>
                <a:cs typeface="Droid Arabic Naskh Bold"/>
                <a:sym typeface="Droid Arabic Naskh Bold"/>
              </a:rPr>
              <a:t>WhatsApp and Telegram conversion rates.</a:t>
            </a:r>
          </a:p>
          <a:p>
            <a:pPr algn="ctr">
              <a:lnSpc>
                <a:spcPts val="3094"/>
              </a:lnSpc>
            </a:pPr>
            <a:endParaRPr lang="en-US" sz="3004" b="1">
              <a:solidFill>
                <a:srgbClr val="000000"/>
              </a:solidFill>
              <a:latin typeface="Droid Arabic Naskh Bold"/>
              <a:ea typeface="Droid Arabic Naskh Bold"/>
              <a:cs typeface="Droid Arabic Naskh Bold"/>
              <a:sym typeface="Droid Arabic Naskh Bold"/>
            </a:endParaRPr>
          </a:p>
          <a:p>
            <a:pPr algn="ctr">
              <a:lnSpc>
                <a:spcPts val="3094"/>
              </a:lnSpc>
            </a:pPr>
            <a:r>
              <a:rPr lang="en-US" sz="3004" b="1">
                <a:solidFill>
                  <a:srgbClr val="000000"/>
                </a:solidFill>
                <a:latin typeface="Droid Arabic Naskh Bold"/>
                <a:ea typeface="Droid Arabic Naskh Bold"/>
                <a:cs typeface="Droid Arabic Naskh Bold"/>
                <a:sym typeface="Droid Arabic Naskh Bold"/>
              </a:rPr>
              <a:t>Click-Through Rate (CTR).</a:t>
            </a:r>
          </a:p>
          <a:p>
            <a:pPr algn="ctr">
              <a:lnSpc>
                <a:spcPts val="3094"/>
              </a:lnSpc>
            </a:pPr>
            <a:endParaRPr lang="en-US" sz="3004" b="1">
              <a:solidFill>
                <a:srgbClr val="000000"/>
              </a:solidFill>
              <a:latin typeface="Droid Arabic Naskh Bold"/>
              <a:ea typeface="Droid Arabic Naskh Bold"/>
              <a:cs typeface="Droid Arabic Naskh Bold"/>
              <a:sym typeface="Droid Arabic Naskh Bold"/>
            </a:endParaRPr>
          </a:p>
          <a:p>
            <a:pPr algn="ctr">
              <a:lnSpc>
                <a:spcPts val="3094"/>
              </a:lnSpc>
              <a:spcBef>
                <a:spcPct val="0"/>
              </a:spcBef>
            </a:pPr>
            <a:r>
              <a:rPr lang="en-US" sz="3004" b="1">
                <a:solidFill>
                  <a:srgbClr val="000000"/>
                </a:solidFill>
                <a:latin typeface="Droid Arabic Naskh Bold"/>
                <a:ea typeface="Droid Arabic Naskh Bold"/>
                <a:cs typeface="Droid Arabic Naskh Bold"/>
                <a:sym typeface="Droid Arabic Naskh Bold"/>
              </a:rPr>
              <a:t>Follower growth and monthly sales.</a:t>
            </a:r>
          </a:p>
          <a:p>
            <a:pPr algn="ctr">
              <a:lnSpc>
                <a:spcPts val="8243"/>
              </a:lnSpc>
              <a:spcBef>
                <a:spcPct val="0"/>
              </a:spcBef>
            </a:pPr>
            <a:endParaRPr lang="en-US" sz="3004" b="1">
              <a:solidFill>
                <a:srgbClr val="000000"/>
              </a:solidFill>
              <a:latin typeface="Droid Arabic Naskh Bold"/>
              <a:ea typeface="Droid Arabic Naskh Bold"/>
              <a:cs typeface="Droid Arabic Naskh Bold"/>
              <a:sym typeface="Droid Arabic Naskh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sp>
        <p:nvSpPr>
          <p:cNvPr id="3" name="TextBox 3"/>
          <p:cNvSpPr txBox="1"/>
          <p:nvPr/>
        </p:nvSpPr>
        <p:spPr>
          <a:xfrm>
            <a:off x="0" y="76329"/>
            <a:ext cx="18288000" cy="10210671"/>
          </a:xfrm>
          <a:prstGeom prst="rect">
            <a:avLst/>
          </a:prstGeom>
        </p:spPr>
        <p:txBody>
          <a:bodyPr lIns="0" tIns="0" rIns="0" bIns="0" rtlCol="0" anchor="t">
            <a:spAutoFit/>
          </a:bodyPr>
          <a:lstStyle/>
          <a:p>
            <a:pPr algn="l">
              <a:lnSpc>
                <a:spcPts val="5957"/>
              </a:lnSpc>
            </a:pPr>
            <a:r>
              <a:rPr lang="en-US" sz="5049" b="1">
                <a:solidFill>
                  <a:srgbClr val="3E3E3E"/>
                </a:solidFill>
                <a:latin typeface="Droid Arabic Kufi Bold"/>
                <a:ea typeface="Droid Arabic Kufi Bold"/>
                <a:cs typeface="Droid Arabic Kufi Bold"/>
                <a:sym typeface="Droid Arabic Kufi Bold"/>
              </a:rPr>
              <a:t>Email Marketing Strategy</a:t>
            </a:r>
          </a:p>
          <a:p>
            <a:pPr algn="l">
              <a:lnSpc>
                <a:spcPts val="4777"/>
              </a:lnSpc>
            </a:pPr>
            <a:r>
              <a:rPr lang="en-US" sz="4049" b="1">
                <a:solidFill>
                  <a:srgbClr val="3E3E3E"/>
                </a:solidFill>
                <a:latin typeface="Droid Arabic Naskh Bold"/>
                <a:ea typeface="Droid Arabic Naskh Bold"/>
                <a:cs typeface="Droid Arabic Naskh Bold"/>
                <a:sym typeface="Droid Arabic Naskh Bold"/>
              </a:rPr>
              <a:t>1. Segmentation:</a:t>
            </a:r>
          </a:p>
          <a:p>
            <a:pPr algn="l">
              <a:lnSpc>
                <a:spcPts val="3598"/>
              </a:lnSpc>
            </a:pPr>
            <a:r>
              <a:rPr lang="en-US" sz="3049" b="1">
                <a:solidFill>
                  <a:srgbClr val="3E3E3E"/>
                </a:solidFill>
                <a:latin typeface="Droid Arabic Naskh Bold"/>
                <a:ea typeface="Droid Arabic Naskh Bold"/>
                <a:cs typeface="Droid Arabic Naskh Bold"/>
                <a:sym typeface="Droid Arabic Naskh Bold"/>
              </a:rPr>
              <a:t>The email list will be divided into three main categories to tailor messages and offers to each customer's needs:</a:t>
            </a:r>
          </a:p>
          <a:p>
            <a:pPr algn="l">
              <a:lnSpc>
                <a:spcPts val="3598"/>
              </a:lnSpc>
            </a:pPr>
            <a:r>
              <a:rPr lang="en-US" sz="3049" b="1">
                <a:solidFill>
                  <a:srgbClr val="3E3E3E"/>
                </a:solidFill>
                <a:latin typeface="Droid Arabic Naskh Bold"/>
                <a:ea typeface="Droid Arabic Naskh Bold"/>
                <a:cs typeface="Droid Arabic Naskh Bold"/>
                <a:sym typeface="Droid Arabic Naskh Bold"/>
              </a:rPr>
              <a:t>Beauty and skincare products / Household cleaning products / Baby care products</a:t>
            </a:r>
          </a:p>
          <a:p>
            <a:pPr algn="l">
              <a:lnSpc>
                <a:spcPts val="3598"/>
              </a:lnSpc>
            </a:pPr>
            <a:r>
              <a:rPr lang="en-US" sz="3049" b="1">
                <a:solidFill>
                  <a:srgbClr val="3E3E3E"/>
                </a:solidFill>
                <a:latin typeface="Droid Arabic Naskh Bold"/>
                <a:ea typeface="Droid Arabic Naskh Bold"/>
                <a:cs typeface="Droid Arabic Naskh Bold"/>
                <a:sym typeface="Droid Arabic Naskh Bold"/>
              </a:rPr>
              <a:t>This segmentation aims to increase engagement and conversion rates by tailoring content and offers to specific interests.</a:t>
            </a:r>
          </a:p>
          <a:p>
            <a:pPr algn="l">
              <a:lnSpc>
                <a:spcPts val="4777"/>
              </a:lnSpc>
            </a:pPr>
            <a:endParaRPr lang="en-US" sz="3049" b="1">
              <a:solidFill>
                <a:srgbClr val="3E3E3E"/>
              </a:solidFill>
              <a:latin typeface="Droid Arabic Naskh Bold"/>
              <a:ea typeface="Droid Arabic Naskh Bold"/>
              <a:cs typeface="Droid Arabic Naskh Bold"/>
              <a:sym typeface="Droid Arabic Naskh Bold"/>
            </a:endParaRPr>
          </a:p>
          <a:p>
            <a:pPr algn="l">
              <a:lnSpc>
                <a:spcPts val="4777"/>
              </a:lnSpc>
            </a:pPr>
            <a:r>
              <a:rPr lang="en-US" sz="4049" b="1">
                <a:solidFill>
                  <a:srgbClr val="3E3E3E"/>
                </a:solidFill>
                <a:latin typeface="Droid Arabic Naskh Bold"/>
                <a:ea typeface="Droid Arabic Naskh Bold"/>
                <a:cs typeface="Droid Arabic Naskh Bold"/>
                <a:sym typeface="Droid Arabic Naskh Bold"/>
              </a:rPr>
              <a:t>2. Welcome Series:</a:t>
            </a:r>
          </a:p>
          <a:p>
            <a:pPr algn="l">
              <a:lnSpc>
                <a:spcPts val="3598"/>
              </a:lnSpc>
            </a:pPr>
            <a:r>
              <a:rPr lang="en-US" sz="3049" b="1">
                <a:solidFill>
                  <a:srgbClr val="3E3E3E"/>
                </a:solidFill>
                <a:latin typeface="Droid Arabic Naskh Bold"/>
                <a:ea typeface="Droid Arabic Naskh Bold"/>
                <a:cs typeface="Droid Arabic Naskh Bold"/>
                <a:sym typeface="Droid Arabic Naskh Bold"/>
              </a:rPr>
              <a:t>A welcome series of three automated messages will be sent immediately upon a new customer's subscription:</a:t>
            </a:r>
          </a:p>
          <a:p>
            <a:pPr algn="l">
              <a:lnSpc>
                <a:spcPts val="3598"/>
              </a:lnSpc>
            </a:pPr>
            <a:r>
              <a:rPr lang="en-US" sz="3049" b="1">
                <a:solidFill>
                  <a:srgbClr val="3E3E3E"/>
                </a:solidFill>
                <a:latin typeface="Droid Arabic Naskh Bold"/>
                <a:ea typeface="Droid Arabic Naskh Bold"/>
                <a:cs typeface="Droid Arabic Naskh Bold"/>
                <a:sym typeface="Droid Arabic Naskh Bold"/>
              </a:rPr>
              <a:t>Message 1: An introduction to the Tayba Store brand and its values ​​of quality and trust.</a:t>
            </a:r>
          </a:p>
          <a:p>
            <a:pPr algn="l">
              <a:lnSpc>
                <a:spcPts val="3598"/>
              </a:lnSpc>
            </a:pPr>
            <a:r>
              <a:rPr lang="en-US" sz="3049" b="1">
                <a:solidFill>
                  <a:srgbClr val="3E3E3E"/>
                </a:solidFill>
                <a:latin typeface="Droid Arabic Naskh Bold"/>
                <a:ea typeface="Droid Arabic Naskh Bold"/>
                <a:cs typeface="Droid Arabic Naskh Bold"/>
                <a:sym typeface="Droid Arabic Naskh Bold"/>
              </a:rPr>
              <a:t>Message 2: Highlighting the unique selling proposition (USP) of being a comprehensive family store in Banha.</a:t>
            </a:r>
          </a:p>
          <a:p>
            <a:pPr algn="l">
              <a:lnSpc>
                <a:spcPts val="3598"/>
              </a:lnSpc>
            </a:pPr>
            <a:r>
              <a:rPr lang="en-US" sz="3049" b="1">
                <a:solidFill>
                  <a:srgbClr val="3E3E3E"/>
                </a:solidFill>
                <a:latin typeface="Droid Arabic Naskh Bold"/>
                <a:ea typeface="Droid Arabic Naskh Bold"/>
                <a:cs typeface="Droid Arabic Naskh Bold"/>
                <a:sym typeface="Droid Arabic Naskh Bold"/>
              </a:rPr>
              <a:t>Message 3: Offering a 10% welcome discount on the first purchase via WhatsApp or Telegram.</a:t>
            </a:r>
          </a:p>
          <a:p>
            <a:pPr algn="l">
              <a:lnSpc>
                <a:spcPts val="3598"/>
              </a:lnSpc>
            </a:pPr>
            <a:endParaRPr lang="en-US" sz="3049" b="1">
              <a:solidFill>
                <a:srgbClr val="3E3E3E"/>
              </a:solidFill>
              <a:latin typeface="Droid Arabic Naskh Bold"/>
              <a:ea typeface="Droid Arabic Naskh Bold"/>
              <a:cs typeface="Droid Arabic Naskh Bold"/>
              <a:sym typeface="Droid Arabic Naskh Bold"/>
            </a:endParaRPr>
          </a:p>
          <a:p>
            <a:pPr algn="l">
              <a:lnSpc>
                <a:spcPts val="4777"/>
              </a:lnSpc>
            </a:pPr>
            <a:r>
              <a:rPr lang="en-US" sz="4049" b="1">
                <a:solidFill>
                  <a:srgbClr val="3E3E3E"/>
                </a:solidFill>
                <a:latin typeface="Droid Arabic Naskh Bold"/>
                <a:ea typeface="Droid Arabic Naskh Bold"/>
                <a:cs typeface="Droid Arabic Naskh Bold"/>
                <a:sym typeface="Droid Arabic Naskh Bold"/>
              </a:rPr>
              <a:t>3. Abandoned Cart Recovery:</a:t>
            </a:r>
          </a:p>
          <a:p>
            <a:pPr algn="l">
              <a:lnSpc>
                <a:spcPts val="3598"/>
              </a:lnSpc>
            </a:pPr>
            <a:r>
              <a:rPr lang="en-US" sz="3049" b="1">
                <a:solidFill>
                  <a:srgbClr val="3E3E3E"/>
                </a:solidFill>
                <a:latin typeface="Droid Arabic Naskh Bold"/>
                <a:ea typeface="Droid Arabic Naskh Bold"/>
                <a:cs typeface="Droid Arabic Naskh Bold"/>
                <a:sym typeface="Droid Arabic Naskh Bold"/>
              </a:rPr>
              <a:t>If a customer leaves their items in the cart without completing the purchase, a follow-up message will be sent after 6 hours containing a reminder of the items and possibly a small incentive (discount or free delivery) to encourage them to complete the order.</a:t>
            </a:r>
          </a:p>
          <a:p>
            <a:pPr algn="ctr">
              <a:lnSpc>
                <a:spcPts val="2772"/>
              </a:lnSpc>
            </a:pPr>
            <a:endParaRPr lang="en-US" sz="3049" b="1">
              <a:solidFill>
                <a:srgbClr val="3E3E3E"/>
              </a:solidFill>
              <a:latin typeface="Droid Arabic Naskh Bold"/>
              <a:ea typeface="Droid Arabic Naskh Bold"/>
              <a:cs typeface="Droid Arabic Naskh Bold"/>
              <a:sym typeface="Droid Arabic Naskh 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sp>
        <p:nvSpPr>
          <p:cNvPr id="3" name="Freeform 3"/>
          <p:cNvSpPr/>
          <p:nvPr/>
        </p:nvSpPr>
        <p:spPr>
          <a:xfrm>
            <a:off x="16998271" y="5169622"/>
            <a:ext cx="390337" cy="389849"/>
          </a:xfrm>
          <a:custGeom>
            <a:avLst/>
            <a:gdLst/>
            <a:ahLst/>
            <a:cxnLst/>
            <a:rect l="l" t="t" r="r" b="b"/>
            <a:pathLst>
              <a:path w="390337" h="389849">
                <a:moveTo>
                  <a:pt x="0" y="0"/>
                </a:moveTo>
                <a:lnTo>
                  <a:pt x="390337" y="0"/>
                </a:lnTo>
                <a:lnTo>
                  <a:pt x="390337" y="389849"/>
                </a:lnTo>
                <a:lnTo>
                  <a:pt x="0" y="389849"/>
                </a:lnTo>
                <a:lnTo>
                  <a:pt x="0" y="0"/>
                </a:lnTo>
                <a:close/>
              </a:path>
            </a:pathLst>
          </a:custGeom>
          <a:blipFill>
            <a:blip r:embed="rId3"/>
            <a:stretch>
              <a:fillRect/>
            </a:stretch>
          </a:blipFill>
        </p:spPr>
      </p:sp>
      <p:sp>
        <p:nvSpPr>
          <p:cNvPr id="4" name="Freeform 4"/>
          <p:cNvSpPr/>
          <p:nvPr/>
        </p:nvSpPr>
        <p:spPr>
          <a:xfrm>
            <a:off x="0" y="9930484"/>
            <a:ext cx="356962" cy="356516"/>
          </a:xfrm>
          <a:custGeom>
            <a:avLst/>
            <a:gdLst/>
            <a:ahLst/>
            <a:cxnLst/>
            <a:rect l="l" t="t" r="r" b="b"/>
            <a:pathLst>
              <a:path w="356962" h="356516">
                <a:moveTo>
                  <a:pt x="0" y="0"/>
                </a:moveTo>
                <a:lnTo>
                  <a:pt x="356962" y="0"/>
                </a:lnTo>
                <a:lnTo>
                  <a:pt x="356962" y="356516"/>
                </a:lnTo>
                <a:lnTo>
                  <a:pt x="0" y="356516"/>
                </a:lnTo>
                <a:lnTo>
                  <a:pt x="0" y="0"/>
                </a:lnTo>
                <a:close/>
              </a:path>
            </a:pathLst>
          </a:custGeom>
          <a:blipFill>
            <a:blip r:embed="rId4"/>
            <a:stretch>
              <a:fillRect/>
            </a:stretch>
          </a:blipFill>
          <a:ln cap="sq">
            <a:noFill/>
            <a:prstDash val="solid"/>
            <a:miter/>
          </a:ln>
        </p:spPr>
      </p:sp>
      <p:sp>
        <p:nvSpPr>
          <p:cNvPr id="5" name="Freeform 5"/>
          <p:cNvSpPr/>
          <p:nvPr/>
        </p:nvSpPr>
        <p:spPr>
          <a:xfrm>
            <a:off x="-10300" y="72570"/>
            <a:ext cx="367262" cy="366803"/>
          </a:xfrm>
          <a:custGeom>
            <a:avLst/>
            <a:gdLst/>
            <a:ahLst/>
            <a:cxnLst/>
            <a:rect l="l" t="t" r="r" b="b"/>
            <a:pathLst>
              <a:path w="367262" h="366803">
                <a:moveTo>
                  <a:pt x="0" y="0"/>
                </a:moveTo>
                <a:lnTo>
                  <a:pt x="367262" y="0"/>
                </a:lnTo>
                <a:lnTo>
                  <a:pt x="367262" y="366803"/>
                </a:lnTo>
                <a:lnTo>
                  <a:pt x="0" y="366803"/>
                </a:lnTo>
                <a:lnTo>
                  <a:pt x="0" y="0"/>
                </a:lnTo>
                <a:close/>
              </a:path>
            </a:pathLst>
          </a:custGeom>
          <a:blipFill>
            <a:blip r:embed="rId5"/>
            <a:stretch>
              <a:fillRect/>
            </a:stretch>
          </a:blipFill>
        </p:spPr>
      </p:sp>
      <p:sp>
        <p:nvSpPr>
          <p:cNvPr id="6" name="Freeform 6"/>
          <p:cNvSpPr/>
          <p:nvPr/>
        </p:nvSpPr>
        <p:spPr>
          <a:xfrm rot="1847939">
            <a:off x="16665707" y="-33730"/>
            <a:ext cx="2253124" cy="1822214"/>
          </a:xfrm>
          <a:custGeom>
            <a:avLst/>
            <a:gdLst/>
            <a:ahLst/>
            <a:cxnLst/>
            <a:rect l="l" t="t" r="r" b="b"/>
            <a:pathLst>
              <a:path w="2253124" h="1822214">
                <a:moveTo>
                  <a:pt x="0" y="0"/>
                </a:moveTo>
                <a:lnTo>
                  <a:pt x="2253124" y="0"/>
                </a:lnTo>
                <a:lnTo>
                  <a:pt x="2253124" y="1822214"/>
                </a:lnTo>
                <a:lnTo>
                  <a:pt x="0" y="1822214"/>
                </a:lnTo>
                <a:lnTo>
                  <a:pt x="0" y="0"/>
                </a:lnTo>
                <a:close/>
              </a:path>
            </a:pathLst>
          </a:custGeom>
          <a:blipFill>
            <a:blip r:embed="rId6"/>
            <a:stretch>
              <a:fillRect/>
            </a:stretch>
          </a:blipFill>
        </p:spPr>
      </p:sp>
      <p:sp>
        <p:nvSpPr>
          <p:cNvPr id="7" name="Freeform 7"/>
          <p:cNvSpPr/>
          <p:nvPr/>
        </p:nvSpPr>
        <p:spPr>
          <a:xfrm>
            <a:off x="16536556" y="6790015"/>
            <a:ext cx="2577708" cy="2548709"/>
          </a:xfrm>
          <a:custGeom>
            <a:avLst/>
            <a:gdLst/>
            <a:ahLst/>
            <a:cxnLst/>
            <a:rect l="l" t="t" r="r" b="b"/>
            <a:pathLst>
              <a:path w="2577708" h="2548709">
                <a:moveTo>
                  <a:pt x="0" y="0"/>
                </a:moveTo>
                <a:lnTo>
                  <a:pt x="2577708" y="0"/>
                </a:lnTo>
                <a:lnTo>
                  <a:pt x="2577708" y="2548709"/>
                </a:lnTo>
                <a:lnTo>
                  <a:pt x="0" y="2548709"/>
                </a:lnTo>
                <a:lnTo>
                  <a:pt x="0" y="0"/>
                </a:lnTo>
                <a:close/>
              </a:path>
            </a:pathLst>
          </a:custGeom>
          <a:blipFill>
            <a:blip r:embed="rId7"/>
            <a:stretch>
              <a:fillRect/>
            </a:stretch>
          </a:blipFill>
          <a:ln cap="sq">
            <a:noFill/>
            <a:prstDash val="solid"/>
            <a:miter/>
          </a:ln>
        </p:spPr>
      </p:sp>
      <p:sp>
        <p:nvSpPr>
          <p:cNvPr id="8" name="Freeform 8"/>
          <p:cNvSpPr/>
          <p:nvPr/>
        </p:nvSpPr>
        <p:spPr>
          <a:xfrm>
            <a:off x="17388608" y="3277628"/>
            <a:ext cx="1949194" cy="1949194"/>
          </a:xfrm>
          <a:custGeom>
            <a:avLst/>
            <a:gdLst/>
            <a:ahLst/>
            <a:cxnLst/>
            <a:rect l="l" t="t" r="r" b="b"/>
            <a:pathLst>
              <a:path w="1949194" h="1949194">
                <a:moveTo>
                  <a:pt x="0" y="0"/>
                </a:moveTo>
                <a:lnTo>
                  <a:pt x="1949194" y="0"/>
                </a:lnTo>
                <a:lnTo>
                  <a:pt x="1949194" y="1949195"/>
                </a:lnTo>
                <a:lnTo>
                  <a:pt x="0" y="1949195"/>
                </a:lnTo>
                <a:lnTo>
                  <a:pt x="0" y="0"/>
                </a:lnTo>
                <a:close/>
              </a:path>
            </a:pathLst>
          </a:custGeom>
          <a:blipFill>
            <a:blip r:embed="rId8"/>
            <a:stretch>
              <a:fillRect/>
            </a:stretch>
          </a:blipFill>
        </p:spPr>
      </p:sp>
      <p:sp>
        <p:nvSpPr>
          <p:cNvPr id="9" name="TextBox 9"/>
          <p:cNvSpPr txBox="1"/>
          <p:nvPr/>
        </p:nvSpPr>
        <p:spPr>
          <a:xfrm>
            <a:off x="-233849" y="-133350"/>
            <a:ext cx="18288000" cy="10350500"/>
          </a:xfrm>
          <a:prstGeom prst="rect">
            <a:avLst/>
          </a:prstGeom>
        </p:spPr>
        <p:txBody>
          <a:bodyPr lIns="0" tIns="0" rIns="0" bIns="0" rtlCol="0" anchor="t">
            <a:spAutoFit/>
          </a:bodyPr>
          <a:lstStyle/>
          <a:p>
            <a:pPr algn="ctr">
              <a:lnSpc>
                <a:spcPts val="9799"/>
              </a:lnSpc>
              <a:spcBef>
                <a:spcPct val="0"/>
              </a:spcBef>
            </a:pPr>
            <a:r>
              <a:rPr lang="en-US" sz="6999" b="1">
                <a:solidFill>
                  <a:srgbClr val="3E3E3E"/>
                </a:solidFill>
                <a:latin typeface="Droid Arabic Kufi Bold"/>
                <a:ea typeface="Droid Arabic Kufi Bold"/>
                <a:cs typeface="Droid Arabic Kufi Bold"/>
                <a:sym typeface="Droid Arabic Kufi Bold"/>
              </a:rPr>
              <a:t>Current Situation Analysis</a:t>
            </a:r>
          </a:p>
          <a:p>
            <a:pPr algn="ctr">
              <a:lnSpc>
                <a:spcPts val="6999"/>
              </a:lnSpc>
              <a:spcBef>
                <a:spcPct val="0"/>
              </a:spcBef>
            </a:pPr>
            <a:r>
              <a:rPr lang="en-US" sz="4999" b="1">
                <a:solidFill>
                  <a:srgbClr val="3E3E3E"/>
                </a:solidFill>
                <a:latin typeface="Droid Arabic Naskh Bold"/>
                <a:ea typeface="Droid Arabic Naskh Bold"/>
                <a:cs typeface="Droid Arabic Naskh Bold"/>
                <a:sym typeface="Droid Arabic Naskh Bold"/>
              </a:rPr>
              <a:t>1. Project Overview:</a:t>
            </a:r>
          </a:p>
          <a:p>
            <a:pPr algn="ctr">
              <a:lnSpc>
                <a:spcPts val="4199"/>
              </a:lnSpc>
              <a:spcBef>
                <a:spcPct val="0"/>
              </a:spcBef>
            </a:pPr>
            <a:r>
              <a:rPr lang="en-US" sz="2999" b="1">
                <a:solidFill>
                  <a:srgbClr val="3E3E3E"/>
                </a:solidFill>
                <a:latin typeface="Droid Arabic Naskh Bold"/>
                <a:ea typeface="Droid Arabic Naskh Bold"/>
                <a:cs typeface="Droid Arabic Naskh Bold"/>
                <a:sym typeface="Droid Arabic Naskh Bold"/>
              </a:rPr>
              <a:t>Tayba Store is a local store in Banha specializing in beauty, cleaning, and baby care products, under the slogan "The One-Stop Family Store – The Best for Your Family Every Day."</a:t>
            </a:r>
          </a:p>
          <a:p>
            <a:pPr algn="ctr">
              <a:lnSpc>
                <a:spcPts val="4199"/>
              </a:lnSpc>
              <a:spcBef>
                <a:spcPct val="0"/>
              </a:spcBef>
            </a:pPr>
            <a:r>
              <a:rPr lang="en-US" sz="2999" b="1">
                <a:solidFill>
                  <a:srgbClr val="3E3E3E"/>
                </a:solidFill>
                <a:latin typeface="Droid Arabic Naskh Bold"/>
                <a:ea typeface="Droid Arabic Naskh Bold"/>
                <a:cs typeface="Droid Arabic Naskh Bold"/>
                <a:sym typeface="Droid Arabic Naskh Bold"/>
              </a:rPr>
              <a:t>The store relies on digital marketing via WhatsApp, Facebook, Instagram, TikTok, and Telegram to reach its local audience, with a particular focus on direct communication and offering customized deals for Banha families.</a:t>
            </a:r>
          </a:p>
          <a:p>
            <a:pPr algn="ctr">
              <a:lnSpc>
                <a:spcPts val="4199"/>
              </a:lnSpc>
              <a:spcBef>
                <a:spcPct val="0"/>
              </a:spcBef>
            </a:pPr>
            <a:endParaRPr lang="en-US" sz="2999" b="1">
              <a:solidFill>
                <a:srgbClr val="3E3E3E"/>
              </a:solidFill>
              <a:latin typeface="Droid Arabic Naskh Bold"/>
              <a:ea typeface="Droid Arabic Naskh Bold"/>
              <a:cs typeface="Droid Arabic Naskh Bold"/>
              <a:sym typeface="Droid Arabic Naskh Bold"/>
            </a:endParaRPr>
          </a:p>
          <a:p>
            <a:pPr algn="ctr">
              <a:lnSpc>
                <a:spcPts val="6999"/>
              </a:lnSpc>
              <a:spcBef>
                <a:spcPct val="0"/>
              </a:spcBef>
            </a:pPr>
            <a:r>
              <a:rPr lang="en-US" sz="4999" b="1">
                <a:solidFill>
                  <a:srgbClr val="3E3E3E"/>
                </a:solidFill>
                <a:latin typeface="Droid Arabic Naskh Bold"/>
                <a:ea typeface="Droid Arabic Naskh Bold"/>
                <a:cs typeface="Droid Arabic Naskh Bold"/>
                <a:sym typeface="Droid Arabic Naskh Bold"/>
              </a:rPr>
              <a:t>2. Internal Analysis:</a:t>
            </a:r>
          </a:p>
          <a:p>
            <a:pPr algn="ctr">
              <a:lnSpc>
                <a:spcPts val="4199"/>
              </a:lnSpc>
              <a:spcBef>
                <a:spcPct val="0"/>
              </a:spcBef>
            </a:pPr>
            <a:r>
              <a:rPr lang="en-US" sz="2999" b="1">
                <a:solidFill>
                  <a:srgbClr val="3E3E3E"/>
                </a:solidFill>
                <a:latin typeface="Droid Arabic Naskh Bold"/>
                <a:ea typeface="Droid Arabic Naskh Bold"/>
                <a:cs typeface="Droid Arabic Naskh Bold"/>
                <a:sym typeface="Droid Arabic Naskh Bold"/>
              </a:rPr>
              <a:t>Strengths:</a:t>
            </a:r>
          </a:p>
          <a:p>
            <a:pPr algn="ctr">
              <a:lnSpc>
                <a:spcPts val="4199"/>
              </a:lnSpc>
              <a:spcBef>
                <a:spcPct val="0"/>
              </a:spcBef>
            </a:pPr>
            <a:r>
              <a:rPr lang="en-US" sz="2999" b="1">
                <a:solidFill>
                  <a:srgbClr val="3E3E3E"/>
                </a:solidFill>
                <a:latin typeface="Droid Arabic Naskh Bold"/>
                <a:ea typeface="Droid Arabic Naskh Bold"/>
                <a:cs typeface="Droid Arabic Naskh Bold"/>
                <a:sym typeface="Droid Arabic Naskh Bold"/>
              </a:rPr>
              <a:t>Provides a convenient shopping experience through direct communication via social media.</a:t>
            </a:r>
          </a:p>
          <a:p>
            <a:pPr algn="ctr">
              <a:lnSpc>
                <a:spcPts val="4199"/>
              </a:lnSpc>
              <a:spcBef>
                <a:spcPct val="0"/>
              </a:spcBef>
            </a:pPr>
            <a:r>
              <a:rPr lang="en-US" sz="2999" b="1">
                <a:solidFill>
                  <a:srgbClr val="3E3E3E"/>
                </a:solidFill>
                <a:latin typeface="Droid Arabic Naskh Bold"/>
                <a:ea typeface="Droid Arabic Naskh Bold"/>
                <a:cs typeface="Droid Arabic Naskh Bold"/>
                <a:sym typeface="Droid Arabic Naskh Bold"/>
              </a:rPr>
              <a:t>A wide variety of products that meet the needs of all family members (beauty, cleaning, and baby care).</a:t>
            </a:r>
          </a:p>
          <a:p>
            <a:pPr algn="ctr">
              <a:lnSpc>
                <a:spcPts val="4199"/>
              </a:lnSpc>
              <a:spcBef>
                <a:spcPct val="0"/>
              </a:spcBef>
            </a:pPr>
            <a:r>
              <a:rPr lang="en-US" sz="2999" b="1">
                <a:solidFill>
                  <a:srgbClr val="3E3E3E"/>
                </a:solidFill>
                <a:latin typeface="Droid Arabic Naskh Bold"/>
                <a:ea typeface="Droid Arabic Naskh Bold"/>
                <a:cs typeface="Droid Arabic Naskh Bold"/>
                <a:sym typeface="Droid Arabic Naskh Bold"/>
              </a:rPr>
              <a:t>High local trust from existing customers in product quality and after-sales service.</a:t>
            </a:r>
          </a:p>
          <a:p>
            <a:pPr algn="ctr">
              <a:lnSpc>
                <a:spcPts val="4199"/>
              </a:lnSpc>
              <a:spcBef>
                <a:spcPct val="0"/>
              </a:spcBef>
            </a:pPr>
            <a:r>
              <a:rPr lang="en-US" sz="2999" b="1">
                <a:solidFill>
                  <a:srgbClr val="3E3E3E"/>
                </a:solidFill>
                <a:latin typeface="Droid Arabic Naskh Bold"/>
                <a:ea typeface="Droid Arabic Naskh Bold"/>
                <a:cs typeface="Droid Arabic Naskh Bold"/>
                <a:sym typeface="Droid Arabic Naskh Bold"/>
              </a:rPr>
              <a:t>Weaknesses:</a:t>
            </a:r>
          </a:p>
          <a:p>
            <a:pPr algn="ctr">
              <a:lnSpc>
                <a:spcPts val="4199"/>
              </a:lnSpc>
              <a:spcBef>
                <a:spcPct val="0"/>
              </a:spcBef>
            </a:pPr>
            <a:r>
              <a:rPr lang="en-US" sz="2999" b="1">
                <a:solidFill>
                  <a:srgbClr val="3E3E3E"/>
                </a:solidFill>
                <a:latin typeface="Droid Arabic Naskh Bold"/>
                <a:ea typeface="Droid Arabic Naskh Bold"/>
                <a:cs typeface="Droid Arabic Naskh Bold"/>
                <a:sym typeface="Droid Arabic Naskh Bold"/>
              </a:rPr>
              <a:t>Low brand awareness outside of regular customers in Banha.</a:t>
            </a:r>
          </a:p>
          <a:p>
            <a:pPr algn="ctr">
              <a:lnSpc>
                <a:spcPts val="4199"/>
              </a:lnSpc>
              <a:spcBef>
                <a:spcPct val="0"/>
              </a:spcBef>
            </a:pPr>
            <a:r>
              <a:rPr lang="en-US" sz="2999" b="1">
                <a:solidFill>
                  <a:srgbClr val="3E3E3E"/>
                </a:solidFill>
                <a:latin typeface="Droid Arabic Naskh Bold"/>
                <a:ea typeface="Droid Arabic Naskh Bold"/>
                <a:cs typeface="Droid Arabic Naskh Bold"/>
                <a:sym typeface="Droid Arabic Naskh Bold"/>
              </a:rPr>
              <a:t>Reliance on organic marketing efforts without consistent digital campaigns.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sp>
        <p:nvSpPr>
          <p:cNvPr id="3" name="Freeform 3"/>
          <p:cNvSpPr/>
          <p:nvPr/>
        </p:nvSpPr>
        <p:spPr>
          <a:xfrm>
            <a:off x="-4838837" y="5727408"/>
            <a:ext cx="6707107" cy="6852727"/>
          </a:xfrm>
          <a:custGeom>
            <a:avLst/>
            <a:gdLst/>
            <a:ahLst/>
            <a:cxnLst/>
            <a:rect l="l" t="t" r="r" b="b"/>
            <a:pathLst>
              <a:path w="6707107" h="6852727">
                <a:moveTo>
                  <a:pt x="0" y="0"/>
                </a:moveTo>
                <a:lnTo>
                  <a:pt x="6707107" y="0"/>
                </a:lnTo>
                <a:lnTo>
                  <a:pt x="6707107" y="6852728"/>
                </a:lnTo>
                <a:lnTo>
                  <a:pt x="0" y="6852728"/>
                </a:lnTo>
                <a:lnTo>
                  <a:pt x="0" y="0"/>
                </a:lnTo>
                <a:close/>
              </a:path>
            </a:pathLst>
          </a:custGeom>
          <a:blipFill>
            <a:blip r:embed="rId3"/>
            <a:stretch>
              <a:fillRect/>
            </a:stretch>
          </a:blipFill>
        </p:spPr>
      </p:sp>
      <p:sp>
        <p:nvSpPr>
          <p:cNvPr id="4" name="Freeform 4"/>
          <p:cNvSpPr/>
          <p:nvPr/>
        </p:nvSpPr>
        <p:spPr>
          <a:xfrm>
            <a:off x="-175728" y="7549670"/>
            <a:ext cx="378912" cy="378439"/>
          </a:xfrm>
          <a:custGeom>
            <a:avLst/>
            <a:gdLst/>
            <a:ahLst/>
            <a:cxnLst/>
            <a:rect l="l" t="t" r="r" b="b"/>
            <a:pathLst>
              <a:path w="378912" h="378439">
                <a:moveTo>
                  <a:pt x="0" y="0"/>
                </a:moveTo>
                <a:lnTo>
                  <a:pt x="378912" y="0"/>
                </a:lnTo>
                <a:lnTo>
                  <a:pt x="378912" y="378438"/>
                </a:lnTo>
                <a:lnTo>
                  <a:pt x="0" y="378438"/>
                </a:lnTo>
                <a:lnTo>
                  <a:pt x="0" y="0"/>
                </a:lnTo>
                <a:close/>
              </a:path>
            </a:pathLst>
          </a:custGeom>
          <a:blipFill>
            <a:blip r:embed="rId4"/>
            <a:stretch>
              <a:fillRect/>
            </a:stretch>
          </a:blipFill>
        </p:spPr>
      </p:sp>
      <p:sp>
        <p:nvSpPr>
          <p:cNvPr id="5" name="Freeform 5"/>
          <p:cNvSpPr/>
          <p:nvPr/>
        </p:nvSpPr>
        <p:spPr>
          <a:xfrm>
            <a:off x="281802" y="189366"/>
            <a:ext cx="378912" cy="378439"/>
          </a:xfrm>
          <a:custGeom>
            <a:avLst/>
            <a:gdLst/>
            <a:ahLst/>
            <a:cxnLst/>
            <a:rect l="l" t="t" r="r" b="b"/>
            <a:pathLst>
              <a:path w="378912" h="378439">
                <a:moveTo>
                  <a:pt x="0" y="0"/>
                </a:moveTo>
                <a:lnTo>
                  <a:pt x="378912" y="0"/>
                </a:lnTo>
                <a:lnTo>
                  <a:pt x="378912" y="378439"/>
                </a:lnTo>
                <a:lnTo>
                  <a:pt x="0" y="378439"/>
                </a:lnTo>
                <a:lnTo>
                  <a:pt x="0" y="0"/>
                </a:lnTo>
                <a:close/>
              </a:path>
            </a:pathLst>
          </a:custGeom>
          <a:blipFill>
            <a:blip r:embed="rId5"/>
            <a:stretch>
              <a:fillRect/>
            </a:stretch>
          </a:blipFill>
        </p:spPr>
      </p:sp>
      <p:sp>
        <p:nvSpPr>
          <p:cNvPr id="6" name="Freeform 6"/>
          <p:cNvSpPr/>
          <p:nvPr/>
        </p:nvSpPr>
        <p:spPr>
          <a:xfrm>
            <a:off x="203184" y="4002391"/>
            <a:ext cx="392008" cy="391518"/>
          </a:xfrm>
          <a:custGeom>
            <a:avLst/>
            <a:gdLst/>
            <a:ahLst/>
            <a:cxnLst/>
            <a:rect l="l" t="t" r="r" b="b"/>
            <a:pathLst>
              <a:path w="392008" h="391518">
                <a:moveTo>
                  <a:pt x="0" y="0"/>
                </a:moveTo>
                <a:lnTo>
                  <a:pt x="392008" y="0"/>
                </a:lnTo>
                <a:lnTo>
                  <a:pt x="392008" y="391517"/>
                </a:lnTo>
                <a:lnTo>
                  <a:pt x="0" y="391517"/>
                </a:lnTo>
                <a:lnTo>
                  <a:pt x="0" y="0"/>
                </a:lnTo>
                <a:close/>
              </a:path>
            </a:pathLst>
          </a:custGeom>
          <a:blipFill>
            <a:blip r:embed="rId6"/>
            <a:stretch>
              <a:fillRect/>
            </a:stretch>
          </a:blipFill>
        </p:spPr>
      </p:sp>
      <p:sp>
        <p:nvSpPr>
          <p:cNvPr id="7" name="Freeform 7"/>
          <p:cNvSpPr/>
          <p:nvPr/>
        </p:nvSpPr>
        <p:spPr>
          <a:xfrm rot="2558731">
            <a:off x="-652688" y="551346"/>
            <a:ext cx="1711744" cy="1647554"/>
          </a:xfrm>
          <a:custGeom>
            <a:avLst/>
            <a:gdLst/>
            <a:ahLst/>
            <a:cxnLst/>
            <a:rect l="l" t="t" r="r" b="b"/>
            <a:pathLst>
              <a:path w="1711744" h="1647554">
                <a:moveTo>
                  <a:pt x="0" y="0"/>
                </a:moveTo>
                <a:lnTo>
                  <a:pt x="1711744" y="0"/>
                </a:lnTo>
                <a:lnTo>
                  <a:pt x="1711744" y="1647554"/>
                </a:lnTo>
                <a:lnTo>
                  <a:pt x="0" y="1647554"/>
                </a:lnTo>
                <a:lnTo>
                  <a:pt x="0" y="0"/>
                </a:lnTo>
                <a:close/>
              </a:path>
            </a:pathLst>
          </a:custGeom>
          <a:blipFill>
            <a:blip r:embed="rId7"/>
            <a:stretch>
              <a:fillRect/>
            </a:stretch>
          </a:blipFill>
        </p:spPr>
      </p:sp>
      <p:sp>
        <p:nvSpPr>
          <p:cNvPr id="8" name="Freeform 8"/>
          <p:cNvSpPr/>
          <p:nvPr/>
        </p:nvSpPr>
        <p:spPr>
          <a:xfrm rot="2700000">
            <a:off x="17346793" y="99873"/>
            <a:ext cx="1882414" cy="1522402"/>
          </a:xfrm>
          <a:custGeom>
            <a:avLst/>
            <a:gdLst/>
            <a:ahLst/>
            <a:cxnLst/>
            <a:rect l="l" t="t" r="r" b="b"/>
            <a:pathLst>
              <a:path w="1882414" h="1522402">
                <a:moveTo>
                  <a:pt x="0" y="0"/>
                </a:moveTo>
                <a:lnTo>
                  <a:pt x="1882414" y="0"/>
                </a:lnTo>
                <a:lnTo>
                  <a:pt x="1882414" y="1522402"/>
                </a:lnTo>
                <a:lnTo>
                  <a:pt x="0" y="1522402"/>
                </a:lnTo>
                <a:lnTo>
                  <a:pt x="0" y="0"/>
                </a:lnTo>
                <a:close/>
              </a:path>
            </a:pathLst>
          </a:custGeom>
          <a:blipFill>
            <a:blip r:embed="rId8"/>
            <a:stretch>
              <a:fillRect/>
            </a:stretch>
          </a:blipFill>
        </p:spPr>
      </p:sp>
      <p:sp>
        <p:nvSpPr>
          <p:cNvPr id="9" name="Freeform 9"/>
          <p:cNvSpPr/>
          <p:nvPr/>
        </p:nvSpPr>
        <p:spPr>
          <a:xfrm>
            <a:off x="281802" y="9258300"/>
            <a:ext cx="1782471" cy="1769103"/>
          </a:xfrm>
          <a:custGeom>
            <a:avLst/>
            <a:gdLst/>
            <a:ahLst/>
            <a:cxnLst/>
            <a:rect l="l" t="t" r="r" b="b"/>
            <a:pathLst>
              <a:path w="1782471" h="1769103">
                <a:moveTo>
                  <a:pt x="0" y="0"/>
                </a:moveTo>
                <a:lnTo>
                  <a:pt x="1782471" y="0"/>
                </a:lnTo>
                <a:lnTo>
                  <a:pt x="1782471" y="1769103"/>
                </a:lnTo>
                <a:lnTo>
                  <a:pt x="0" y="1769103"/>
                </a:lnTo>
                <a:lnTo>
                  <a:pt x="0" y="0"/>
                </a:lnTo>
                <a:close/>
              </a:path>
            </a:pathLst>
          </a:custGeom>
          <a:blipFill>
            <a:blip r:embed="rId9"/>
            <a:stretch>
              <a:fillRect/>
            </a:stretch>
          </a:blipFill>
        </p:spPr>
      </p:sp>
      <p:sp>
        <p:nvSpPr>
          <p:cNvPr id="10" name="Freeform 10"/>
          <p:cNvSpPr/>
          <p:nvPr/>
        </p:nvSpPr>
        <p:spPr>
          <a:xfrm>
            <a:off x="16804057" y="9258300"/>
            <a:ext cx="2326438" cy="2306081"/>
          </a:xfrm>
          <a:custGeom>
            <a:avLst/>
            <a:gdLst/>
            <a:ahLst/>
            <a:cxnLst/>
            <a:rect l="l" t="t" r="r" b="b"/>
            <a:pathLst>
              <a:path w="2326438" h="2306081">
                <a:moveTo>
                  <a:pt x="0" y="0"/>
                </a:moveTo>
                <a:lnTo>
                  <a:pt x="2326437" y="0"/>
                </a:lnTo>
                <a:lnTo>
                  <a:pt x="2326437" y="2306081"/>
                </a:lnTo>
                <a:lnTo>
                  <a:pt x="0" y="2306081"/>
                </a:lnTo>
                <a:lnTo>
                  <a:pt x="0" y="0"/>
                </a:lnTo>
                <a:close/>
              </a:path>
            </a:pathLst>
          </a:custGeom>
          <a:blipFill>
            <a:blip r:embed="rId10"/>
            <a:stretch>
              <a:fillRect/>
            </a:stretch>
          </a:blipFill>
        </p:spPr>
      </p:sp>
      <p:sp>
        <p:nvSpPr>
          <p:cNvPr id="11" name="TextBox 11"/>
          <p:cNvSpPr txBox="1"/>
          <p:nvPr/>
        </p:nvSpPr>
        <p:spPr>
          <a:xfrm>
            <a:off x="880762" y="0"/>
            <a:ext cx="17086514" cy="6096000"/>
          </a:xfrm>
          <a:prstGeom prst="rect">
            <a:avLst/>
          </a:prstGeom>
        </p:spPr>
        <p:txBody>
          <a:bodyPr lIns="0" tIns="0" rIns="0" bIns="0" rtlCol="0" anchor="t">
            <a:spAutoFit/>
          </a:bodyPr>
          <a:lstStyle/>
          <a:p>
            <a:pPr algn="ctr">
              <a:lnSpc>
                <a:spcPts val="6046"/>
              </a:lnSpc>
            </a:pPr>
            <a:r>
              <a:rPr lang="en-US" sz="5039" b="1">
                <a:solidFill>
                  <a:srgbClr val="3E3E3E"/>
                </a:solidFill>
                <a:latin typeface="Droid Arabic Kufi Bold"/>
                <a:ea typeface="Droid Arabic Kufi Bold"/>
                <a:cs typeface="Droid Arabic Kufi Bold"/>
                <a:sym typeface="Droid Arabic Kufi Bold"/>
              </a:rPr>
              <a:t>3. External Analysis:</a:t>
            </a:r>
          </a:p>
          <a:p>
            <a:pPr algn="ctr">
              <a:lnSpc>
                <a:spcPts val="3647"/>
              </a:lnSpc>
            </a:pPr>
            <a:endParaRPr lang="en-US" sz="5039" b="1">
              <a:solidFill>
                <a:srgbClr val="3E3E3E"/>
              </a:solidFill>
              <a:latin typeface="Droid Arabic Kufi Bold"/>
              <a:ea typeface="Droid Arabic Kufi Bold"/>
              <a:cs typeface="Droid Arabic Kufi Bold"/>
              <a:sym typeface="Droid Arabic Kufi Bold"/>
            </a:endParaRPr>
          </a:p>
          <a:p>
            <a:pPr algn="ctr">
              <a:lnSpc>
                <a:spcPts val="4846"/>
              </a:lnSpc>
            </a:pPr>
            <a:r>
              <a:rPr lang="en-US" sz="4039" b="1">
                <a:solidFill>
                  <a:srgbClr val="3E3E3E"/>
                </a:solidFill>
                <a:latin typeface="Droid Arabic Naskh Bold"/>
                <a:ea typeface="Droid Arabic Naskh Bold"/>
                <a:cs typeface="Droid Arabic Naskh Bold"/>
                <a:sym typeface="Droid Arabic Naskh Bold"/>
              </a:rPr>
              <a:t>Opportunities:</a:t>
            </a:r>
          </a:p>
          <a:p>
            <a:pPr algn="ctr">
              <a:lnSpc>
                <a:spcPts val="3647"/>
              </a:lnSpc>
            </a:pPr>
            <a:r>
              <a:rPr lang="en-US" sz="3039" b="1">
                <a:solidFill>
                  <a:srgbClr val="3E3E3E"/>
                </a:solidFill>
                <a:latin typeface="Droid Arabic Naskh Bold"/>
                <a:ea typeface="Droid Arabic Naskh Bold"/>
                <a:cs typeface="Droid Arabic Naskh Bold"/>
                <a:sym typeface="Droid Arabic Naskh Bold"/>
              </a:rPr>
              <a:t>Increased activity of Banha residents on social media platforms (especially Facebook and Instagram).</a:t>
            </a:r>
          </a:p>
          <a:p>
            <a:pPr algn="ctr">
              <a:lnSpc>
                <a:spcPts val="3647"/>
              </a:lnSpc>
            </a:pPr>
            <a:r>
              <a:rPr lang="en-US" sz="3039" b="1">
                <a:solidFill>
                  <a:srgbClr val="3E3E3E"/>
                </a:solidFill>
                <a:latin typeface="Droid Arabic Naskh Bold"/>
                <a:ea typeface="Droid Arabic Naskh Bold"/>
                <a:cs typeface="Droid Arabic Naskh Bold"/>
                <a:sym typeface="Droid Arabic Naskh Bold"/>
              </a:rPr>
              <a:t>Growing demand for safe and guaranteed local products.</a:t>
            </a:r>
          </a:p>
          <a:p>
            <a:pPr algn="ctr">
              <a:lnSpc>
                <a:spcPts val="3647"/>
              </a:lnSpc>
            </a:pPr>
            <a:r>
              <a:rPr lang="en-US" sz="3039" b="1">
                <a:solidFill>
                  <a:srgbClr val="3E3E3E"/>
                </a:solidFill>
                <a:latin typeface="Droid Arabic Naskh Bold"/>
                <a:ea typeface="Droid Arabic Naskh Bold"/>
                <a:cs typeface="Droid Arabic Naskh Bold"/>
                <a:sym typeface="Droid Arabic Naskh Bold"/>
              </a:rPr>
              <a:t>Potential to expand digital presence through paid advertising and email marketing.</a:t>
            </a:r>
          </a:p>
          <a:p>
            <a:pPr algn="ctr">
              <a:lnSpc>
                <a:spcPts val="4846"/>
              </a:lnSpc>
            </a:pPr>
            <a:r>
              <a:rPr lang="en-US" sz="4039" b="1">
                <a:solidFill>
                  <a:srgbClr val="3E3E3E"/>
                </a:solidFill>
                <a:latin typeface="Droid Arabic Naskh Bold"/>
                <a:ea typeface="Droid Arabic Naskh Bold"/>
                <a:cs typeface="Droid Arabic Naskh Bold"/>
                <a:sym typeface="Droid Arabic Naskh Bold"/>
              </a:rPr>
              <a:t>Threats:</a:t>
            </a:r>
          </a:p>
          <a:p>
            <a:pPr algn="ctr">
              <a:lnSpc>
                <a:spcPts val="3647"/>
              </a:lnSpc>
            </a:pPr>
            <a:r>
              <a:rPr lang="en-US" sz="3039" b="1">
                <a:solidFill>
                  <a:srgbClr val="3E3E3E"/>
                </a:solidFill>
                <a:latin typeface="Droid Arabic Naskh Bold"/>
                <a:ea typeface="Droid Arabic Naskh Bold"/>
                <a:cs typeface="Droid Arabic Naskh Bold"/>
                <a:sym typeface="Droid Arabic Naskh Bold"/>
              </a:rPr>
              <a:t>Competition from major online retailers specializing in beauty and personal care products.</a:t>
            </a:r>
          </a:p>
          <a:p>
            <a:pPr algn="ctr">
              <a:lnSpc>
                <a:spcPts val="3647"/>
              </a:lnSpc>
            </a:pPr>
            <a:r>
              <a:rPr lang="en-US" sz="3039" b="1">
                <a:solidFill>
                  <a:srgbClr val="3E3E3E"/>
                </a:solidFill>
                <a:latin typeface="Droid Arabic Naskh Bold"/>
                <a:ea typeface="Droid Arabic Naskh Bold"/>
                <a:cs typeface="Droid Arabic Naskh Bold"/>
                <a:sym typeface="Droid Arabic Naskh Bold"/>
              </a:rPr>
              <a:t>Changing consumer behavior towards purchasing from popular retail apps.</a:t>
            </a:r>
          </a:p>
          <a:p>
            <a:pPr algn="ctr">
              <a:lnSpc>
                <a:spcPts val="3647"/>
              </a:lnSpc>
            </a:pPr>
            <a:r>
              <a:rPr lang="en-US" sz="3039" b="1">
                <a:solidFill>
                  <a:srgbClr val="3E3E3E"/>
                </a:solidFill>
                <a:latin typeface="Droid Arabic Naskh Bold"/>
                <a:ea typeface="Droid Arabic Naskh Bold"/>
                <a:cs typeface="Droid Arabic Naskh Bold"/>
                <a:sym typeface="Droid Arabic Naskh Bold"/>
              </a:rPr>
              <a:t>Customer sensitivity to price in the face of intense competition.</a:t>
            </a:r>
          </a:p>
        </p:txBody>
      </p:sp>
      <p:graphicFrame>
        <p:nvGraphicFramePr>
          <p:cNvPr id="12" name="Object 12"/>
          <p:cNvGraphicFramePr/>
          <p:nvPr/>
        </p:nvGraphicFramePr>
        <p:xfrm>
          <a:off x="2524018" y="6252359"/>
          <a:ext cx="9429750" cy="1885950"/>
        </p:xfrm>
        <a:graphic>
          <a:graphicData uri="http://schemas.openxmlformats.org/presentationml/2006/ole">
            <mc:AlternateContent xmlns:mc="http://schemas.openxmlformats.org/markup-compatibility/2006">
              <mc:Choice xmlns:v="urn:schemas-microsoft-com:vml" Requires="v">
                <p:oleObj name="Worksheet" r:id="rId11" imgW="11315700" imgH="3771900" progId="Excel.Sheet.12">
                  <p:embed/>
                </p:oleObj>
              </mc:Choice>
              <mc:Fallback>
                <p:oleObj name="Worksheet" r:id="rId11" imgW="11315700" imgH="3771900" progId="Excel.Sheet.12">
                  <p:embed/>
                  <p:pic>
                    <p:nvPicPr>
                      <p:cNvPr id="12" name="Object 12"/>
                      <p:cNvPicPr/>
                      <p:nvPr/>
                    </p:nvPicPr>
                    <p:blipFill>
                      <a:blip r:embed="rId12"/>
                      <a:stretch>
                        <a:fillRect/>
                      </a:stretch>
                    </p:blipFill>
                    <p:spPr>
                      <a:xfrm>
                        <a:off x="2524018" y="6252359"/>
                        <a:ext cx="9429750" cy="1885950"/>
                      </a:xfrm>
                      <a:prstGeom prst="rect">
                        <a:avLst/>
                      </a:prstGeom>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sp>
        <p:nvSpPr>
          <p:cNvPr id="3" name="TextBox 3"/>
          <p:cNvSpPr txBox="1"/>
          <p:nvPr/>
        </p:nvSpPr>
        <p:spPr>
          <a:xfrm>
            <a:off x="0" y="132716"/>
            <a:ext cx="18288000" cy="10154284"/>
          </a:xfrm>
          <a:prstGeom prst="rect">
            <a:avLst/>
          </a:prstGeom>
        </p:spPr>
        <p:txBody>
          <a:bodyPr lIns="0" tIns="0" rIns="0" bIns="0" rtlCol="0" anchor="t">
            <a:spAutoFit/>
          </a:bodyPr>
          <a:lstStyle/>
          <a:p>
            <a:pPr algn="ctr">
              <a:lnSpc>
                <a:spcPts val="5149"/>
              </a:lnSpc>
              <a:spcBef>
                <a:spcPct val="0"/>
              </a:spcBef>
            </a:pPr>
            <a:r>
              <a:rPr lang="en-US" sz="4999" b="1">
                <a:solidFill>
                  <a:srgbClr val="3E3E3E"/>
                </a:solidFill>
                <a:latin typeface="Droid Arabic Kufi Bold"/>
                <a:ea typeface="Droid Arabic Kufi Bold"/>
                <a:cs typeface="Droid Arabic Kufi Bold"/>
                <a:sym typeface="Droid Arabic Kufi Bold"/>
              </a:rPr>
              <a:t>5. Competitor Analysis:</a:t>
            </a:r>
          </a:p>
          <a:p>
            <a:pPr algn="ctr">
              <a:lnSpc>
                <a:spcPts val="3089"/>
              </a:lnSpc>
              <a:spcBef>
                <a:spcPct val="0"/>
              </a:spcBef>
            </a:pPr>
            <a:endParaRPr lang="en-US" sz="4999" b="1">
              <a:solidFill>
                <a:srgbClr val="3E3E3E"/>
              </a:solidFill>
              <a:latin typeface="Droid Arabic Kufi Bold"/>
              <a:ea typeface="Droid Arabic Kufi Bold"/>
              <a:cs typeface="Droid Arabic Kufi Bold"/>
              <a:sym typeface="Droid Arabic Kufi Bold"/>
            </a:endParaRPr>
          </a:p>
          <a:p>
            <a:pPr algn="ctr">
              <a:lnSpc>
                <a:spcPts val="4222"/>
              </a:lnSpc>
              <a:spcBef>
                <a:spcPct val="0"/>
              </a:spcBef>
            </a:pPr>
            <a:r>
              <a:rPr lang="en-US" sz="4099" b="1">
                <a:solidFill>
                  <a:srgbClr val="3E3E3E"/>
                </a:solidFill>
                <a:latin typeface="Droid Arabic Naskh Bold"/>
                <a:ea typeface="Droid Arabic Naskh Bold"/>
                <a:cs typeface="Droid Arabic Naskh Bold"/>
                <a:sym typeface="Droid Arabic Naskh Bold"/>
              </a:rPr>
              <a:t>Competitive Gap:</a:t>
            </a: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 Most competitors focus solely on price, while Tayba Store distinguishes itself by emphasizing value, quality, and convenience in local shopping.</a:t>
            </a: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Learning from Competitors: Stores with the highest engagement rely on user-generated content and simple contests.</a:t>
            </a:r>
          </a:p>
          <a:p>
            <a:pPr algn="ctr">
              <a:lnSpc>
                <a:spcPts val="4119"/>
              </a:lnSpc>
              <a:spcBef>
                <a:spcPct val="0"/>
              </a:spcBef>
            </a:pPr>
            <a:r>
              <a:rPr lang="en-US" sz="3999" b="1">
                <a:solidFill>
                  <a:srgbClr val="3E3E3E"/>
                </a:solidFill>
                <a:latin typeface="Droid Arabic Naskh Bold"/>
                <a:ea typeface="Droid Arabic Naskh Bold"/>
                <a:cs typeface="Droid Arabic Naskh Bold"/>
                <a:sym typeface="Droid Arabic Naskh Bold"/>
              </a:rPr>
              <a:t>Practical Conclusion: </a:t>
            </a: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Tayba Store should focus on a mix of professional and authentic content through local influencers to demonstrate credibility.</a:t>
            </a:r>
          </a:p>
          <a:p>
            <a:pPr algn="ctr">
              <a:lnSpc>
                <a:spcPts val="3089"/>
              </a:lnSpc>
              <a:spcBef>
                <a:spcPct val="0"/>
              </a:spcBef>
            </a:pPr>
            <a:endParaRPr lang="en-US" sz="2999" b="1">
              <a:solidFill>
                <a:srgbClr val="3E3E3E"/>
              </a:solidFill>
              <a:latin typeface="Droid Arabic Naskh Bold"/>
              <a:ea typeface="Droid Arabic Naskh Bold"/>
              <a:cs typeface="Droid Arabic Naskh Bold"/>
              <a:sym typeface="Droid Arabic Naskh Bold"/>
            </a:endParaRPr>
          </a:p>
          <a:p>
            <a:pPr algn="ctr">
              <a:lnSpc>
                <a:spcPts val="5149"/>
              </a:lnSpc>
              <a:spcBef>
                <a:spcPct val="0"/>
              </a:spcBef>
            </a:pPr>
            <a:r>
              <a:rPr lang="en-US" sz="4999" b="1">
                <a:solidFill>
                  <a:srgbClr val="3E3E3E"/>
                </a:solidFill>
                <a:latin typeface="Droid Arabic Kufi Bold"/>
                <a:ea typeface="Droid Arabic Kufi Bold"/>
                <a:cs typeface="Droid Arabic Kufi Bold"/>
                <a:sym typeface="Droid Arabic Kufi Bold"/>
              </a:rPr>
              <a:t>6. Digital Performance Audit:</a:t>
            </a:r>
          </a:p>
          <a:p>
            <a:pPr algn="ctr">
              <a:lnSpc>
                <a:spcPts val="5149"/>
              </a:lnSpc>
              <a:spcBef>
                <a:spcPct val="0"/>
              </a:spcBef>
            </a:pPr>
            <a:endParaRPr lang="en-US" sz="4999" b="1">
              <a:solidFill>
                <a:srgbClr val="3E3E3E"/>
              </a:solidFill>
              <a:latin typeface="Droid Arabic Kufi Bold"/>
              <a:ea typeface="Droid Arabic Kufi Bold"/>
              <a:cs typeface="Droid Arabic Kufi Bold"/>
              <a:sym typeface="Droid Arabic Kufi Bold"/>
            </a:endParaRP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Video content (Reels/TikTok) achieves the highest engagement rates compared to static posts.</a:t>
            </a: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Most Engaged Audience: Mothers and young people within Greater Banha.</a:t>
            </a: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Top Performing Channels: WhatsApp, Facebook, and Instagram.</a:t>
            </a:r>
          </a:p>
          <a:p>
            <a:pPr algn="ctr">
              <a:lnSpc>
                <a:spcPts val="3089"/>
              </a:lnSpc>
              <a:spcBef>
                <a:spcPct val="0"/>
              </a:spcBef>
            </a:pPr>
            <a:endParaRPr lang="en-US" sz="2999" b="1">
              <a:solidFill>
                <a:srgbClr val="3E3E3E"/>
              </a:solidFill>
              <a:latin typeface="Droid Arabic Naskh Bold"/>
              <a:ea typeface="Droid Arabic Naskh Bold"/>
              <a:cs typeface="Droid Arabic Naskh Bold"/>
              <a:sym typeface="Droid Arabic Naskh Bold"/>
            </a:endParaRPr>
          </a:p>
          <a:p>
            <a:pPr algn="ctr">
              <a:lnSpc>
                <a:spcPts val="5149"/>
              </a:lnSpc>
              <a:spcBef>
                <a:spcPct val="0"/>
              </a:spcBef>
            </a:pPr>
            <a:r>
              <a:rPr lang="en-US" sz="4999" b="1">
                <a:solidFill>
                  <a:srgbClr val="3E3E3E"/>
                </a:solidFill>
                <a:latin typeface="Droid Arabic Kufi Bold"/>
                <a:ea typeface="Droid Arabic Kufi Bold"/>
                <a:cs typeface="Droid Arabic Kufi Bold"/>
                <a:sym typeface="Droid Arabic Kufi Bold"/>
              </a:rPr>
              <a:t>7. Key Challenge:</a:t>
            </a:r>
          </a:p>
          <a:p>
            <a:pPr algn="ctr">
              <a:lnSpc>
                <a:spcPts val="5149"/>
              </a:lnSpc>
              <a:spcBef>
                <a:spcPct val="0"/>
              </a:spcBef>
            </a:pPr>
            <a:endParaRPr lang="en-US" sz="4999" b="1">
              <a:solidFill>
                <a:srgbClr val="3E3E3E"/>
              </a:solidFill>
              <a:latin typeface="Droid Arabic Kufi Bold"/>
              <a:ea typeface="Droid Arabic Kufi Bold"/>
              <a:cs typeface="Droid Arabic Kufi Bold"/>
              <a:sym typeface="Droid Arabic Kufi Bold"/>
            </a:endParaRPr>
          </a:p>
          <a:p>
            <a:pPr algn="ctr">
              <a:lnSpc>
                <a:spcPts val="3089"/>
              </a:lnSpc>
              <a:spcBef>
                <a:spcPct val="0"/>
              </a:spcBef>
            </a:pPr>
            <a:r>
              <a:rPr lang="en-US" sz="2999" b="1">
                <a:solidFill>
                  <a:srgbClr val="3E3E3E"/>
                </a:solidFill>
                <a:latin typeface="Droid Arabic Naskh Bold"/>
                <a:ea typeface="Droid Arabic Naskh Bold"/>
                <a:cs typeface="Droid Arabic Naskh Bold"/>
                <a:sym typeface="Droid Arabic Naskh Bold"/>
              </a:rPr>
              <a:t>Transitioning from limited local awareness to expanding the customer base in Banha while preserving the family-oriented nature and local identity, through a strong content plan and targeted paid campaigns.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462" r="-28711" b="-29439"/>
            </a:stretch>
          </a:blipFill>
        </p:spPr>
      </p:sp>
      <p:grpSp>
        <p:nvGrpSpPr>
          <p:cNvPr id="3" name="Group 3"/>
          <p:cNvGrpSpPr/>
          <p:nvPr/>
        </p:nvGrpSpPr>
        <p:grpSpPr>
          <a:xfrm>
            <a:off x="-572002" y="4054703"/>
            <a:ext cx="19912862" cy="10912724"/>
            <a:chOff x="0" y="0"/>
            <a:chExt cx="26550483" cy="14550299"/>
          </a:xfrm>
        </p:grpSpPr>
        <p:sp>
          <p:nvSpPr>
            <p:cNvPr id="4" name="Freeform 4"/>
            <p:cNvSpPr/>
            <p:nvPr/>
          </p:nvSpPr>
          <p:spPr>
            <a:xfrm>
              <a:off x="7958576" y="2583608"/>
              <a:ext cx="9992187" cy="11966691"/>
            </a:xfrm>
            <a:custGeom>
              <a:avLst/>
              <a:gdLst/>
              <a:ahLst/>
              <a:cxnLst/>
              <a:rect l="l" t="t" r="r" b="b"/>
              <a:pathLst>
                <a:path w="9992187" h="11966691">
                  <a:moveTo>
                    <a:pt x="0" y="0"/>
                  </a:moveTo>
                  <a:lnTo>
                    <a:pt x="9992187" y="0"/>
                  </a:lnTo>
                  <a:lnTo>
                    <a:pt x="9992187" y="11966691"/>
                  </a:lnTo>
                  <a:lnTo>
                    <a:pt x="0" y="11966691"/>
                  </a:lnTo>
                  <a:lnTo>
                    <a:pt x="0" y="0"/>
                  </a:lnTo>
                  <a:close/>
                </a:path>
              </a:pathLst>
            </a:custGeom>
            <a:blipFill>
              <a:blip r:embed="rId3"/>
              <a:stretch>
                <a:fillRect/>
              </a:stretch>
            </a:blipFill>
          </p:spPr>
        </p:sp>
        <p:sp>
          <p:nvSpPr>
            <p:cNvPr id="5" name="Freeform 5"/>
            <p:cNvSpPr/>
            <p:nvPr/>
          </p:nvSpPr>
          <p:spPr>
            <a:xfrm rot="-1100670">
              <a:off x="2608351" y="6769980"/>
              <a:ext cx="2884567" cy="2776396"/>
            </a:xfrm>
            <a:custGeom>
              <a:avLst/>
              <a:gdLst/>
              <a:ahLst/>
              <a:cxnLst/>
              <a:rect l="l" t="t" r="r" b="b"/>
              <a:pathLst>
                <a:path w="2884567" h="2776396">
                  <a:moveTo>
                    <a:pt x="0" y="0"/>
                  </a:moveTo>
                  <a:lnTo>
                    <a:pt x="2884567" y="0"/>
                  </a:lnTo>
                  <a:lnTo>
                    <a:pt x="2884567" y="2776396"/>
                  </a:lnTo>
                  <a:lnTo>
                    <a:pt x="0" y="2776396"/>
                  </a:lnTo>
                  <a:lnTo>
                    <a:pt x="0" y="0"/>
                  </a:lnTo>
                  <a:close/>
                </a:path>
              </a:pathLst>
            </a:custGeom>
            <a:blipFill>
              <a:blip r:embed="rId4"/>
              <a:stretch>
                <a:fillRect/>
              </a:stretch>
            </a:blipFill>
          </p:spPr>
        </p:sp>
        <p:sp>
          <p:nvSpPr>
            <p:cNvPr id="6" name="Freeform 6"/>
            <p:cNvSpPr/>
            <p:nvPr/>
          </p:nvSpPr>
          <p:spPr>
            <a:xfrm>
              <a:off x="0" y="60598"/>
              <a:ext cx="2792150" cy="2823919"/>
            </a:xfrm>
            <a:custGeom>
              <a:avLst/>
              <a:gdLst/>
              <a:ahLst/>
              <a:cxnLst/>
              <a:rect l="l" t="t" r="r" b="b"/>
              <a:pathLst>
                <a:path w="2792150" h="2823919">
                  <a:moveTo>
                    <a:pt x="0" y="0"/>
                  </a:moveTo>
                  <a:lnTo>
                    <a:pt x="2792150" y="0"/>
                  </a:lnTo>
                  <a:lnTo>
                    <a:pt x="2792150" y="2823920"/>
                  </a:lnTo>
                  <a:lnTo>
                    <a:pt x="0" y="2823920"/>
                  </a:lnTo>
                  <a:lnTo>
                    <a:pt x="0" y="0"/>
                  </a:lnTo>
                  <a:close/>
                </a:path>
              </a:pathLst>
            </a:custGeom>
            <a:blipFill>
              <a:blip r:embed="rId5"/>
              <a:stretch>
                <a:fillRect/>
              </a:stretch>
            </a:blipFill>
          </p:spPr>
        </p:sp>
        <p:sp>
          <p:nvSpPr>
            <p:cNvPr id="7" name="Freeform 7"/>
            <p:cNvSpPr/>
            <p:nvPr/>
          </p:nvSpPr>
          <p:spPr>
            <a:xfrm rot="2301051">
              <a:off x="5345801" y="1497629"/>
              <a:ext cx="2308361" cy="3262701"/>
            </a:xfrm>
            <a:custGeom>
              <a:avLst/>
              <a:gdLst/>
              <a:ahLst/>
              <a:cxnLst/>
              <a:rect l="l" t="t" r="r" b="b"/>
              <a:pathLst>
                <a:path w="2308361" h="3262701">
                  <a:moveTo>
                    <a:pt x="0" y="0"/>
                  </a:moveTo>
                  <a:lnTo>
                    <a:pt x="2308361" y="0"/>
                  </a:lnTo>
                  <a:lnTo>
                    <a:pt x="2308361" y="3262701"/>
                  </a:lnTo>
                  <a:lnTo>
                    <a:pt x="0" y="3262701"/>
                  </a:lnTo>
                  <a:lnTo>
                    <a:pt x="0" y="0"/>
                  </a:lnTo>
                  <a:close/>
                </a:path>
              </a:pathLst>
            </a:custGeom>
            <a:blipFill>
              <a:blip r:embed="rId6"/>
              <a:stretch>
                <a:fillRect/>
              </a:stretch>
            </a:blipFill>
          </p:spPr>
        </p:sp>
        <p:sp>
          <p:nvSpPr>
            <p:cNvPr id="8" name="Freeform 8"/>
            <p:cNvSpPr/>
            <p:nvPr/>
          </p:nvSpPr>
          <p:spPr>
            <a:xfrm>
              <a:off x="320479" y="5085738"/>
              <a:ext cx="1678893" cy="1678893"/>
            </a:xfrm>
            <a:custGeom>
              <a:avLst/>
              <a:gdLst/>
              <a:ahLst/>
              <a:cxnLst/>
              <a:rect l="l" t="t" r="r" b="b"/>
              <a:pathLst>
                <a:path w="1678893" h="1678893">
                  <a:moveTo>
                    <a:pt x="0" y="0"/>
                  </a:moveTo>
                  <a:lnTo>
                    <a:pt x="1678893" y="0"/>
                  </a:lnTo>
                  <a:lnTo>
                    <a:pt x="1678893" y="1678893"/>
                  </a:lnTo>
                  <a:lnTo>
                    <a:pt x="0" y="1678893"/>
                  </a:lnTo>
                  <a:lnTo>
                    <a:pt x="0" y="0"/>
                  </a:lnTo>
                  <a:close/>
                </a:path>
              </a:pathLst>
            </a:custGeom>
            <a:blipFill>
              <a:blip r:embed="rId7"/>
              <a:stretch>
                <a:fillRect/>
              </a:stretch>
            </a:blipFill>
            <a:ln cap="sq">
              <a:noFill/>
              <a:prstDash val="solid"/>
              <a:miter/>
            </a:ln>
          </p:spPr>
        </p:sp>
        <p:sp>
          <p:nvSpPr>
            <p:cNvPr id="9" name="Freeform 9"/>
            <p:cNvSpPr/>
            <p:nvPr/>
          </p:nvSpPr>
          <p:spPr>
            <a:xfrm>
              <a:off x="4050635" y="1665609"/>
              <a:ext cx="497173" cy="496552"/>
            </a:xfrm>
            <a:custGeom>
              <a:avLst/>
              <a:gdLst/>
              <a:ahLst/>
              <a:cxnLst/>
              <a:rect l="l" t="t" r="r" b="b"/>
              <a:pathLst>
                <a:path w="497173" h="496552">
                  <a:moveTo>
                    <a:pt x="0" y="0"/>
                  </a:moveTo>
                  <a:lnTo>
                    <a:pt x="497173" y="0"/>
                  </a:lnTo>
                  <a:lnTo>
                    <a:pt x="497173" y="496552"/>
                  </a:lnTo>
                  <a:lnTo>
                    <a:pt x="0" y="496552"/>
                  </a:lnTo>
                  <a:lnTo>
                    <a:pt x="0" y="0"/>
                  </a:lnTo>
                  <a:close/>
                </a:path>
              </a:pathLst>
            </a:custGeom>
            <a:blipFill>
              <a:blip r:embed="rId8"/>
              <a:stretch>
                <a:fillRect/>
              </a:stretch>
            </a:blipFill>
          </p:spPr>
        </p:sp>
        <p:sp>
          <p:nvSpPr>
            <p:cNvPr id="10" name="Freeform 10"/>
            <p:cNvSpPr/>
            <p:nvPr/>
          </p:nvSpPr>
          <p:spPr>
            <a:xfrm>
              <a:off x="6536283" y="6534962"/>
              <a:ext cx="497173" cy="496552"/>
            </a:xfrm>
            <a:custGeom>
              <a:avLst/>
              <a:gdLst/>
              <a:ahLst/>
              <a:cxnLst/>
              <a:rect l="l" t="t" r="r" b="b"/>
              <a:pathLst>
                <a:path w="497173" h="496552">
                  <a:moveTo>
                    <a:pt x="0" y="0"/>
                  </a:moveTo>
                  <a:lnTo>
                    <a:pt x="497173" y="0"/>
                  </a:lnTo>
                  <a:lnTo>
                    <a:pt x="497173" y="496551"/>
                  </a:lnTo>
                  <a:lnTo>
                    <a:pt x="0" y="496551"/>
                  </a:lnTo>
                  <a:lnTo>
                    <a:pt x="0" y="0"/>
                  </a:lnTo>
                  <a:close/>
                </a:path>
              </a:pathLst>
            </a:custGeom>
            <a:blipFill>
              <a:blip r:embed="rId9"/>
              <a:stretch>
                <a:fillRect/>
              </a:stretch>
            </a:blipFill>
            <a:ln cap="sq">
              <a:noFill/>
              <a:prstDash val="solid"/>
              <a:miter/>
            </a:ln>
          </p:spPr>
        </p:sp>
        <p:sp>
          <p:nvSpPr>
            <p:cNvPr id="11" name="Freeform 11"/>
            <p:cNvSpPr/>
            <p:nvPr/>
          </p:nvSpPr>
          <p:spPr>
            <a:xfrm>
              <a:off x="3470763" y="4918695"/>
              <a:ext cx="334505" cy="334086"/>
            </a:xfrm>
            <a:custGeom>
              <a:avLst/>
              <a:gdLst/>
              <a:ahLst/>
              <a:cxnLst/>
              <a:rect l="l" t="t" r="r" b="b"/>
              <a:pathLst>
                <a:path w="334505" h="334086">
                  <a:moveTo>
                    <a:pt x="0" y="0"/>
                  </a:moveTo>
                  <a:lnTo>
                    <a:pt x="334504" y="0"/>
                  </a:lnTo>
                  <a:lnTo>
                    <a:pt x="334504" y="334086"/>
                  </a:lnTo>
                  <a:lnTo>
                    <a:pt x="0" y="334086"/>
                  </a:lnTo>
                  <a:lnTo>
                    <a:pt x="0" y="0"/>
                  </a:lnTo>
                  <a:close/>
                </a:path>
              </a:pathLst>
            </a:custGeom>
            <a:blipFill>
              <a:blip r:embed="rId10"/>
              <a:stretch>
                <a:fillRect/>
              </a:stretch>
            </a:blipFill>
          </p:spPr>
        </p:sp>
        <p:sp>
          <p:nvSpPr>
            <p:cNvPr id="12" name="Freeform 12"/>
            <p:cNvSpPr/>
            <p:nvPr/>
          </p:nvSpPr>
          <p:spPr>
            <a:xfrm rot="-3599469">
              <a:off x="8335286" y="3816116"/>
              <a:ext cx="799209" cy="827124"/>
            </a:xfrm>
            <a:custGeom>
              <a:avLst/>
              <a:gdLst/>
              <a:ahLst/>
              <a:cxnLst/>
              <a:rect l="l" t="t" r="r" b="b"/>
              <a:pathLst>
                <a:path w="799209" h="827124">
                  <a:moveTo>
                    <a:pt x="0" y="0"/>
                  </a:moveTo>
                  <a:lnTo>
                    <a:pt x="799209" y="0"/>
                  </a:lnTo>
                  <a:lnTo>
                    <a:pt x="799209" y="827125"/>
                  </a:lnTo>
                  <a:lnTo>
                    <a:pt x="0" y="827125"/>
                  </a:lnTo>
                  <a:lnTo>
                    <a:pt x="0" y="0"/>
                  </a:lnTo>
                  <a:close/>
                </a:path>
              </a:pathLst>
            </a:custGeom>
            <a:blipFill>
              <a:blip r:embed="rId11"/>
              <a:stretch>
                <a:fillRect/>
              </a:stretch>
            </a:blipFill>
          </p:spPr>
        </p:sp>
        <p:sp>
          <p:nvSpPr>
            <p:cNvPr id="13" name="Freeform 13"/>
            <p:cNvSpPr/>
            <p:nvPr/>
          </p:nvSpPr>
          <p:spPr>
            <a:xfrm>
              <a:off x="23775070" y="0"/>
              <a:ext cx="2428523" cy="2425488"/>
            </a:xfrm>
            <a:custGeom>
              <a:avLst/>
              <a:gdLst/>
              <a:ahLst/>
              <a:cxnLst/>
              <a:rect l="l" t="t" r="r" b="b"/>
              <a:pathLst>
                <a:path w="2428523" h="2425488">
                  <a:moveTo>
                    <a:pt x="0" y="0"/>
                  </a:moveTo>
                  <a:lnTo>
                    <a:pt x="2428523" y="0"/>
                  </a:lnTo>
                  <a:lnTo>
                    <a:pt x="2428523" y="2425488"/>
                  </a:lnTo>
                  <a:lnTo>
                    <a:pt x="0" y="2425488"/>
                  </a:lnTo>
                  <a:lnTo>
                    <a:pt x="0" y="0"/>
                  </a:lnTo>
                  <a:close/>
                </a:path>
              </a:pathLst>
            </a:custGeom>
            <a:blipFill>
              <a:blip r:embed="rId12"/>
              <a:stretch>
                <a:fillRect/>
              </a:stretch>
            </a:blipFill>
          </p:spPr>
        </p:sp>
        <p:sp>
          <p:nvSpPr>
            <p:cNvPr id="14" name="Freeform 14"/>
            <p:cNvSpPr/>
            <p:nvPr/>
          </p:nvSpPr>
          <p:spPr>
            <a:xfrm>
              <a:off x="20300263" y="6386597"/>
              <a:ext cx="3179555" cy="3104041"/>
            </a:xfrm>
            <a:custGeom>
              <a:avLst/>
              <a:gdLst/>
              <a:ahLst/>
              <a:cxnLst/>
              <a:rect l="l" t="t" r="r" b="b"/>
              <a:pathLst>
                <a:path w="3179555" h="3104041">
                  <a:moveTo>
                    <a:pt x="0" y="0"/>
                  </a:moveTo>
                  <a:lnTo>
                    <a:pt x="3179556" y="0"/>
                  </a:lnTo>
                  <a:lnTo>
                    <a:pt x="3179556" y="3104041"/>
                  </a:lnTo>
                  <a:lnTo>
                    <a:pt x="0" y="3104041"/>
                  </a:lnTo>
                  <a:lnTo>
                    <a:pt x="0" y="0"/>
                  </a:lnTo>
                  <a:close/>
                </a:path>
              </a:pathLst>
            </a:custGeom>
            <a:blipFill>
              <a:blip r:embed="rId13"/>
              <a:stretch>
                <a:fillRect/>
              </a:stretch>
            </a:blipFill>
          </p:spPr>
        </p:sp>
        <p:sp>
          <p:nvSpPr>
            <p:cNvPr id="15" name="Freeform 15"/>
            <p:cNvSpPr/>
            <p:nvPr/>
          </p:nvSpPr>
          <p:spPr>
            <a:xfrm rot="-3722613">
              <a:off x="19977229" y="1729361"/>
              <a:ext cx="2199425" cy="2690428"/>
            </a:xfrm>
            <a:custGeom>
              <a:avLst/>
              <a:gdLst/>
              <a:ahLst/>
              <a:cxnLst/>
              <a:rect l="l" t="t" r="r" b="b"/>
              <a:pathLst>
                <a:path w="2199425" h="2690428">
                  <a:moveTo>
                    <a:pt x="0" y="0"/>
                  </a:moveTo>
                  <a:lnTo>
                    <a:pt x="2199425" y="0"/>
                  </a:lnTo>
                  <a:lnTo>
                    <a:pt x="2199425" y="2690428"/>
                  </a:lnTo>
                  <a:lnTo>
                    <a:pt x="0" y="2690428"/>
                  </a:lnTo>
                  <a:lnTo>
                    <a:pt x="0" y="0"/>
                  </a:lnTo>
                  <a:close/>
                </a:path>
              </a:pathLst>
            </a:custGeom>
            <a:blipFill>
              <a:blip r:embed="rId14"/>
              <a:stretch>
                <a:fillRect/>
              </a:stretch>
            </a:blipFill>
          </p:spPr>
        </p:sp>
        <p:sp>
          <p:nvSpPr>
            <p:cNvPr id="16" name="Freeform 16"/>
            <p:cNvSpPr/>
            <p:nvPr/>
          </p:nvSpPr>
          <p:spPr>
            <a:xfrm rot="-10223540">
              <a:off x="24067959" y="4662132"/>
              <a:ext cx="2302134" cy="2355124"/>
            </a:xfrm>
            <a:custGeom>
              <a:avLst/>
              <a:gdLst/>
              <a:ahLst/>
              <a:cxnLst/>
              <a:rect l="l" t="t" r="r" b="b"/>
              <a:pathLst>
                <a:path w="2302134" h="2355124">
                  <a:moveTo>
                    <a:pt x="0" y="0"/>
                  </a:moveTo>
                  <a:lnTo>
                    <a:pt x="2302134" y="0"/>
                  </a:lnTo>
                  <a:lnTo>
                    <a:pt x="2302134" y="2355124"/>
                  </a:lnTo>
                  <a:lnTo>
                    <a:pt x="0" y="2355124"/>
                  </a:lnTo>
                  <a:lnTo>
                    <a:pt x="0" y="0"/>
                  </a:lnTo>
                  <a:close/>
                </a:path>
              </a:pathLst>
            </a:custGeom>
            <a:blipFill>
              <a:blip r:embed="rId15"/>
              <a:stretch>
                <a:fillRect/>
              </a:stretch>
            </a:blipFill>
          </p:spPr>
        </p:sp>
        <p:sp>
          <p:nvSpPr>
            <p:cNvPr id="17" name="Freeform 17"/>
            <p:cNvSpPr/>
            <p:nvPr/>
          </p:nvSpPr>
          <p:spPr>
            <a:xfrm>
              <a:off x="18482484" y="7278344"/>
              <a:ext cx="497173" cy="496552"/>
            </a:xfrm>
            <a:custGeom>
              <a:avLst/>
              <a:gdLst/>
              <a:ahLst/>
              <a:cxnLst/>
              <a:rect l="l" t="t" r="r" b="b"/>
              <a:pathLst>
                <a:path w="497173" h="496552">
                  <a:moveTo>
                    <a:pt x="0" y="0"/>
                  </a:moveTo>
                  <a:lnTo>
                    <a:pt x="497173" y="0"/>
                  </a:lnTo>
                  <a:lnTo>
                    <a:pt x="497173" y="496551"/>
                  </a:lnTo>
                  <a:lnTo>
                    <a:pt x="0" y="496551"/>
                  </a:lnTo>
                  <a:lnTo>
                    <a:pt x="0" y="0"/>
                  </a:lnTo>
                  <a:close/>
                </a:path>
              </a:pathLst>
            </a:custGeom>
            <a:blipFill>
              <a:blip r:embed="rId8"/>
              <a:stretch>
                <a:fillRect/>
              </a:stretch>
            </a:blipFill>
          </p:spPr>
        </p:sp>
        <p:sp>
          <p:nvSpPr>
            <p:cNvPr id="18" name="Freeform 18"/>
            <p:cNvSpPr/>
            <p:nvPr/>
          </p:nvSpPr>
          <p:spPr>
            <a:xfrm>
              <a:off x="17118055" y="3642184"/>
              <a:ext cx="497173" cy="496552"/>
            </a:xfrm>
            <a:custGeom>
              <a:avLst/>
              <a:gdLst/>
              <a:ahLst/>
              <a:cxnLst/>
              <a:rect l="l" t="t" r="r" b="b"/>
              <a:pathLst>
                <a:path w="497173" h="496552">
                  <a:moveTo>
                    <a:pt x="0" y="0"/>
                  </a:moveTo>
                  <a:lnTo>
                    <a:pt x="497173" y="0"/>
                  </a:lnTo>
                  <a:lnTo>
                    <a:pt x="497173" y="496552"/>
                  </a:lnTo>
                  <a:lnTo>
                    <a:pt x="0" y="496552"/>
                  </a:lnTo>
                  <a:lnTo>
                    <a:pt x="0" y="0"/>
                  </a:lnTo>
                  <a:close/>
                </a:path>
              </a:pathLst>
            </a:custGeom>
            <a:blipFill>
              <a:blip r:embed="rId9"/>
              <a:stretch>
                <a:fillRect/>
              </a:stretch>
            </a:blipFill>
          </p:spPr>
        </p:sp>
        <p:sp>
          <p:nvSpPr>
            <p:cNvPr id="19" name="Freeform 19"/>
            <p:cNvSpPr/>
            <p:nvPr/>
          </p:nvSpPr>
          <p:spPr>
            <a:xfrm>
              <a:off x="23373213" y="3642184"/>
              <a:ext cx="514356" cy="513713"/>
            </a:xfrm>
            <a:custGeom>
              <a:avLst/>
              <a:gdLst/>
              <a:ahLst/>
              <a:cxnLst/>
              <a:rect l="l" t="t" r="r" b="b"/>
              <a:pathLst>
                <a:path w="514356" h="513713">
                  <a:moveTo>
                    <a:pt x="0" y="0"/>
                  </a:moveTo>
                  <a:lnTo>
                    <a:pt x="514355" y="0"/>
                  </a:lnTo>
                  <a:lnTo>
                    <a:pt x="514355" y="513713"/>
                  </a:lnTo>
                  <a:lnTo>
                    <a:pt x="0" y="513713"/>
                  </a:lnTo>
                  <a:lnTo>
                    <a:pt x="0" y="0"/>
                  </a:lnTo>
                  <a:close/>
                </a:path>
              </a:pathLst>
            </a:custGeom>
            <a:blipFill>
              <a:blip r:embed="rId10"/>
              <a:stretch>
                <a:fillRect/>
              </a:stretch>
            </a:blipFill>
          </p:spPr>
        </p:sp>
        <p:sp>
          <p:nvSpPr>
            <p:cNvPr id="20" name="Freeform 20"/>
            <p:cNvSpPr/>
            <p:nvPr/>
          </p:nvSpPr>
          <p:spPr>
            <a:xfrm>
              <a:off x="18272746" y="5061325"/>
              <a:ext cx="1252220" cy="1004906"/>
            </a:xfrm>
            <a:custGeom>
              <a:avLst/>
              <a:gdLst/>
              <a:ahLst/>
              <a:cxnLst/>
              <a:rect l="l" t="t" r="r" b="b"/>
              <a:pathLst>
                <a:path w="1252220" h="1004906">
                  <a:moveTo>
                    <a:pt x="0" y="0"/>
                  </a:moveTo>
                  <a:lnTo>
                    <a:pt x="1252220" y="0"/>
                  </a:lnTo>
                  <a:lnTo>
                    <a:pt x="1252220" y="1004906"/>
                  </a:lnTo>
                  <a:lnTo>
                    <a:pt x="0" y="1004906"/>
                  </a:lnTo>
                  <a:lnTo>
                    <a:pt x="0" y="0"/>
                  </a:lnTo>
                  <a:close/>
                </a:path>
              </a:pathLst>
            </a:custGeom>
            <a:blipFill>
              <a:blip r:embed="rId16"/>
              <a:stretch>
                <a:fillRect/>
              </a:stretch>
            </a:blipFill>
          </p:spPr>
        </p:sp>
      </p:grpSp>
      <p:sp>
        <p:nvSpPr>
          <p:cNvPr id="21" name="TextBox 21"/>
          <p:cNvSpPr txBox="1"/>
          <p:nvPr/>
        </p:nvSpPr>
        <p:spPr>
          <a:xfrm>
            <a:off x="4688368" y="2078585"/>
            <a:ext cx="8911264" cy="2519792"/>
          </a:xfrm>
          <a:prstGeom prst="rect">
            <a:avLst/>
          </a:prstGeom>
        </p:spPr>
        <p:txBody>
          <a:bodyPr lIns="0" tIns="0" rIns="0" bIns="0" rtlCol="0" anchor="t">
            <a:spAutoFit/>
          </a:bodyPr>
          <a:lstStyle/>
          <a:p>
            <a:pPr algn="ctr">
              <a:lnSpc>
                <a:spcPts val="9788"/>
              </a:lnSpc>
            </a:pPr>
            <a:r>
              <a:rPr lang="en-US" sz="9503" b="1">
                <a:solidFill>
                  <a:srgbClr val="3E3E3E"/>
                </a:solidFill>
                <a:latin typeface="Nunito Heavy"/>
                <a:ea typeface="Nunito Heavy"/>
                <a:cs typeface="Nunito Heavy"/>
                <a:sym typeface="Nunito Heavy"/>
              </a:rPr>
              <a:t>Questions and answers</a:t>
            </a:r>
          </a:p>
        </p:txBody>
      </p:sp>
      <p:sp>
        <p:nvSpPr>
          <p:cNvPr id="22" name="TextBox 22"/>
          <p:cNvSpPr txBox="1"/>
          <p:nvPr/>
        </p:nvSpPr>
        <p:spPr>
          <a:xfrm>
            <a:off x="5396930" y="1246668"/>
            <a:ext cx="7494140" cy="568866"/>
          </a:xfrm>
          <a:prstGeom prst="rect">
            <a:avLst/>
          </a:prstGeom>
        </p:spPr>
        <p:txBody>
          <a:bodyPr lIns="0" tIns="0" rIns="0" bIns="0" rtlCol="0" anchor="t">
            <a:spAutoFit/>
          </a:bodyPr>
          <a:lstStyle/>
          <a:p>
            <a:pPr algn="ctr">
              <a:lnSpc>
                <a:spcPts val="4542"/>
              </a:lnSpc>
            </a:pPr>
            <a:r>
              <a:rPr lang="en-US" sz="3849" b="1">
                <a:solidFill>
                  <a:srgbClr val="3E3E3E"/>
                </a:solidFill>
                <a:latin typeface="Nunito Ultra-Bold"/>
                <a:ea typeface="Nunito Ultra-Bold"/>
                <a:cs typeface="Nunito Ultra-Bold"/>
                <a:sym typeface="Nunito Ultra-Bold"/>
              </a:rPr>
              <a:t>Moment of</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1F0F0"/>
        </a:solid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Colorful Modern 3D Marketing Plan Presentation</dc:title>
  <cp:lastModifiedBy>Mahmoud Atef</cp:lastModifiedBy>
  <cp:revision>2</cp:revision>
  <dcterms:created xsi:type="dcterms:W3CDTF">2006-08-16T00:00:00Z</dcterms:created>
  <dcterms:modified xsi:type="dcterms:W3CDTF">2025-11-14T20:25:09Z</dcterms:modified>
  <dc:identifier>DAG0cgaghqk</dc:identifier>
</cp:coreProperties>
</file>