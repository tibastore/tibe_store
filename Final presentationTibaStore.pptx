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Lst>
  <p:sldSz cx="18288000" cy="10287000"/>
  <p:notesSz cx="6858000" cy="9144000"/>
  <p:embeddedFontLst>
    <p:embeddedFont>
      <p:font typeface="Noto Sans Bold" charset="1" panose="020B0802040504020204"/>
      <p:regular r:id="rId44"/>
    </p:embeddedFont>
    <p:embeddedFont>
      <p:font typeface="Droid Arabic Naskh Bold" charset="1" panose="020B0806030804020204"/>
      <p:regular r:id="rId45"/>
    </p:embeddedFont>
    <p:embeddedFont>
      <p:font typeface="Canva Sans Bold" charset="1" panose="020B0803030501040103"/>
      <p:regular r:id="rId46"/>
    </p:embeddedFont>
    <p:embeddedFont>
      <p:font typeface="Montserrat Bold" charset="1" panose="00000800000000000000"/>
      <p:regular r:id="rId4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fonts/font44.fntdata" Type="http://schemas.openxmlformats.org/officeDocument/2006/relationships/font"/><Relationship Id="rId45" Target="fonts/font45.fntdata" Type="http://schemas.openxmlformats.org/officeDocument/2006/relationships/font"/><Relationship Id="rId46" Target="fonts/font46.fntdata" Type="http://schemas.openxmlformats.org/officeDocument/2006/relationships/font"/><Relationship Id="rId47" Target="fonts/font47.fntdata" Type="http://schemas.openxmlformats.org/officeDocument/2006/relationships/font"/><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png" Type="http://schemas.openxmlformats.org/officeDocument/2006/relationships/image"/><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 Id="rId8" Target="../media/image8.png" Type="http://schemas.openxmlformats.org/officeDocument/2006/relationships/image"/><Relationship Id="rId9" Target="../media/image9.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13.png" Type="http://schemas.openxmlformats.org/officeDocument/2006/relationships/image"/><Relationship Id="rId7" Target="../media/image14.png" Type="http://schemas.openxmlformats.org/officeDocument/2006/relationships/image"/><Relationship Id="rId8" Target="../media/image15.png" Type="http://schemas.openxmlformats.org/officeDocument/2006/relationships/image"/><Relationship Id="rId9" Target="../media/image16.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16.png" Type="http://schemas.openxmlformats.org/officeDocument/2006/relationships/image"/><Relationship Id="rId5" Target="../media/image17.png" Type="http://schemas.openxmlformats.org/officeDocument/2006/relationships/image"/><Relationship Id="rId6" Target="../media/image18.png" Type="http://schemas.openxmlformats.org/officeDocument/2006/relationships/image"/><Relationship Id="rId7" Target="../media/image19.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16.png" Type="http://schemas.openxmlformats.org/officeDocument/2006/relationships/image"/><Relationship Id="rId5" Target="../media/image17.png" Type="http://schemas.openxmlformats.org/officeDocument/2006/relationships/image"/><Relationship Id="rId6" Target="../media/image18.png" Type="http://schemas.openxmlformats.org/officeDocument/2006/relationships/image"/><Relationship Id="rId7" Target="../media/image19.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4.png" Type="http://schemas.openxmlformats.org/officeDocument/2006/relationships/image"/><Relationship Id="rId11" Target="../media/image14.png" Type="http://schemas.openxmlformats.org/officeDocument/2006/relationships/image"/><Relationship Id="rId12" Target="../media/image16.png" Type="http://schemas.openxmlformats.org/officeDocument/2006/relationships/image"/><Relationship Id="rId13" Target="../media/image15.png" Type="http://schemas.openxmlformats.org/officeDocument/2006/relationships/image"/><Relationship Id="rId14" Target="../media/image17.png" Type="http://schemas.openxmlformats.org/officeDocument/2006/relationships/image"/><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20.png" Type="http://schemas.openxmlformats.org/officeDocument/2006/relationships/image"/><Relationship Id="rId7" Target="../media/image21.svg" Type="http://schemas.openxmlformats.org/officeDocument/2006/relationships/image"/><Relationship Id="rId8" Target="../media/image22.png" Type="http://schemas.openxmlformats.org/officeDocument/2006/relationships/image"/><Relationship Id="rId9" Target="../media/image23.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jpeg" Type="http://schemas.openxmlformats.org/officeDocument/2006/relationships/image"/><Relationship Id="rId3" Target="../media/image26.jpeg" Type="http://schemas.openxmlformats.org/officeDocument/2006/relationships/image"/><Relationship Id="rId4" Target="../media/image27.jpeg" Type="http://schemas.openxmlformats.org/officeDocument/2006/relationships/image"/><Relationship Id="rId5" Target="../media/image28.jpeg" Type="http://schemas.openxmlformats.org/officeDocument/2006/relationships/image"/><Relationship Id="rId6" Target="../media/image29.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0.jpeg" Type="http://schemas.openxmlformats.org/officeDocument/2006/relationships/image"/><Relationship Id="rId3" Target="../media/image31.jpeg" Type="http://schemas.openxmlformats.org/officeDocument/2006/relationships/image"/><Relationship Id="rId4" Target="../media/image32.jpeg" Type="http://schemas.openxmlformats.org/officeDocument/2006/relationships/image"/><Relationship Id="rId5" Target="../media/image33.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4.jpeg" Type="http://schemas.openxmlformats.org/officeDocument/2006/relationships/image"/><Relationship Id="rId3" Target="../media/image35.jpeg" Type="http://schemas.openxmlformats.org/officeDocument/2006/relationships/image"/><Relationship Id="rId4" Target="../media/image36.jpeg" Type="http://schemas.openxmlformats.org/officeDocument/2006/relationships/image"/><Relationship Id="rId5" Target="../media/image37.jpeg" Type="http://schemas.openxmlformats.org/officeDocument/2006/relationships/image"/><Relationship Id="rId6" Target="https://www.facebook.com/profile.php?id=61581922016882" TargetMode="External" Type="http://schemas.openxmlformats.org/officeDocument/2006/relationships/hyperlink"/></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2.png" Type="http://schemas.openxmlformats.org/officeDocument/2006/relationships/image"/><Relationship Id="rId11" Target="../media/image23.svg" Type="http://schemas.openxmlformats.org/officeDocument/2006/relationships/image"/><Relationship Id="rId12" Target="../media/image38.png" Type="http://schemas.openxmlformats.org/officeDocument/2006/relationships/image"/><Relationship Id="rId13" Target="../media/image14.png" Type="http://schemas.openxmlformats.org/officeDocument/2006/relationships/image"/><Relationship Id="rId14" Target="../media/image16.png" Type="http://schemas.openxmlformats.org/officeDocument/2006/relationships/image"/><Relationship Id="rId15" Target="../media/image39.png" Type="http://schemas.openxmlformats.org/officeDocument/2006/relationships/image"/><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 Id="rId8" Target="../media/image20.png" Type="http://schemas.openxmlformats.org/officeDocument/2006/relationships/image"/><Relationship Id="rId9" Target="../media/image21.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2.png" Type="http://schemas.openxmlformats.org/officeDocument/2006/relationships/image"/><Relationship Id="rId11" Target="../media/image23.svg" Type="http://schemas.openxmlformats.org/officeDocument/2006/relationships/image"/><Relationship Id="rId12" Target="../media/image40.png" Type="http://schemas.openxmlformats.org/officeDocument/2006/relationships/image"/><Relationship Id="rId2" Target="../media/image2.png" Type="http://schemas.openxmlformats.org/officeDocument/2006/relationships/image"/><Relationship Id="rId3" Target="../media/image3.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4.png" Type="http://schemas.openxmlformats.org/officeDocument/2006/relationships/image"/><Relationship Id="rId7" Target="../media/image5.svg" Type="http://schemas.openxmlformats.org/officeDocument/2006/relationships/image"/><Relationship Id="rId8" Target="../media/image20.png" Type="http://schemas.openxmlformats.org/officeDocument/2006/relationships/image"/><Relationship Id="rId9" Target="../media/image21.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2.png" Type="http://schemas.openxmlformats.org/officeDocument/2006/relationships/image"/><Relationship Id="rId11" Target="../media/image23.svg" Type="http://schemas.openxmlformats.org/officeDocument/2006/relationships/image"/><Relationship Id="rId12" Target="../media/image40.png" Type="http://schemas.openxmlformats.org/officeDocument/2006/relationships/image"/><Relationship Id="rId2" Target="../media/image2.png" Type="http://schemas.openxmlformats.org/officeDocument/2006/relationships/image"/><Relationship Id="rId3" Target="../media/image3.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4.png" Type="http://schemas.openxmlformats.org/officeDocument/2006/relationships/image"/><Relationship Id="rId7" Target="../media/image5.svg" Type="http://schemas.openxmlformats.org/officeDocument/2006/relationships/image"/><Relationship Id="rId8" Target="../media/image20.png" Type="http://schemas.openxmlformats.org/officeDocument/2006/relationships/image"/><Relationship Id="rId9" Target="../media/image21.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1.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16.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42.png" Type="http://schemas.openxmlformats.org/officeDocument/2006/relationships/image"/><Relationship Id="rId7" Target="../media/image16.png" Type="http://schemas.openxmlformats.org/officeDocument/2006/relationships/image"/><Relationship Id="rId8" Target="../media/image18.png" Type="http://schemas.openxmlformats.org/officeDocument/2006/relationships/image"/><Relationship Id="rId9" Target="../media/image19.sv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16.png" Type="http://schemas.openxmlformats.org/officeDocument/2006/relationships/image"/><Relationship Id="rId7" Target="../media/image18.png" Type="http://schemas.openxmlformats.org/officeDocument/2006/relationships/image"/><Relationship Id="rId8" Target="../media/image19.sv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 Id="rId4" Target="../media/image14.png" Type="http://schemas.openxmlformats.org/officeDocument/2006/relationships/image"/><Relationship Id="rId5" Target="../media/image16.png" Type="http://schemas.openxmlformats.org/officeDocument/2006/relationships/image"/><Relationship Id="rId6" Target="../media/image15.png" Type="http://schemas.openxmlformats.org/officeDocument/2006/relationships/image"/><Relationship Id="rId7" Target="../media/image43.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4.png" Type="http://schemas.openxmlformats.org/officeDocument/2006/relationships/image"/><Relationship Id="rId7" Target="../media/image16.png" Type="http://schemas.openxmlformats.org/officeDocument/2006/relationships/image"/><Relationship Id="rId8" Target="../media/image15.png" Type="http://schemas.openxmlformats.org/officeDocument/2006/relationships/image"/><Relationship Id="rId9" Target="../media/image43.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4.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2.png" Type="http://schemas.openxmlformats.org/officeDocument/2006/relationships/image"/><Relationship Id="rId11" Target="../media/image23.svg" Type="http://schemas.openxmlformats.org/officeDocument/2006/relationships/image"/><Relationship Id="rId12" Target="../media/image47.png" Type="http://schemas.openxmlformats.org/officeDocument/2006/relationships/image"/><Relationship Id="rId13" Target="../media/image16.png" Type="http://schemas.openxmlformats.org/officeDocument/2006/relationships/image"/><Relationship Id="rId14" Target="../media/image15.png" Type="http://schemas.openxmlformats.org/officeDocument/2006/relationships/image"/><Relationship Id="rId15" Target="../media/image48.png" Type="http://schemas.openxmlformats.org/officeDocument/2006/relationships/image"/><Relationship Id="rId16" Target="../media/image24.png" Type="http://schemas.openxmlformats.org/officeDocument/2006/relationships/image"/><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 Id="rId8" Target="../media/image45.png" Type="http://schemas.openxmlformats.org/officeDocument/2006/relationships/image"/><Relationship Id="rId9" Target="../media/image46.sv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9.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0.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1.jpe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2.jpe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53.pn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68003" y="-377796"/>
            <a:ext cx="18670798" cy="11644740"/>
          </a:xfrm>
          <a:custGeom>
            <a:avLst/>
            <a:gdLst/>
            <a:ahLst/>
            <a:cxnLst/>
            <a:rect r="r" b="b" t="t" l="l"/>
            <a:pathLst>
              <a:path h="11644740" w="18670798">
                <a:moveTo>
                  <a:pt x="0" y="0"/>
                </a:moveTo>
                <a:lnTo>
                  <a:pt x="18670799" y="0"/>
                </a:lnTo>
                <a:lnTo>
                  <a:pt x="18670799" y="11644740"/>
                </a:lnTo>
                <a:lnTo>
                  <a:pt x="0" y="11644740"/>
                </a:lnTo>
                <a:lnTo>
                  <a:pt x="0" y="0"/>
                </a:lnTo>
                <a:close/>
              </a:path>
            </a:pathLst>
          </a:custGeom>
          <a:blipFill>
            <a:blip r:embed="rId2"/>
            <a:stretch>
              <a:fillRect l="0" t="-33837" r="0" b="-26499"/>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972417" y="-2665598"/>
            <a:ext cx="19929383" cy="13477245"/>
          </a:xfrm>
          <a:custGeom>
            <a:avLst/>
            <a:gdLst/>
            <a:ahLst/>
            <a:cxnLst/>
            <a:rect r="r" b="b" t="t" l="l"/>
            <a:pathLst>
              <a:path h="13477245" w="19929383">
                <a:moveTo>
                  <a:pt x="0" y="0"/>
                </a:moveTo>
                <a:lnTo>
                  <a:pt x="19929383" y="0"/>
                </a:lnTo>
                <a:lnTo>
                  <a:pt x="19929383" y="13477245"/>
                </a:lnTo>
                <a:lnTo>
                  <a:pt x="0" y="13477245"/>
                </a:lnTo>
                <a:lnTo>
                  <a:pt x="0" y="0"/>
                </a:lnTo>
                <a:close/>
              </a:path>
            </a:pathLst>
          </a:custGeom>
          <a:blipFill>
            <a:blip r:embed="rId2">
              <a:alphaModFix amt="55000"/>
              <a:extLst>
                <a:ext uri="{96DAC541-7B7A-43D3-8B79-37D633B846F1}">
                  <asvg:svgBlip xmlns:asvg="http://schemas.microsoft.com/office/drawing/2016/SVG/main" r:embed="rId3"/>
                </a:ext>
              </a:extLst>
            </a:blip>
            <a:stretch>
              <a:fillRect l="0" t="-92" r="0" b="-92"/>
            </a:stretch>
          </a:blipFill>
        </p:spPr>
      </p:sp>
      <p:sp>
        <p:nvSpPr>
          <p:cNvPr name="Freeform 3" id="3"/>
          <p:cNvSpPr/>
          <p:nvPr/>
        </p:nvSpPr>
        <p:spPr>
          <a:xfrm flipH="false" flipV="false" rot="0">
            <a:off x="-2366630" y="7281974"/>
            <a:ext cx="3395330" cy="3807991"/>
          </a:xfrm>
          <a:custGeom>
            <a:avLst/>
            <a:gdLst/>
            <a:ahLst/>
            <a:cxnLst/>
            <a:rect r="r" b="b" t="t" l="l"/>
            <a:pathLst>
              <a:path h="3807991" w="3395330">
                <a:moveTo>
                  <a:pt x="0" y="0"/>
                </a:moveTo>
                <a:lnTo>
                  <a:pt x="3395330" y="0"/>
                </a:lnTo>
                <a:lnTo>
                  <a:pt x="3395330" y="3807991"/>
                </a:lnTo>
                <a:lnTo>
                  <a:pt x="0" y="380799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4672013" y="4998839"/>
            <a:ext cx="1125867" cy="1266673"/>
          </a:xfrm>
          <a:custGeom>
            <a:avLst/>
            <a:gdLst/>
            <a:ahLst/>
            <a:cxnLst/>
            <a:rect r="r" b="b" t="t" l="l"/>
            <a:pathLst>
              <a:path h="1266673" w="1125867">
                <a:moveTo>
                  <a:pt x="0" y="0"/>
                </a:moveTo>
                <a:lnTo>
                  <a:pt x="1125867" y="0"/>
                </a:lnTo>
                <a:lnTo>
                  <a:pt x="1125867" y="1266673"/>
                </a:lnTo>
                <a:lnTo>
                  <a:pt x="0" y="126667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 id="5"/>
          <p:cNvGrpSpPr/>
          <p:nvPr/>
        </p:nvGrpSpPr>
        <p:grpSpPr>
          <a:xfrm rot="0">
            <a:off x="9818633" y="1658091"/>
            <a:ext cx="8154350" cy="7948169"/>
            <a:chOff x="0" y="0"/>
            <a:chExt cx="3540912" cy="3451381"/>
          </a:xfrm>
        </p:grpSpPr>
        <p:sp>
          <p:nvSpPr>
            <p:cNvPr name="Freeform 6" id="6"/>
            <p:cNvSpPr/>
            <p:nvPr/>
          </p:nvSpPr>
          <p:spPr>
            <a:xfrm flipH="false" flipV="false" rot="0">
              <a:off x="0" y="0"/>
              <a:ext cx="3540887" cy="3451349"/>
            </a:xfrm>
            <a:custGeom>
              <a:avLst/>
              <a:gdLst/>
              <a:ahLst/>
              <a:cxnLst/>
              <a:rect r="r" b="b" t="t" l="l"/>
              <a:pathLst>
                <a:path h="3451349" w="3540887">
                  <a:moveTo>
                    <a:pt x="0" y="0"/>
                  </a:moveTo>
                  <a:lnTo>
                    <a:pt x="3540887" y="0"/>
                  </a:lnTo>
                  <a:lnTo>
                    <a:pt x="3540887" y="3451349"/>
                  </a:lnTo>
                  <a:lnTo>
                    <a:pt x="0" y="3451349"/>
                  </a:lnTo>
                  <a:lnTo>
                    <a:pt x="0" y="0"/>
                  </a:lnTo>
                  <a:close/>
                </a:path>
              </a:pathLst>
            </a:custGeom>
            <a:blipFill>
              <a:blip r:embed="rId8"/>
              <a:stretch>
                <a:fillRect l="0" t="-616" r="0" b="-617"/>
              </a:stretch>
            </a:blipFill>
          </p:spPr>
        </p:sp>
      </p:grpSp>
      <p:grpSp>
        <p:nvGrpSpPr>
          <p:cNvPr name="Group 7" id="7"/>
          <p:cNvGrpSpPr/>
          <p:nvPr/>
        </p:nvGrpSpPr>
        <p:grpSpPr>
          <a:xfrm rot="0">
            <a:off x="418113" y="204964"/>
            <a:ext cx="1343882" cy="934874"/>
            <a:chOff x="0" y="0"/>
            <a:chExt cx="1791843" cy="1246499"/>
          </a:xfrm>
        </p:grpSpPr>
        <p:sp>
          <p:nvSpPr>
            <p:cNvPr name="Freeform 8" id="8"/>
            <p:cNvSpPr/>
            <p:nvPr/>
          </p:nvSpPr>
          <p:spPr>
            <a:xfrm flipH="false" flipV="false" rot="0">
              <a:off x="0" y="0"/>
              <a:ext cx="1791843" cy="1246505"/>
            </a:xfrm>
            <a:custGeom>
              <a:avLst/>
              <a:gdLst/>
              <a:ahLst/>
              <a:cxnLst/>
              <a:rect r="r" b="b" t="t" l="l"/>
              <a:pathLst>
                <a:path h="1246505" w="1791843">
                  <a:moveTo>
                    <a:pt x="0" y="0"/>
                  </a:moveTo>
                  <a:lnTo>
                    <a:pt x="1791843" y="0"/>
                  </a:lnTo>
                  <a:lnTo>
                    <a:pt x="1791843" y="1246505"/>
                  </a:lnTo>
                  <a:lnTo>
                    <a:pt x="0" y="1246505"/>
                  </a:lnTo>
                  <a:lnTo>
                    <a:pt x="0" y="0"/>
                  </a:lnTo>
                  <a:close/>
                </a:path>
              </a:pathLst>
            </a:custGeom>
            <a:blipFill>
              <a:blip r:embed="rId9"/>
              <a:stretch>
                <a:fillRect l="0" t="0" r="0" b="0"/>
              </a:stretch>
            </a:blipFill>
          </p:spPr>
        </p:sp>
      </p:grpSp>
      <p:sp>
        <p:nvSpPr>
          <p:cNvPr name="TextBox 9" id="9"/>
          <p:cNvSpPr txBox="true"/>
          <p:nvPr/>
        </p:nvSpPr>
        <p:spPr>
          <a:xfrm rot="0">
            <a:off x="1499861" y="2174463"/>
            <a:ext cx="7025432" cy="1494739"/>
          </a:xfrm>
          <a:prstGeom prst="rect">
            <a:avLst/>
          </a:prstGeom>
        </p:spPr>
        <p:txBody>
          <a:bodyPr anchor="t" rtlCol="false" tIns="0" lIns="0" bIns="0" rIns="0">
            <a:spAutoFit/>
          </a:bodyPr>
          <a:lstStyle/>
          <a:p>
            <a:pPr algn="ctr">
              <a:lnSpc>
                <a:spcPts val="11328"/>
              </a:lnSpc>
            </a:pPr>
            <a:r>
              <a:rPr lang="en-US" b="true" sz="10997">
                <a:solidFill>
                  <a:srgbClr val="18BBB5"/>
                </a:solidFill>
                <a:latin typeface="Noto Sans Bold"/>
                <a:ea typeface="Noto Sans Bold"/>
                <a:cs typeface="Noto Sans Bold"/>
                <a:sym typeface="Noto Sans Bold"/>
              </a:rPr>
              <a:t>Tiba Store</a:t>
            </a:r>
          </a:p>
        </p:txBody>
      </p:sp>
      <p:sp>
        <p:nvSpPr>
          <p:cNvPr name="TextBox 10" id="10"/>
          <p:cNvSpPr txBox="true"/>
          <p:nvPr/>
        </p:nvSpPr>
        <p:spPr>
          <a:xfrm rot="0">
            <a:off x="1761995" y="6110130"/>
            <a:ext cx="5888326" cy="2554186"/>
          </a:xfrm>
          <a:prstGeom prst="rect">
            <a:avLst/>
          </a:prstGeom>
        </p:spPr>
        <p:txBody>
          <a:bodyPr anchor="t" rtlCol="false" tIns="0" lIns="0" bIns="0" rIns="0">
            <a:spAutoFit/>
          </a:bodyPr>
          <a:lstStyle/>
          <a:p>
            <a:pPr algn="ctr">
              <a:lnSpc>
                <a:spcPts val="5066"/>
              </a:lnSpc>
            </a:pPr>
            <a:r>
              <a:rPr lang="en-US" b="true" sz="4294">
                <a:solidFill>
                  <a:srgbClr val="2B4863"/>
                </a:solidFill>
                <a:latin typeface="Droid Arabic Naskh Bold"/>
                <a:ea typeface="Droid Arabic Naskh Bold"/>
                <a:cs typeface="Droid Arabic Naskh Bold"/>
                <a:sym typeface="Droid Arabic Naskh Bold"/>
              </a:rPr>
              <a:t>Omar Abdelhady </a:t>
            </a:r>
          </a:p>
          <a:p>
            <a:pPr algn="ctr">
              <a:lnSpc>
                <a:spcPts val="5066"/>
              </a:lnSpc>
            </a:pPr>
            <a:r>
              <a:rPr lang="en-US" b="true" sz="4294">
                <a:solidFill>
                  <a:srgbClr val="2B4863"/>
                </a:solidFill>
                <a:latin typeface="Droid Arabic Naskh Bold"/>
                <a:ea typeface="Droid Arabic Naskh Bold"/>
                <a:cs typeface="Droid Arabic Naskh Bold"/>
                <a:sym typeface="Droid Arabic Naskh Bold"/>
              </a:rPr>
              <a:t>Elsayed Hassan</a:t>
            </a:r>
          </a:p>
          <a:p>
            <a:pPr algn="ctr">
              <a:lnSpc>
                <a:spcPts val="5066"/>
              </a:lnSpc>
            </a:pPr>
            <a:r>
              <a:rPr lang="en-US" b="true" sz="4294">
                <a:solidFill>
                  <a:srgbClr val="2B4863"/>
                </a:solidFill>
                <a:latin typeface="Droid Arabic Naskh Bold"/>
                <a:ea typeface="Droid Arabic Naskh Bold"/>
                <a:cs typeface="Droid Arabic Naskh Bold"/>
                <a:sym typeface="Droid Arabic Naskh Bold"/>
              </a:rPr>
              <a:t>Mahmoud Atef </a:t>
            </a:r>
          </a:p>
          <a:p>
            <a:pPr algn="ctr">
              <a:lnSpc>
                <a:spcPts val="5066"/>
              </a:lnSpc>
            </a:pPr>
            <a:r>
              <a:rPr lang="en-US" b="true" sz="4294">
                <a:solidFill>
                  <a:srgbClr val="2B4863"/>
                </a:solidFill>
                <a:latin typeface="Droid Arabic Naskh Bold"/>
                <a:ea typeface="Droid Arabic Naskh Bold"/>
                <a:cs typeface="Droid Arabic Naskh Bold"/>
                <a:sym typeface="Droid Arabic Naskh Bold"/>
              </a:rPr>
              <a:t>Ahmed Reda </a:t>
            </a:r>
          </a:p>
        </p:txBody>
      </p:sp>
      <p:sp>
        <p:nvSpPr>
          <p:cNvPr name="TextBox 11" id="11"/>
          <p:cNvSpPr txBox="true"/>
          <p:nvPr/>
        </p:nvSpPr>
        <p:spPr>
          <a:xfrm rot="0">
            <a:off x="7108642" y="1949685"/>
            <a:ext cx="3805813" cy="581142"/>
          </a:xfrm>
          <a:prstGeom prst="rect">
            <a:avLst/>
          </a:prstGeom>
        </p:spPr>
        <p:txBody>
          <a:bodyPr anchor="t" rtlCol="false" tIns="0" lIns="0" bIns="0" rIns="0">
            <a:spAutoFit/>
          </a:bodyPr>
          <a:lstStyle/>
          <a:p>
            <a:pPr algn="ctr">
              <a:lnSpc>
                <a:spcPts val="2279"/>
              </a:lnSpc>
            </a:pPr>
            <a:r>
              <a:rPr lang="en-US" b="true" sz="2212">
                <a:solidFill>
                  <a:srgbClr val="FFFFFF"/>
                </a:solidFill>
                <a:latin typeface="Droid Arabic Naskh Bold"/>
                <a:ea typeface="Droid Arabic Naskh Bold"/>
                <a:cs typeface="Droid Arabic Naskh Bold"/>
                <a:sym typeface="Droid Arabic Naskh Bold"/>
              </a:rPr>
              <a:t>Business project</a:t>
            </a:r>
          </a:p>
          <a:p>
            <a:pPr algn="ctr">
              <a:lnSpc>
                <a:spcPts val="2279"/>
              </a:lnSpc>
            </a:pPr>
            <a:r>
              <a:rPr lang="en-US" b="true" sz="2212">
                <a:solidFill>
                  <a:srgbClr val="FFFFFF"/>
                </a:solidFill>
                <a:latin typeface="Droid Arabic Naskh Bold"/>
                <a:ea typeface="Droid Arabic Naskh Bold"/>
                <a:cs typeface="Droid Arabic Naskh Bold"/>
                <a:sym typeface="Droid Arabic Naskh Bold"/>
              </a:rPr>
              <a:t> Click Creators</a:t>
            </a:r>
          </a:p>
        </p:txBody>
      </p:sp>
      <p:grpSp>
        <p:nvGrpSpPr>
          <p:cNvPr name="Group 12" id="12"/>
          <p:cNvGrpSpPr/>
          <p:nvPr/>
        </p:nvGrpSpPr>
        <p:grpSpPr>
          <a:xfrm rot="0">
            <a:off x="16545617" y="304517"/>
            <a:ext cx="1427366" cy="735768"/>
            <a:chOff x="0" y="0"/>
            <a:chExt cx="1903155" cy="981024"/>
          </a:xfrm>
        </p:grpSpPr>
        <p:sp>
          <p:nvSpPr>
            <p:cNvPr name="Freeform 13" id="13"/>
            <p:cNvSpPr/>
            <p:nvPr/>
          </p:nvSpPr>
          <p:spPr>
            <a:xfrm flipH="false" flipV="false" rot="0">
              <a:off x="0" y="0"/>
              <a:ext cx="1903095" cy="981075"/>
            </a:xfrm>
            <a:custGeom>
              <a:avLst/>
              <a:gdLst/>
              <a:ahLst/>
              <a:cxnLst/>
              <a:rect r="r" b="b" t="t" l="l"/>
              <a:pathLst>
                <a:path h="981075" w="1903095">
                  <a:moveTo>
                    <a:pt x="0" y="0"/>
                  </a:moveTo>
                  <a:lnTo>
                    <a:pt x="1903095" y="0"/>
                  </a:lnTo>
                  <a:lnTo>
                    <a:pt x="1903095" y="981075"/>
                  </a:lnTo>
                  <a:lnTo>
                    <a:pt x="0" y="981075"/>
                  </a:lnTo>
                  <a:lnTo>
                    <a:pt x="0" y="0"/>
                  </a:lnTo>
                  <a:close/>
                </a:path>
              </a:pathLst>
            </a:custGeom>
            <a:blipFill>
              <a:blip r:embed="rId10"/>
              <a:stretch>
                <a:fillRect l="-7733" t="0" r="-7736" b="5"/>
              </a:stretch>
            </a:blipFill>
          </p:spPr>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366630" y="7281974"/>
            <a:ext cx="3395330" cy="3807991"/>
          </a:xfrm>
          <a:custGeom>
            <a:avLst/>
            <a:gdLst/>
            <a:ahLst/>
            <a:cxnLst/>
            <a:rect r="r" b="b" t="t" l="l"/>
            <a:pathLst>
              <a:path h="3807991" w="3395330">
                <a:moveTo>
                  <a:pt x="0" y="0"/>
                </a:moveTo>
                <a:lnTo>
                  <a:pt x="3395330" y="0"/>
                </a:lnTo>
                <a:lnTo>
                  <a:pt x="3395330" y="3807991"/>
                </a:lnTo>
                <a:lnTo>
                  <a:pt x="0" y="380799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7259300" y="-947626"/>
            <a:ext cx="3395330" cy="3807991"/>
          </a:xfrm>
          <a:custGeom>
            <a:avLst/>
            <a:gdLst/>
            <a:ahLst/>
            <a:cxnLst/>
            <a:rect r="r" b="b" t="t" l="l"/>
            <a:pathLst>
              <a:path h="3807991" w="3395330">
                <a:moveTo>
                  <a:pt x="0" y="0"/>
                </a:moveTo>
                <a:lnTo>
                  <a:pt x="3395330" y="0"/>
                </a:lnTo>
                <a:lnTo>
                  <a:pt x="3395330" y="3807991"/>
                </a:lnTo>
                <a:lnTo>
                  <a:pt x="0" y="380799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19233307" y="13150943"/>
            <a:ext cx="1094134" cy="1103225"/>
            <a:chOff x="0" y="0"/>
            <a:chExt cx="1458845" cy="1470967"/>
          </a:xfrm>
        </p:grpSpPr>
        <p:sp>
          <p:nvSpPr>
            <p:cNvPr name="Freeform 5" id="5"/>
            <p:cNvSpPr/>
            <p:nvPr/>
          </p:nvSpPr>
          <p:spPr>
            <a:xfrm flipH="false" flipV="false" rot="0">
              <a:off x="0" y="0"/>
              <a:ext cx="1458849" cy="1470914"/>
            </a:xfrm>
            <a:custGeom>
              <a:avLst/>
              <a:gdLst/>
              <a:ahLst/>
              <a:cxnLst/>
              <a:rect r="r" b="b" t="t" l="l"/>
              <a:pathLst>
                <a:path h="1470914" w="1458849">
                  <a:moveTo>
                    <a:pt x="0" y="0"/>
                  </a:moveTo>
                  <a:lnTo>
                    <a:pt x="1458849" y="0"/>
                  </a:lnTo>
                  <a:lnTo>
                    <a:pt x="1458849" y="1470914"/>
                  </a:lnTo>
                  <a:lnTo>
                    <a:pt x="0" y="1470914"/>
                  </a:lnTo>
                  <a:lnTo>
                    <a:pt x="0" y="0"/>
                  </a:lnTo>
                  <a:close/>
                </a:path>
              </a:pathLst>
            </a:custGeom>
            <a:blipFill>
              <a:blip r:embed="rId6"/>
              <a:stretch>
                <a:fillRect l="0" t="-2499" r="0" b="-2503"/>
              </a:stretch>
            </a:blipFill>
          </p:spPr>
        </p:sp>
      </p:grpSp>
      <p:grpSp>
        <p:nvGrpSpPr>
          <p:cNvPr name="Group 6" id="6"/>
          <p:cNvGrpSpPr/>
          <p:nvPr/>
        </p:nvGrpSpPr>
        <p:grpSpPr>
          <a:xfrm rot="0">
            <a:off x="12818781" y="8323205"/>
            <a:ext cx="297475" cy="297103"/>
            <a:chOff x="0" y="0"/>
            <a:chExt cx="396633" cy="396137"/>
          </a:xfrm>
        </p:grpSpPr>
        <p:sp>
          <p:nvSpPr>
            <p:cNvPr name="Freeform 7" id="7"/>
            <p:cNvSpPr/>
            <p:nvPr/>
          </p:nvSpPr>
          <p:spPr>
            <a:xfrm flipH="false" flipV="false" rot="0">
              <a:off x="0" y="0"/>
              <a:ext cx="396621" cy="396113"/>
            </a:xfrm>
            <a:custGeom>
              <a:avLst/>
              <a:gdLst/>
              <a:ahLst/>
              <a:cxnLst/>
              <a:rect r="r" b="b" t="t" l="l"/>
              <a:pathLst>
                <a:path h="396113" w="396621">
                  <a:moveTo>
                    <a:pt x="0" y="0"/>
                  </a:moveTo>
                  <a:lnTo>
                    <a:pt x="396621" y="0"/>
                  </a:lnTo>
                  <a:lnTo>
                    <a:pt x="396621" y="396113"/>
                  </a:lnTo>
                  <a:lnTo>
                    <a:pt x="0" y="396113"/>
                  </a:lnTo>
                  <a:lnTo>
                    <a:pt x="0" y="0"/>
                  </a:lnTo>
                  <a:close/>
                </a:path>
              </a:pathLst>
            </a:custGeom>
            <a:blipFill>
              <a:blip r:embed="rId7"/>
              <a:stretch>
                <a:fillRect l="-146" t="0" r="-149" b="-6"/>
              </a:stretch>
            </a:blipFill>
          </p:spPr>
        </p:sp>
      </p:grpSp>
      <p:grpSp>
        <p:nvGrpSpPr>
          <p:cNvPr name="Group 8" id="8"/>
          <p:cNvGrpSpPr/>
          <p:nvPr/>
        </p:nvGrpSpPr>
        <p:grpSpPr>
          <a:xfrm rot="0">
            <a:off x="18643474" y="12272694"/>
            <a:ext cx="200145" cy="199894"/>
            <a:chOff x="0" y="0"/>
            <a:chExt cx="266860" cy="266526"/>
          </a:xfrm>
        </p:grpSpPr>
        <p:sp>
          <p:nvSpPr>
            <p:cNvPr name="Freeform 9" id="9"/>
            <p:cNvSpPr/>
            <p:nvPr/>
          </p:nvSpPr>
          <p:spPr>
            <a:xfrm flipH="false" flipV="false" rot="0">
              <a:off x="0" y="0"/>
              <a:ext cx="266827" cy="266573"/>
            </a:xfrm>
            <a:custGeom>
              <a:avLst/>
              <a:gdLst/>
              <a:ahLst/>
              <a:cxnLst/>
              <a:rect r="r" b="b" t="t" l="l"/>
              <a:pathLst>
                <a:path h="266573" w="266827">
                  <a:moveTo>
                    <a:pt x="0" y="0"/>
                  </a:moveTo>
                  <a:lnTo>
                    <a:pt x="266827" y="0"/>
                  </a:lnTo>
                  <a:lnTo>
                    <a:pt x="266827" y="266573"/>
                  </a:lnTo>
                  <a:lnTo>
                    <a:pt x="0" y="266573"/>
                  </a:lnTo>
                  <a:lnTo>
                    <a:pt x="0" y="0"/>
                  </a:lnTo>
                  <a:close/>
                </a:path>
              </a:pathLst>
            </a:custGeom>
            <a:blipFill>
              <a:blip r:embed="rId8"/>
              <a:stretch>
                <a:fillRect l="-146" t="0" r="-158" b="17"/>
              </a:stretch>
            </a:blipFill>
          </p:spPr>
        </p:sp>
      </p:grpSp>
      <p:grpSp>
        <p:nvGrpSpPr>
          <p:cNvPr name="Group 10" id="10"/>
          <p:cNvGrpSpPr/>
          <p:nvPr/>
        </p:nvGrpSpPr>
        <p:grpSpPr>
          <a:xfrm rot="0">
            <a:off x="20507495" y="12386378"/>
            <a:ext cx="364306" cy="363850"/>
            <a:chOff x="0" y="0"/>
            <a:chExt cx="485741" cy="485133"/>
          </a:xfrm>
        </p:grpSpPr>
        <p:sp>
          <p:nvSpPr>
            <p:cNvPr name="Freeform 11" id="11"/>
            <p:cNvSpPr/>
            <p:nvPr/>
          </p:nvSpPr>
          <p:spPr>
            <a:xfrm flipH="false" flipV="false" rot="0">
              <a:off x="0" y="0"/>
              <a:ext cx="485775" cy="485140"/>
            </a:xfrm>
            <a:custGeom>
              <a:avLst/>
              <a:gdLst/>
              <a:ahLst/>
              <a:cxnLst/>
              <a:rect r="r" b="b" t="t" l="l"/>
              <a:pathLst>
                <a:path h="485140" w="485775">
                  <a:moveTo>
                    <a:pt x="0" y="0"/>
                  </a:moveTo>
                  <a:lnTo>
                    <a:pt x="485775" y="0"/>
                  </a:lnTo>
                  <a:lnTo>
                    <a:pt x="485775" y="485140"/>
                  </a:lnTo>
                  <a:lnTo>
                    <a:pt x="0" y="485140"/>
                  </a:lnTo>
                  <a:lnTo>
                    <a:pt x="0" y="0"/>
                  </a:lnTo>
                  <a:close/>
                </a:path>
              </a:pathLst>
            </a:custGeom>
            <a:blipFill>
              <a:blip r:embed="rId9"/>
              <a:stretch>
                <a:fillRect l="0" t="-62" r="6" b="-61"/>
              </a:stretch>
            </a:blipFill>
          </p:spPr>
        </p:sp>
      </p:grpSp>
      <p:sp>
        <p:nvSpPr>
          <p:cNvPr name="TextBox 12" id="12"/>
          <p:cNvSpPr txBox="true"/>
          <p:nvPr/>
        </p:nvSpPr>
        <p:spPr>
          <a:xfrm rot="0">
            <a:off x="-419530" y="98666"/>
            <a:ext cx="18042125" cy="9956318"/>
          </a:xfrm>
          <a:prstGeom prst="rect">
            <a:avLst/>
          </a:prstGeom>
        </p:spPr>
        <p:txBody>
          <a:bodyPr anchor="t" rtlCol="false" tIns="0" lIns="0" bIns="0" rIns="0">
            <a:spAutoFit/>
          </a:bodyPr>
          <a:lstStyle/>
          <a:p>
            <a:pPr algn="ctr">
              <a:lnSpc>
                <a:spcPts val="9799"/>
              </a:lnSpc>
            </a:pPr>
            <a:r>
              <a:rPr lang="en-US" b="true" sz="6999">
                <a:solidFill>
                  <a:srgbClr val="2B4863"/>
                </a:solidFill>
                <a:latin typeface="Noto Sans Bold"/>
                <a:ea typeface="Noto Sans Bold"/>
                <a:cs typeface="Noto Sans Bold"/>
                <a:sym typeface="Noto Sans Bold"/>
              </a:rPr>
              <a:t>Project idea</a:t>
            </a:r>
          </a:p>
          <a:p>
            <a:pPr algn="ctr">
              <a:lnSpc>
                <a:spcPts val="4397"/>
              </a:lnSpc>
            </a:pPr>
          </a:p>
          <a:p>
            <a:pPr algn="ctr" marL="731532" indent="-243844" lvl="2">
              <a:lnSpc>
                <a:spcPts val="4479"/>
              </a:lnSpc>
              <a:buFont typeface="Arial"/>
              <a:buChar char="⚬"/>
            </a:pPr>
            <a:r>
              <a:rPr lang="en-US" b="true" sz="3200">
                <a:solidFill>
                  <a:srgbClr val="000000"/>
                </a:solidFill>
                <a:latin typeface="Droid Arabic Naskh Bold"/>
                <a:ea typeface="Droid Arabic Naskh Bold"/>
                <a:cs typeface="Droid Arabic Naskh Bold"/>
                <a:sym typeface="Droid Arabic Naskh Bold"/>
              </a:rPr>
              <a:t>Tiba Store is an Egyptian store offering a diverse range of high-quality beauty, cleaning, and baby care products at affordable prices.</a:t>
            </a:r>
          </a:p>
          <a:p>
            <a:pPr algn="ctr" marL="731532" indent="-243844" lvl="2">
              <a:lnSpc>
                <a:spcPts val="4479"/>
              </a:lnSpc>
            </a:pPr>
          </a:p>
          <a:p>
            <a:pPr algn="ctr" marL="731532" indent="-243844" lvl="2">
              <a:lnSpc>
                <a:spcPts val="4479"/>
              </a:lnSpc>
              <a:buFont typeface="Arial"/>
              <a:buChar char="⚬"/>
            </a:pPr>
            <a:r>
              <a:rPr lang="en-US" b="true" sz="3200">
                <a:solidFill>
                  <a:srgbClr val="000000"/>
                </a:solidFill>
                <a:latin typeface="Droid Arabic Naskh Bold"/>
                <a:ea typeface="Droid Arabic Naskh Bold"/>
                <a:cs typeface="Droid Arabic Naskh Bold"/>
                <a:sym typeface="Droid Arabic Naskh Bold"/>
              </a:rPr>
              <a:t>Located in Banha, the store serves customers through both its physical store and online shop, providing a convenient and efficient shopping experience.</a:t>
            </a:r>
          </a:p>
          <a:p>
            <a:pPr algn="ctr" marL="731532" indent="-243844" lvl="2">
              <a:lnSpc>
                <a:spcPts val="4479"/>
              </a:lnSpc>
            </a:pPr>
          </a:p>
          <a:p>
            <a:pPr algn="ctr" marL="731532" indent="-243844" lvl="2">
              <a:lnSpc>
                <a:spcPts val="4479"/>
              </a:lnSpc>
              <a:buFont typeface="Arial"/>
              <a:buChar char="⚬"/>
            </a:pPr>
            <a:r>
              <a:rPr lang="en-US" b="true" sz="3200">
                <a:solidFill>
                  <a:srgbClr val="000000"/>
                </a:solidFill>
                <a:latin typeface="Droid Arabic Naskh Bold"/>
                <a:ea typeface="Droid Arabic Naskh Bold"/>
                <a:cs typeface="Droid Arabic Naskh Bold"/>
                <a:sym typeface="Droid Arabic Naskh Bold"/>
              </a:rPr>
              <a:t>What sets Tiba Store apart is its reliance on a local digital experience, enabling same-day delivery within Banha, with direct communication via social media and WhatsApp.</a:t>
            </a:r>
          </a:p>
          <a:p>
            <a:pPr algn="ctr" marL="731532" indent="-243844" lvl="2">
              <a:lnSpc>
                <a:spcPts val="4479"/>
              </a:lnSpc>
            </a:pPr>
          </a:p>
          <a:p>
            <a:pPr algn="ctr" marL="731532" indent="-243844" lvl="2">
              <a:lnSpc>
                <a:spcPts val="4479"/>
              </a:lnSpc>
              <a:buFont typeface="Arial"/>
              <a:buChar char="⚬"/>
            </a:pPr>
            <a:r>
              <a:rPr lang="en-US" b="true" sz="3200">
                <a:solidFill>
                  <a:srgbClr val="000000"/>
                </a:solidFill>
                <a:latin typeface="Droid Arabic Naskh Bold"/>
                <a:ea typeface="Droid Arabic Naskh Bold"/>
                <a:cs typeface="Droid Arabic Naskh Bold"/>
                <a:sym typeface="Droid Arabic Naskh Bold"/>
              </a:rPr>
              <a:t>The store also offers helpful educational content on home care, beauty, and childcare, adding real value to its customers beyond the purchase itself.</a:t>
            </a:r>
          </a:p>
          <a:p>
            <a:pPr algn="ctr" marL="924015" indent="-308005" lvl="2">
              <a:lnSpc>
                <a:spcPts val="5657"/>
              </a:lnSpc>
            </a:pPr>
          </a:p>
          <a:p>
            <a:pPr algn="ctr" marL="924015" indent="-308005" lvl="2">
              <a:lnSpc>
                <a:spcPts val="5657"/>
              </a:lnSpc>
            </a:pPr>
            <a:r>
              <a:rPr lang="en-US" b="true" sz="4041">
                <a:solidFill>
                  <a:srgbClr val="000000"/>
                </a:solidFill>
                <a:latin typeface="Droid Arabic Naskh Bold"/>
                <a:ea typeface="Droid Arabic Naskh Bold"/>
                <a:cs typeface="Droid Arabic Naskh Bold"/>
                <a:sym typeface="Droid Arabic Naskh Bold"/>
              </a:rPr>
              <a:t>Tiba Store – The best for your family every day.</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7259300" y="-947626"/>
            <a:ext cx="3395330" cy="3807991"/>
          </a:xfrm>
          <a:custGeom>
            <a:avLst/>
            <a:gdLst/>
            <a:ahLst/>
            <a:cxnLst/>
            <a:rect r="r" b="b" t="t" l="l"/>
            <a:pathLst>
              <a:path h="3807991" w="3395330">
                <a:moveTo>
                  <a:pt x="0" y="0"/>
                </a:moveTo>
                <a:lnTo>
                  <a:pt x="3395330" y="0"/>
                </a:lnTo>
                <a:lnTo>
                  <a:pt x="3395330" y="3807991"/>
                </a:lnTo>
                <a:lnTo>
                  <a:pt x="0" y="380799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2965881" y="10522919"/>
            <a:ext cx="587017" cy="586283"/>
            <a:chOff x="0" y="0"/>
            <a:chExt cx="782689" cy="781711"/>
          </a:xfrm>
        </p:grpSpPr>
        <p:sp>
          <p:nvSpPr>
            <p:cNvPr name="Freeform 4" id="4"/>
            <p:cNvSpPr/>
            <p:nvPr/>
          </p:nvSpPr>
          <p:spPr>
            <a:xfrm flipH="false" flipV="false" rot="0">
              <a:off x="0" y="0"/>
              <a:ext cx="782701" cy="781685"/>
            </a:xfrm>
            <a:custGeom>
              <a:avLst/>
              <a:gdLst/>
              <a:ahLst/>
              <a:cxnLst/>
              <a:rect r="r" b="b" t="t" l="l"/>
              <a:pathLst>
                <a:path h="781685" w="782701">
                  <a:moveTo>
                    <a:pt x="0" y="0"/>
                  </a:moveTo>
                  <a:lnTo>
                    <a:pt x="782701" y="0"/>
                  </a:lnTo>
                  <a:lnTo>
                    <a:pt x="782701" y="781685"/>
                  </a:lnTo>
                  <a:lnTo>
                    <a:pt x="0" y="781685"/>
                  </a:lnTo>
                  <a:lnTo>
                    <a:pt x="0" y="0"/>
                  </a:lnTo>
                  <a:close/>
                </a:path>
              </a:pathLst>
            </a:custGeom>
            <a:blipFill>
              <a:blip r:embed="rId4"/>
              <a:stretch>
                <a:fillRect l="0" t="-62" r="1" b="-65"/>
              </a:stretch>
            </a:blipFill>
          </p:spPr>
        </p:sp>
      </p:grpSp>
      <p:grpSp>
        <p:nvGrpSpPr>
          <p:cNvPr name="Group 5" id="5"/>
          <p:cNvGrpSpPr/>
          <p:nvPr/>
        </p:nvGrpSpPr>
        <p:grpSpPr>
          <a:xfrm rot="0">
            <a:off x="19115411" y="1043076"/>
            <a:ext cx="362285" cy="361832"/>
            <a:chOff x="0" y="0"/>
            <a:chExt cx="483047" cy="482443"/>
          </a:xfrm>
        </p:grpSpPr>
        <p:sp>
          <p:nvSpPr>
            <p:cNvPr name="Freeform 6" id="6"/>
            <p:cNvSpPr/>
            <p:nvPr/>
          </p:nvSpPr>
          <p:spPr>
            <a:xfrm flipH="false" flipV="false" rot="0">
              <a:off x="0" y="0"/>
              <a:ext cx="483108" cy="482473"/>
            </a:xfrm>
            <a:custGeom>
              <a:avLst/>
              <a:gdLst/>
              <a:ahLst/>
              <a:cxnLst/>
              <a:rect r="r" b="b" t="t" l="l"/>
              <a:pathLst>
                <a:path h="482473" w="483108">
                  <a:moveTo>
                    <a:pt x="0" y="0"/>
                  </a:moveTo>
                  <a:lnTo>
                    <a:pt x="483108" y="0"/>
                  </a:lnTo>
                  <a:lnTo>
                    <a:pt x="483108" y="482473"/>
                  </a:lnTo>
                  <a:lnTo>
                    <a:pt x="0" y="482473"/>
                  </a:lnTo>
                  <a:lnTo>
                    <a:pt x="0" y="0"/>
                  </a:lnTo>
                  <a:close/>
                </a:path>
              </a:pathLst>
            </a:custGeom>
            <a:blipFill>
              <a:blip r:embed="rId5"/>
              <a:stretch>
                <a:fillRect l="0" t="-62" r="12" b="-56"/>
              </a:stretch>
            </a:blipFill>
          </p:spPr>
        </p:sp>
      </p:grpSp>
      <p:sp>
        <p:nvSpPr>
          <p:cNvPr name="TextBox 7" id="7"/>
          <p:cNvSpPr txBox="true"/>
          <p:nvPr/>
        </p:nvSpPr>
        <p:spPr>
          <a:xfrm rot="0">
            <a:off x="3949675" y="263204"/>
            <a:ext cx="10388650" cy="960788"/>
          </a:xfrm>
          <a:prstGeom prst="rect">
            <a:avLst/>
          </a:prstGeom>
        </p:spPr>
        <p:txBody>
          <a:bodyPr anchor="t" rtlCol="false" tIns="0" lIns="0" bIns="0" rIns="0">
            <a:spAutoFit/>
          </a:bodyPr>
          <a:lstStyle/>
          <a:p>
            <a:pPr algn="l">
              <a:lnSpc>
                <a:spcPts val="7209"/>
              </a:lnSpc>
            </a:pPr>
            <a:r>
              <a:rPr lang="en-US" b="true" sz="6999">
                <a:solidFill>
                  <a:srgbClr val="153153"/>
                </a:solidFill>
                <a:latin typeface="Noto Sans Bold"/>
                <a:ea typeface="Noto Sans Bold"/>
                <a:cs typeface="Noto Sans Bold"/>
                <a:sym typeface="Noto Sans Bold"/>
              </a:rPr>
              <a:t>Vision &amp; Business Goals</a:t>
            </a:r>
          </a:p>
        </p:txBody>
      </p:sp>
      <p:sp>
        <p:nvSpPr>
          <p:cNvPr name="TextBox 8" id="8"/>
          <p:cNvSpPr txBox="true"/>
          <p:nvPr/>
        </p:nvSpPr>
        <p:spPr>
          <a:xfrm rot="0">
            <a:off x="1028700" y="1690661"/>
            <a:ext cx="16347168" cy="7567639"/>
          </a:xfrm>
          <a:prstGeom prst="rect">
            <a:avLst/>
          </a:prstGeom>
        </p:spPr>
        <p:txBody>
          <a:bodyPr anchor="t" rtlCol="false" tIns="0" lIns="0" bIns="0" rIns="0">
            <a:spAutoFit/>
          </a:bodyPr>
          <a:lstStyle/>
          <a:p>
            <a:pPr algn="ctr">
              <a:lnSpc>
                <a:spcPts val="8258"/>
              </a:lnSpc>
            </a:pPr>
            <a:r>
              <a:rPr lang="en-US" b="true" sz="6999">
                <a:solidFill>
                  <a:srgbClr val="2B4863"/>
                </a:solidFill>
                <a:latin typeface="Droid Arabic Naskh Bold"/>
                <a:ea typeface="Droid Arabic Naskh Bold"/>
                <a:cs typeface="Droid Arabic Naskh Bold"/>
                <a:sym typeface="Droid Arabic Naskh Bold"/>
              </a:rPr>
              <a:t>V</a:t>
            </a:r>
            <a:r>
              <a:rPr lang="en-US" b="true" sz="6999">
                <a:solidFill>
                  <a:srgbClr val="2B4863"/>
                </a:solidFill>
                <a:latin typeface="Droid Arabic Naskh Bold"/>
                <a:ea typeface="Droid Arabic Naskh Bold"/>
                <a:cs typeface="Droid Arabic Naskh Bold"/>
                <a:sym typeface="Droid Arabic Naskh Bold"/>
              </a:rPr>
              <a:t>ision</a:t>
            </a:r>
          </a:p>
          <a:p>
            <a:pPr algn="ctr">
              <a:lnSpc>
                <a:spcPts val="4937"/>
              </a:lnSpc>
            </a:pPr>
          </a:p>
          <a:p>
            <a:pPr algn="ctr">
              <a:lnSpc>
                <a:spcPts val="4715"/>
              </a:lnSpc>
            </a:pPr>
            <a:r>
              <a:rPr lang="en-US" b="true" sz="3999">
                <a:solidFill>
                  <a:srgbClr val="2B4863"/>
                </a:solidFill>
                <a:latin typeface="Droid Arabic Naskh Bold"/>
                <a:ea typeface="Droid Arabic Naskh Bold"/>
                <a:cs typeface="Droid Arabic Naskh Bold"/>
                <a:sym typeface="Droid Arabic Naskh Bold"/>
              </a:rPr>
              <a:t>Ti</a:t>
            </a:r>
            <a:r>
              <a:rPr lang="en-US" b="true" sz="3999">
                <a:solidFill>
                  <a:srgbClr val="2B4863"/>
                </a:solidFill>
                <a:latin typeface="Droid Arabic Naskh Bold"/>
                <a:ea typeface="Droid Arabic Naskh Bold"/>
                <a:cs typeface="Droid Arabic Naskh Bold"/>
                <a:sym typeface="Droid Arabic Naskh Bold"/>
              </a:rPr>
              <a:t>ba Store aims to be the premier destination for residents of Banha for high-quality home care, beauty, and baby products, offering a convenient shopping experience.</a:t>
            </a:r>
          </a:p>
          <a:p>
            <a:pPr algn="ctr">
              <a:lnSpc>
                <a:spcPts val="4715"/>
              </a:lnSpc>
            </a:pPr>
          </a:p>
          <a:p>
            <a:pPr algn="ctr">
              <a:lnSpc>
                <a:spcPts val="4718"/>
              </a:lnSpc>
            </a:pPr>
            <a:r>
              <a:rPr lang="en-US" b="true" sz="3999">
                <a:solidFill>
                  <a:srgbClr val="2B4863"/>
                </a:solidFill>
                <a:latin typeface="Droid Arabic Naskh Bold"/>
                <a:ea typeface="Droid Arabic Naskh Bold"/>
                <a:cs typeface="Droid Arabic Naskh Bold"/>
                <a:sym typeface="Droid Arabic Naskh Bold"/>
              </a:rPr>
              <a:t>Tiba Store focuses on providing a seamless local digital experience that combines online shopping with direct customer service via social media and a dedicated Banha WhatsApp group, ensuring safe and reliable products at affordable prices and delivered on time.</a:t>
            </a:r>
          </a:p>
          <a:p>
            <a:pPr algn="ctr" rtl="true">
              <a:lnSpc>
                <a:spcPts val="4715"/>
              </a:lnSpc>
            </a:pPr>
          </a:p>
        </p:txBody>
      </p:sp>
      <p:sp>
        <p:nvSpPr>
          <p:cNvPr name="Freeform 9" id="9"/>
          <p:cNvSpPr/>
          <p:nvPr/>
        </p:nvSpPr>
        <p:spPr>
          <a:xfrm flipH="false" flipV="false" rot="0">
            <a:off x="-2366630" y="7008070"/>
            <a:ext cx="3395330" cy="3807991"/>
          </a:xfrm>
          <a:custGeom>
            <a:avLst/>
            <a:gdLst/>
            <a:ahLst/>
            <a:cxnLst/>
            <a:rect r="r" b="b" t="t" l="l"/>
            <a:pathLst>
              <a:path h="3807991" w="3395330">
                <a:moveTo>
                  <a:pt x="0" y="0"/>
                </a:moveTo>
                <a:lnTo>
                  <a:pt x="3395330" y="0"/>
                </a:lnTo>
                <a:lnTo>
                  <a:pt x="3395330" y="3807991"/>
                </a:lnTo>
                <a:lnTo>
                  <a:pt x="0" y="380799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7259300" y="-947626"/>
            <a:ext cx="3395330" cy="3807991"/>
          </a:xfrm>
          <a:custGeom>
            <a:avLst/>
            <a:gdLst/>
            <a:ahLst/>
            <a:cxnLst/>
            <a:rect r="r" b="b" t="t" l="l"/>
            <a:pathLst>
              <a:path h="3807991" w="3395330">
                <a:moveTo>
                  <a:pt x="0" y="0"/>
                </a:moveTo>
                <a:lnTo>
                  <a:pt x="3395330" y="0"/>
                </a:lnTo>
                <a:lnTo>
                  <a:pt x="3395330" y="3807991"/>
                </a:lnTo>
                <a:lnTo>
                  <a:pt x="0" y="380799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2965881" y="10522919"/>
            <a:ext cx="587017" cy="586283"/>
            <a:chOff x="0" y="0"/>
            <a:chExt cx="782689" cy="781711"/>
          </a:xfrm>
        </p:grpSpPr>
        <p:sp>
          <p:nvSpPr>
            <p:cNvPr name="Freeform 4" id="4"/>
            <p:cNvSpPr/>
            <p:nvPr/>
          </p:nvSpPr>
          <p:spPr>
            <a:xfrm flipH="false" flipV="false" rot="0">
              <a:off x="0" y="0"/>
              <a:ext cx="782701" cy="781685"/>
            </a:xfrm>
            <a:custGeom>
              <a:avLst/>
              <a:gdLst/>
              <a:ahLst/>
              <a:cxnLst/>
              <a:rect r="r" b="b" t="t" l="l"/>
              <a:pathLst>
                <a:path h="781685" w="782701">
                  <a:moveTo>
                    <a:pt x="0" y="0"/>
                  </a:moveTo>
                  <a:lnTo>
                    <a:pt x="782701" y="0"/>
                  </a:lnTo>
                  <a:lnTo>
                    <a:pt x="782701" y="781685"/>
                  </a:lnTo>
                  <a:lnTo>
                    <a:pt x="0" y="781685"/>
                  </a:lnTo>
                  <a:lnTo>
                    <a:pt x="0" y="0"/>
                  </a:lnTo>
                  <a:close/>
                </a:path>
              </a:pathLst>
            </a:custGeom>
            <a:blipFill>
              <a:blip r:embed="rId4"/>
              <a:stretch>
                <a:fillRect l="0" t="-62" r="1" b="-65"/>
              </a:stretch>
            </a:blipFill>
          </p:spPr>
        </p:sp>
      </p:grpSp>
      <p:grpSp>
        <p:nvGrpSpPr>
          <p:cNvPr name="Group 5" id="5"/>
          <p:cNvGrpSpPr/>
          <p:nvPr/>
        </p:nvGrpSpPr>
        <p:grpSpPr>
          <a:xfrm rot="0">
            <a:off x="19115411" y="1043076"/>
            <a:ext cx="362285" cy="361832"/>
            <a:chOff x="0" y="0"/>
            <a:chExt cx="483047" cy="482443"/>
          </a:xfrm>
        </p:grpSpPr>
        <p:sp>
          <p:nvSpPr>
            <p:cNvPr name="Freeform 6" id="6"/>
            <p:cNvSpPr/>
            <p:nvPr/>
          </p:nvSpPr>
          <p:spPr>
            <a:xfrm flipH="false" flipV="false" rot="0">
              <a:off x="0" y="0"/>
              <a:ext cx="483108" cy="482473"/>
            </a:xfrm>
            <a:custGeom>
              <a:avLst/>
              <a:gdLst/>
              <a:ahLst/>
              <a:cxnLst/>
              <a:rect r="r" b="b" t="t" l="l"/>
              <a:pathLst>
                <a:path h="482473" w="483108">
                  <a:moveTo>
                    <a:pt x="0" y="0"/>
                  </a:moveTo>
                  <a:lnTo>
                    <a:pt x="483108" y="0"/>
                  </a:lnTo>
                  <a:lnTo>
                    <a:pt x="483108" y="482473"/>
                  </a:lnTo>
                  <a:lnTo>
                    <a:pt x="0" y="482473"/>
                  </a:lnTo>
                  <a:lnTo>
                    <a:pt x="0" y="0"/>
                  </a:lnTo>
                  <a:close/>
                </a:path>
              </a:pathLst>
            </a:custGeom>
            <a:blipFill>
              <a:blip r:embed="rId5"/>
              <a:stretch>
                <a:fillRect l="0" t="-62" r="12" b="-56"/>
              </a:stretch>
            </a:blipFill>
          </p:spPr>
        </p:sp>
      </p:grpSp>
      <p:sp>
        <p:nvSpPr>
          <p:cNvPr name="TextBox 7" id="7"/>
          <p:cNvSpPr txBox="true"/>
          <p:nvPr/>
        </p:nvSpPr>
        <p:spPr>
          <a:xfrm rot="0">
            <a:off x="4369192" y="219787"/>
            <a:ext cx="10388650" cy="960788"/>
          </a:xfrm>
          <a:prstGeom prst="rect">
            <a:avLst/>
          </a:prstGeom>
        </p:spPr>
        <p:txBody>
          <a:bodyPr anchor="t" rtlCol="false" tIns="0" lIns="0" bIns="0" rIns="0">
            <a:spAutoFit/>
          </a:bodyPr>
          <a:lstStyle/>
          <a:p>
            <a:pPr algn="l">
              <a:lnSpc>
                <a:spcPts val="7209"/>
              </a:lnSpc>
            </a:pPr>
            <a:r>
              <a:rPr lang="en-US" b="true" sz="6999">
                <a:solidFill>
                  <a:srgbClr val="153153"/>
                </a:solidFill>
                <a:latin typeface="Noto Sans Bold"/>
                <a:ea typeface="Noto Sans Bold"/>
                <a:cs typeface="Noto Sans Bold"/>
                <a:sym typeface="Noto Sans Bold"/>
              </a:rPr>
              <a:t>Vision &amp; Business Goals</a:t>
            </a:r>
          </a:p>
        </p:txBody>
      </p:sp>
      <p:sp>
        <p:nvSpPr>
          <p:cNvPr name="TextBox 8" id="8"/>
          <p:cNvSpPr txBox="true"/>
          <p:nvPr/>
        </p:nvSpPr>
        <p:spPr>
          <a:xfrm rot="0">
            <a:off x="1455733" y="1052601"/>
            <a:ext cx="15803567" cy="8890536"/>
          </a:xfrm>
          <a:prstGeom prst="rect">
            <a:avLst/>
          </a:prstGeom>
        </p:spPr>
        <p:txBody>
          <a:bodyPr anchor="t" rtlCol="false" tIns="0" lIns="0" bIns="0" rIns="0">
            <a:spAutoFit/>
          </a:bodyPr>
          <a:lstStyle/>
          <a:p>
            <a:pPr algn="ctr">
              <a:lnSpc>
                <a:spcPts val="8198"/>
              </a:lnSpc>
            </a:pPr>
            <a:r>
              <a:rPr lang="en-US" b="true" sz="6948">
                <a:solidFill>
                  <a:srgbClr val="2B4863"/>
                </a:solidFill>
                <a:latin typeface="Droid Arabic Naskh Bold"/>
                <a:ea typeface="Droid Arabic Naskh Bold"/>
                <a:cs typeface="Droid Arabic Naskh Bold"/>
                <a:sym typeface="Droid Arabic Naskh Bold"/>
              </a:rPr>
              <a:t>Business Goals</a:t>
            </a:r>
          </a:p>
          <a:p>
            <a:pPr algn="ctr" rtl="true">
              <a:lnSpc>
                <a:spcPts val="4725"/>
              </a:lnSpc>
            </a:pPr>
          </a:p>
          <a:p>
            <a:pPr algn="ctr" rtl="true" marL="723045" indent="-361523" lvl="1">
              <a:lnSpc>
                <a:spcPts val="3950"/>
              </a:lnSpc>
              <a:buAutoNum type="arabicPeriod" startAt="1"/>
            </a:pPr>
            <a:r>
              <a:rPr lang="en-US" b="true" sz="3348">
                <a:solidFill>
                  <a:srgbClr val="2B4863"/>
                </a:solidFill>
                <a:latin typeface="Droid Arabic Naskh Bold"/>
                <a:ea typeface="Droid Arabic Naskh Bold"/>
                <a:cs typeface="Droid Arabic Naskh Bold"/>
                <a:sym typeface="Droid Arabic Naskh Bold"/>
              </a:rPr>
              <a:t>Increase brand awareness in Banha: Enhance Tiba Store's presence across digital and social platforms to boost its reputation and build trust within the local community</a:t>
            </a:r>
            <a:r>
              <a:rPr lang="ar-EG" b="true" sz="3348">
                <a:solidFill>
                  <a:srgbClr val="2B4863"/>
                </a:solidFill>
                <a:latin typeface="Droid Arabic Naskh Bold"/>
                <a:ea typeface="Droid Arabic Naskh Bold"/>
                <a:cs typeface="Droid Arabic Naskh Bold"/>
                <a:sym typeface="Droid Arabic Naskh Bold"/>
                <a:rtl val="true"/>
              </a:rPr>
              <a:t>.</a:t>
            </a:r>
          </a:p>
          <a:p>
            <a:pPr algn="ctr" rtl="true">
              <a:lnSpc>
                <a:spcPts val="4725"/>
              </a:lnSpc>
            </a:pPr>
          </a:p>
          <a:p>
            <a:pPr algn="ctr" rtl="true">
              <a:lnSpc>
                <a:spcPts val="3950"/>
              </a:lnSpc>
            </a:pPr>
            <a:r>
              <a:rPr lang="en-US" b="true" sz="3348">
                <a:solidFill>
                  <a:srgbClr val="2B4863"/>
                </a:solidFill>
                <a:latin typeface="Droid Arabic Naskh Bold"/>
                <a:ea typeface="Droid Arabic Naskh Bold"/>
                <a:cs typeface="Droid Arabic Naskh Bold"/>
                <a:sym typeface="Droid Arabic Naskh Bold"/>
              </a:rPr>
              <a:t>Attract and retain customers: Continuously engage with Banha residents through digital channels and offer them tailored deals and services</a:t>
            </a:r>
            <a:r>
              <a:rPr lang="ar-EG" b="true" sz="3348">
                <a:solidFill>
                  <a:srgbClr val="2B4863"/>
                </a:solidFill>
                <a:latin typeface="Droid Arabic Naskh Bold"/>
                <a:ea typeface="Droid Arabic Naskh Bold"/>
                <a:cs typeface="Droid Arabic Naskh Bold"/>
                <a:sym typeface="Droid Arabic Naskh Bold"/>
                <a:rtl val="true"/>
              </a:rPr>
              <a:t>.</a:t>
            </a:r>
          </a:p>
          <a:p>
            <a:pPr algn="ctr" rtl="true">
              <a:lnSpc>
                <a:spcPts val="4725"/>
              </a:lnSpc>
            </a:pPr>
          </a:p>
          <a:p>
            <a:pPr algn="ctr" rtl="true">
              <a:lnSpc>
                <a:spcPts val="3950"/>
              </a:lnSpc>
            </a:pPr>
            <a:r>
              <a:rPr lang="en-US" b="true" sz="3348">
                <a:solidFill>
                  <a:srgbClr val="2B4863"/>
                </a:solidFill>
                <a:latin typeface="Droid Arabic Naskh Bold"/>
                <a:ea typeface="Droid Arabic Naskh Bold"/>
                <a:cs typeface="Droid Arabic Naskh Bold"/>
                <a:sym typeface="Droid Arabic Naskh Bold"/>
              </a:rPr>
              <a:t>Grow local sales: Achieve significant growth in demand and sales within the city by improving the shopping experience and providing fast delivery</a:t>
            </a:r>
            <a:r>
              <a:rPr lang="ar-EG" b="true" sz="3348">
                <a:solidFill>
                  <a:srgbClr val="2B4863"/>
                </a:solidFill>
                <a:latin typeface="Droid Arabic Naskh Bold"/>
                <a:ea typeface="Droid Arabic Naskh Bold"/>
                <a:cs typeface="Droid Arabic Naskh Bold"/>
                <a:sym typeface="Droid Arabic Naskh Bold"/>
                <a:rtl val="true"/>
              </a:rPr>
              <a:t>.</a:t>
            </a:r>
          </a:p>
          <a:p>
            <a:pPr algn="ctr" rtl="true">
              <a:lnSpc>
                <a:spcPts val="4725"/>
              </a:lnSpc>
            </a:pPr>
          </a:p>
          <a:p>
            <a:pPr algn="ctr" rtl="true">
              <a:lnSpc>
                <a:spcPts val="3950"/>
              </a:lnSpc>
            </a:pPr>
            <a:r>
              <a:rPr lang="en-US" b="true" sz="3348">
                <a:solidFill>
                  <a:srgbClr val="2B4863"/>
                </a:solidFill>
                <a:latin typeface="Droid Arabic Naskh Bold"/>
                <a:ea typeface="Droid Arabic Naskh Bold"/>
                <a:cs typeface="Droid Arabic Naskh Bold"/>
                <a:sym typeface="Droid Arabic Naskh Bold"/>
              </a:rPr>
              <a:t>Build community loyalty: Foster a sense of belonging to Taiba Store as a trusted local brand that meets the needs of Banha families and adds real value to their lives</a:t>
            </a:r>
            <a:r>
              <a:rPr lang="ar-EG" b="true" sz="3348">
                <a:solidFill>
                  <a:srgbClr val="2B4863"/>
                </a:solidFill>
                <a:latin typeface="Droid Arabic Naskh Bold"/>
                <a:ea typeface="Droid Arabic Naskh Bold"/>
                <a:cs typeface="Droid Arabic Naskh Bold"/>
                <a:sym typeface="Droid Arabic Naskh Bold"/>
                <a:rtl val="true"/>
              </a:rPr>
              <a:t>.</a:t>
            </a:r>
          </a:p>
        </p:txBody>
      </p:sp>
      <p:sp>
        <p:nvSpPr>
          <p:cNvPr name="Freeform 9" id="9"/>
          <p:cNvSpPr/>
          <p:nvPr/>
        </p:nvSpPr>
        <p:spPr>
          <a:xfrm flipH="false" flipV="false" rot="0">
            <a:off x="-2366630" y="7008070"/>
            <a:ext cx="3395330" cy="3807991"/>
          </a:xfrm>
          <a:custGeom>
            <a:avLst/>
            <a:gdLst/>
            <a:ahLst/>
            <a:cxnLst/>
            <a:rect r="r" b="b" t="t" l="l"/>
            <a:pathLst>
              <a:path h="3807991" w="3395330">
                <a:moveTo>
                  <a:pt x="0" y="0"/>
                </a:moveTo>
                <a:lnTo>
                  <a:pt x="3395330" y="0"/>
                </a:lnTo>
                <a:lnTo>
                  <a:pt x="3395330" y="3807991"/>
                </a:lnTo>
                <a:lnTo>
                  <a:pt x="0" y="380799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972417" y="-2665598"/>
            <a:ext cx="19929383" cy="13477245"/>
          </a:xfrm>
          <a:custGeom>
            <a:avLst/>
            <a:gdLst/>
            <a:ahLst/>
            <a:cxnLst/>
            <a:rect r="r" b="b" t="t" l="l"/>
            <a:pathLst>
              <a:path h="13477245" w="19929383">
                <a:moveTo>
                  <a:pt x="0" y="0"/>
                </a:moveTo>
                <a:lnTo>
                  <a:pt x="19929383" y="0"/>
                </a:lnTo>
                <a:lnTo>
                  <a:pt x="19929383" y="13477245"/>
                </a:lnTo>
                <a:lnTo>
                  <a:pt x="0" y="13477245"/>
                </a:lnTo>
                <a:lnTo>
                  <a:pt x="0" y="0"/>
                </a:lnTo>
                <a:close/>
              </a:path>
            </a:pathLst>
          </a:custGeom>
          <a:blipFill>
            <a:blip r:embed="rId2">
              <a:alphaModFix amt="55000"/>
              <a:extLst>
                <a:ext uri="{96DAC541-7B7A-43D3-8B79-37D633B846F1}">
                  <asvg:svgBlip xmlns:asvg="http://schemas.microsoft.com/office/drawing/2016/SVG/main" r:embed="rId3"/>
                </a:ext>
              </a:extLst>
            </a:blip>
            <a:stretch>
              <a:fillRect l="0" t="-92" r="0" b="-92"/>
            </a:stretch>
          </a:blipFill>
        </p:spPr>
      </p:sp>
      <p:sp>
        <p:nvSpPr>
          <p:cNvPr name="Freeform 3" id="3"/>
          <p:cNvSpPr/>
          <p:nvPr/>
        </p:nvSpPr>
        <p:spPr>
          <a:xfrm flipH="false" flipV="false" rot="0">
            <a:off x="17259300" y="-947626"/>
            <a:ext cx="3395330" cy="3807991"/>
          </a:xfrm>
          <a:custGeom>
            <a:avLst/>
            <a:gdLst/>
            <a:ahLst/>
            <a:cxnLst/>
            <a:rect r="r" b="b" t="t" l="l"/>
            <a:pathLst>
              <a:path h="3807991" w="3395330">
                <a:moveTo>
                  <a:pt x="0" y="0"/>
                </a:moveTo>
                <a:lnTo>
                  <a:pt x="3395330" y="0"/>
                </a:lnTo>
                <a:lnTo>
                  <a:pt x="3395330" y="3807991"/>
                </a:lnTo>
                <a:lnTo>
                  <a:pt x="0" y="380799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4672013" y="4998839"/>
            <a:ext cx="1125867" cy="1266673"/>
          </a:xfrm>
          <a:custGeom>
            <a:avLst/>
            <a:gdLst/>
            <a:ahLst/>
            <a:cxnLst/>
            <a:rect r="r" b="b" t="t" l="l"/>
            <a:pathLst>
              <a:path h="1266673" w="1125867">
                <a:moveTo>
                  <a:pt x="0" y="0"/>
                </a:moveTo>
                <a:lnTo>
                  <a:pt x="1125867" y="0"/>
                </a:lnTo>
                <a:lnTo>
                  <a:pt x="1125867" y="1266673"/>
                </a:lnTo>
                <a:lnTo>
                  <a:pt x="0" y="126667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4672013" y="4998839"/>
            <a:ext cx="1125867" cy="1266673"/>
          </a:xfrm>
          <a:custGeom>
            <a:avLst/>
            <a:gdLst/>
            <a:ahLst/>
            <a:cxnLst/>
            <a:rect r="r" b="b" t="t" l="l"/>
            <a:pathLst>
              <a:path h="1266673" w="1125867">
                <a:moveTo>
                  <a:pt x="0" y="0"/>
                </a:moveTo>
                <a:lnTo>
                  <a:pt x="1125867" y="0"/>
                </a:lnTo>
                <a:lnTo>
                  <a:pt x="1125867" y="1266673"/>
                </a:lnTo>
                <a:lnTo>
                  <a:pt x="0" y="126667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6" id="6"/>
          <p:cNvSpPr txBox="true"/>
          <p:nvPr/>
        </p:nvSpPr>
        <p:spPr>
          <a:xfrm rot="0">
            <a:off x="5512222" y="667346"/>
            <a:ext cx="7263557" cy="951230"/>
          </a:xfrm>
          <a:prstGeom prst="rect">
            <a:avLst/>
          </a:prstGeom>
        </p:spPr>
        <p:txBody>
          <a:bodyPr anchor="t" rtlCol="false" tIns="0" lIns="0" bIns="0" rIns="0">
            <a:spAutoFit/>
          </a:bodyPr>
          <a:lstStyle/>
          <a:p>
            <a:pPr algn="ctr">
              <a:lnSpc>
                <a:spcPts val="7209"/>
              </a:lnSpc>
            </a:pPr>
            <a:r>
              <a:rPr lang="en-US" b="true" sz="6999">
                <a:solidFill>
                  <a:srgbClr val="2B4863"/>
                </a:solidFill>
                <a:latin typeface="Droid Arabic Naskh Bold"/>
                <a:ea typeface="Droid Arabic Naskh Bold"/>
                <a:cs typeface="Droid Arabic Naskh Bold"/>
                <a:sym typeface="Droid Arabic Naskh Bold"/>
              </a:rPr>
              <a:t>Services Offered</a:t>
            </a:r>
          </a:p>
        </p:txBody>
      </p:sp>
      <p:sp>
        <p:nvSpPr>
          <p:cNvPr name="TextBox 7" id="7"/>
          <p:cNvSpPr txBox="true"/>
          <p:nvPr/>
        </p:nvSpPr>
        <p:spPr>
          <a:xfrm rot="0">
            <a:off x="779665" y="1571713"/>
            <a:ext cx="15439382" cy="8246295"/>
          </a:xfrm>
          <a:prstGeom prst="rect">
            <a:avLst/>
          </a:prstGeom>
        </p:spPr>
        <p:txBody>
          <a:bodyPr anchor="t" rtlCol="false" tIns="0" lIns="0" bIns="0" rIns="0">
            <a:spAutoFit/>
          </a:bodyPr>
          <a:lstStyle/>
          <a:p>
            <a:pPr algn="ctr">
              <a:lnSpc>
                <a:spcPts val="5425"/>
              </a:lnSpc>
            </a:pPr>
          </a:p>
          <a:p>
            <a:pPr algn="l">
              <a:lnSpc>
                <a:spcPts val="5425"/>
              </a:lnSpc>
            </a:pPr>
            <a:r>
              <a:rPr lang="en-US" b="true" sz="3500">
                <a:solidFill>
                  <a:srgbClr val="2B4863"/>
                </a:solidFill>
                <a:latin typeface="Droid Arabic Naskh Bold"/>
                <a:ea typeface="Droid Arabic Naskh Bold"/>
                <a:cs typeface="Droid Arabic Naskh Bold"/>
                <a:sym typeface="Droid Arabic Naskh Bold"/>
              </a:rPr>
              <a:t>Shopping via Social Media: Taiba Store allows customers to easily order their products through direct messages, including:</a:t>
            </a:r>
          </a:p>
          <a:p>
            <a:pPr algn="l">
              <a:lnSpc>
                <a:spcPts val="5425"/>
              </a:lnSpc>
            </a:pPr>
            <a:r>
              <a:rPr lang="en-US" b="true" sz="3500">
                <a:solidFill>
                  <a:srgbClr val="2B4863"/>
                </a:solidFill>
                <a:latin typeface="Droid Arabic Naskh Bold"/>
                <a:ea typeface="Droid Arabic Naskh Bold"/>
                <a:cs typeface="Droid Arabic Naskh Bold"/>
                <a:sym typeface="Droid Arabic Naskh Bold"/>
              </a:rPr>
              <a:t> Beauty and skincare products (shampoos, creams, perfumes)</a:t>
            </a:r>
          </a:p>
          <a:p>
            <a:pPr algn="l">
              <a:lnSpc>
                <a:spcPts val="5425"/>
              </a:lnSpc>
            </a:pPr>
            <a:r>
              <a:rPr lang="en-US" b="true" sz="3500">
                <a:solidFill>
                  <a:srgbClr val="2B4863"/>
                </a:solidFill>
                <a:latin typeface="Droid Arabic Naskh Bold"/>
                <a:ea typeface="Droid Arabic Naskh Bold"/>
                <a:cs typeface="Droid Arabic Naskh Bold"/>
                <a:sym typeface="Droid Arabic Naskh Bold"/>
              </a:rPr>
              <a:t> Household cleaning products (cleaners, sanitizers, air fresheners)</a:t>
            </a:r>
          </a:p>
          <a:p>
            <a:pPr algn="l">
              <a:lnSpc>
                <a:spcPts val="5425"/>
              </a:lnSpc>
            </a:pPr>
            <a:r>
              <a:rPr lang="en-US" b="true" sz="3500">
                <a:solidFill>
                  <a:srgbClr val="2B4863"/>
                </a:solidFill>
                <a:latin typeface="Droid Arabic Naskh Bold"/>
                <a:ea typeface="Droid Arabic Naskh Bold"/>
                <a:cs typeface="Droid Arabic Naskh Bold"/>
                <a:sym typeface="Droid Arabic Naskh Bold"/>
              </a:rPr>
              <a:t> Baby care products (gentle shampoos, lotions, wet wipes)</a:t>
            </a:r>
          </a:p>
          <a:p>
            <a:pPr algn="l">
              <a:lnSpc>
                <a:spcPts val="5425"/>
              </a:lnSpc>
            </a:pPr>
          </a:p>
          <a:p>
            <a:pPr algn="l">
              <a:lnSpc>
                <a:spcPts val="5425"/>
              </a:lnSpc>
            </a:pPr>
            <a:r>
              <a:rPr lang="en-US" b="true" sz="3500">
                <a:solidFill>
                  <a:srgbClr val="2B4863"/>
                </a:solidFill>
                <a:latin typeface="Droid Arabic Naskh Bold"/>
                <a:ea typeface="Droid Arabic Naskh Bold"/>
                <a:cs typeface="Droid Arabic Naskh Bold"/>
                <a:sym typeface="Droid Arabic Naskh Bold"/>
              </a:rPr>
              <a:t>Tiba Store focuses on providing a fast and reliable local shopping experience that combines quality and effective communication to best serve the residents of Banha.</a:t>
            </a:r>
          </a:p>
          <a:p>
            <a:pPr algn="l">
              <a:lnSpc>
                <a:spcPts val="5425"/>
              </a:lnSpc>
            </a:pPr>
          </a:p>
          <a:p>
            <a:pPr algn="l">
              <a:lnSpc>
                <a:spcPts val="6311"/>
              </a:lnSpc>
            </a:pPr>
          </a:p>
        </p:txBody>
      </p:sp>
      <p:grpSp>
        <p:nvGrpSpPr>
          <p:cNvPr name="Group 8" id="8"/>
          <p:cNvGrpSpPr/>
          <p:nvPr/>
        </p:nvGrpSpPr>
        <p:grpSpPr>
          <a:xfrm rot="1645162">
            <a:off x="16976291" y="7758216"/>
            <a:ext cx="2595182" cy="2995880"/>
            <a:chOff x="0" y="0"/>
            <a:chExt cx="3460242" cy="3994507"/>
          </a:xfrm>
        </p:grpSpPr>
        <p:sp>
          <p:nvSpPr>
            <p:cNvPr name="Freeform 9" id="9"/>
            <p:cNvSpPr/>
            <p:nvPr/>
          </p:nvSpPr>
          <p:spPr>
            <a:xfrm flipH="false" flipV="false" rot="0">
              <a:off x="0" y="0"/>
              <a:ext cx="3460242" cy="3994531"/>
            </a:xfrm>
            <a:custGeom>
              <a:avLst/>
              <a:gdLst/>
              <a:ahLst/>
              <a:cxnLst/>
              <a:rect r="r" b="b" t="t" l="l"/>
              <a:pathLst>
                <a:path h="3994531" w="3460242">
                  <a:moveTo>
                    <a:pt x="0" y="0"/>
                  </a:moveTo>
                  <a:lnTo>
                    <a:pt x="3460242" y="0"/>
                  </a:lnTo>
                  <a:lnTo>
                    <a:pt x="3460242" y="3994531"/>
                  </a:lnTo>
                  <a:lnTo>
                    <a:pt x="0" y="3994531"/>
                  </a:lnTo>
                  <a:lnTo>
                    <a:pt x="0" y="0"/>
                  </a:lnTo>
                  <a:close/>
                </a:path>
              </a:pathLst>
            </a:custGeom>
            <a:blipFill>
              <a:blip r:embed="rId10"/>
              <a:stretch>
                <a:fillRect l="-70" t="0" r="-70" b="0"/>
              </a:stretch>
            </a:blipFill>
          </p:spPr>
        </p:sp>
      </p:grpSp>
      <p:grpSp>
        <p:nvGrpSpPr>
          <p:cNvPr name="Group 10" id="10"/>
          <p:cNvGrpSpPr/>
          <p:nvPr/>
        </p:nvGrpSpPr>
        <p:grpSpPr>
          <a:xfrm rot="0">
            <a:off x="16995757" y="12354365"/>
            <a:ext cx="539421" cy="538747"/>
            <a:chOff x="0" y="0"/>
            <a:chExt cx="719228" cy="718329"/>
          </a:xfrm>
        </p:grpSpPr>
        <p:sp>
          <p:nvSpPr>
            <p:cNvPr name="Freeform 11" id="11"/>
            <p:cNvSpPr/>
            <p:nvPr/>
          </p:nvSpPr>
          <p:spPr>
            <a:xfrm flipH="false" flipV="false" rot="0">
              <a:off x="0" y="0"/>
              <a:ext cx="719201" cy="718312"/>
            </a:xfrm>
            <a:custGeom>
              <a:avLst/>
              <a:gdLst/>
              <a:ahLst/>
              <a:cxnLst/>
              <a:rect r="r" b="b" t="t" l="l"/>
              <a:pathLst>
                <a:path h="718312" w="719201">
                  <a:moveTo>
                    <a:pt x="0" y="0"/>
                  </a:moveTo>
                  <a:lnTo>
                    <a:pt x="719201" y="0"/>
                  </a:lnTo>
                  <a:lnTo>
                    <a:pt x="719201" y="718312"/>
                  </a:lnTo>
                  <a:lnTo>
                    <a:pt x="0" y="718312"/>
                  </a:lnTo>
                  <a:lnTo>
                    <a:pt x="0" y="0"/>
                  </a:lnTo>
                  <a:close/>
                </a:path>
              </a:pathLst>
            </a:custGeom>
            <a:blipFill>
              <a:blip r:embed="rId11"/>
              <a:stretch>
                <a:fillRect l="-146" t="0" r="-150" b="-2"/>
              </a:stretch>
            </a:blipFill>
          </p:spPr>
        </p:sp>
      </p:grpSp>
      <p:grpSp>
        <p:nvGrpSpPr>
          <p:cNvPr name="Group 12" id="12"/>
          <p:cNvGrpSpPr/>
          <p:nvPr/>
        </p:nvGrpSpPr>
        <p:grpSpPr>
          <a:xfrm rot="0">
            <a:off x="3476638" y="9698819"/>
            <a:ext cx="520161" cy="519511"/>
            <a:chOff x="0" y="0"/>
            <a:chExt cx="693548" cy="692681"/>
          </a:xfrm>
        </p:grpSpPr>
        <p:sp>
          <p:nvSpPr>
            <p:cNvPr name="Freeform 13" id="13"/>
            <p:cNvSpPr/>
            <p:nvPr/>
          </p:nvSpPr>
          <p:spPr>
            <a:xfrm flipH="false" flipV="false" rot="0">
              <a:off x="0" y="0"/>
              <a:ext cx="693547" cy="692658"/>
            </a:xfrm>
            <a:custGeom>
              <a:avLst/>
              <a:gdLst/>
              <a:ahLst/>
              <a:cxnLst/>
              <a:rect r="r" b="b" t="t" l="l"/>
              <a:pathLst>
                <a:path h="692658" w="693547">
                  <a:moveTo>
                    <a:pt x="0" y="0"/>
                  </a:moveTo>
                  <a:lnTo>
                    <a:pt x="693547" y="0"/>
                  </a:lnTo>
                  <a:lnTo>
                    <a:pt x="693547" y="692658"/>
                  </a:lnTo>
                  <a:lnTo>
                    <a:pt x="0" y="692658"/>
                  </a:lnTo>
                  <a:lnTo>
                    <a:pt x="0" y="0"/>
                  </a:lnTo>
                  <a:close/>
                </a:path>
              </a:pathLst>
            </a:custGeom>
            <a:blipFill>
              <a:blip r:embed="rId11"/>
              <a:stretch>
                <a:fillRect l="-146" t="0" r="-146" b="-3"/>
              </a:stretch>
            </a:blipFill>
          </p:spPr>
        </p:sp>
      </p:grpSp>
      <p:grpSp>
        <p:nvGrpSpPr>
          <p:cNvPr name="Group 14" id="14"/>
          <p:cNvGrpSpPr/>
          <p:nvPr/>
        </p:nvGrpSpPr>
        <p:grpSpPr>
          <a:xfrm rot="0">
            <a:off x="1147935" y="12419837"/>
            <a:ext cx="509720" cy="509084"/>
            <a:chOff x="0" y="0"/>
            <a:chExt cx="679627" cy="678778"/>
          </a:xfrm>
        </p:grpSpPr>
        <p:sp>
          <p:nvSpPr>
            <p:cNvPr name="Freeform 15" id="15"/>
            <p:cNvSpPr/>
            <p:nvPr/>
          </p:nvSpPr>
          <p:spPr>
            <a:xfrm flipH="false" flipV="false" rot="0">
              <a:off x="0" y="0"/>
              <a:ext cx="679577" cy="678815"/>
            </a:xfrm>
            <a:custGeom>
              <a:avLst/>
              <a:gdLst/>
              <a:ahLst/>
              <a:cxnLst/>
              <a:rect r="r" b="b" t="t" l="l"/>
              <a:pathLst>
                <a:path h="678815" w="679577">
                  <a:moveTo>
                    <a:pt x="0" y="0"/>
                  </a:moveTo>
                  <a:lnTo>
                    <a:pt x="679577" y="0"/>
                  </a:lnTo>
                  <a:lnTo>
                    <a:pt x="679577" y="678815"/>
                  </a:lnTo>
                  <a:lnTo>
                    <a:pt x="0" y="678815"/>
                  </a:lnTo>
                  <a:lnTo>
                    <a:pt x="0" y="0"/>
                  </a:lnTo>
                  <a:close/>
                </a:path>
              </a:pathLst>
            </a:custGeom>
            <a:blipFill>
              <a:blip r:embed="rId12"/>
              <a:stretch>
                <a:fillRect l="0" t="-62" r="-7" b="-57"/>
              </a:stretch>
            </a:blipFill>
          </p:spPr>
        </p:sp>
      </p:grpSp>
      <p:grpSp>
        <p:nvGrpSpPr>
          <p:cNvPr name="Group 16" id="16"/>
          <p:cNvGrpSpPr/>
          <p:nvPr/>
        </p:nvGrpSpPr>
        <p:grpSpPr>
          <a:xfrm rot="0">
            <a:off x="4144588" y="11441232"/>
            <a:ext cx="478275" cy="477677"/>
            <a:chOff x="0" y="0"/>
            <a:chExt cx="637700" cy="636903"/>
          </a:xfrm>
        </p:grpSpPr>
        <p:sp>
          <p:nvSpPr>
            <p:cNvPr name="Freeform 17" id="17"/>
            <p:cNvSpPr/>
            <p:nvPr/>
          </p:nvSpPr>
          <p:spPr>
            <a:xfrm flipH="false" flipV="false" rot="0">
              <a:off x="0" y="0"/>
              <a:ext cx="637667" cy="636905"/>
            </a:xfrm>
            <a:custGeom>
              <a:avLst/>
              <a:gdLst/>
              <a:ahLst/>
              <a:cxnLst/>
              <a:rect r="r" b="b" t="t" l="l"/>
              <a:pathLst>
                <a:path h="636905" w="637667">
                  <a:moveTo>
                    <a:pt x="0" y="0"/>
                  </a:moveTo>
                  <a:lnTo>
                    <a:pt x="637667" y="0"/>
                  </a:lnTo>
                  <a:lnTo>
                    <a:pt x="637667" y="636905"/>
                  </a:lnTo>
                  <a:lnTo>
                    <a:pt x="0" y="636905"/>
                  </a:lnTo>
                  <a:lnTo>
                    <a:pt x="0" y="0"/>
                  </a:lnTo>
                  <a:close/>
                </a:path>
              </a:pathLst>
            </a:custGeom>
            <a:blipFill>
              <a:blip r:embed="rId13"/>
              <a:stretch>
                <a:fillRect l="-146" t="0" r="-151" b="0"/>
              </a:stretch>
            </a:blipFill>
          </p:spPr>
        </p:sp>
      </p:grpSp>
      <p:grpSp>
        <p:nvGrpSpPr>
          <p:cNvPr name="Group 18" id="18"/>
          <p:cNvGrpSpPr/>
          <p:nvPr/>
        </p:nvGrpSpPr>
        <p:grpSpPr>
          <a:xfrm rot="0">
            <a:off x="13680769" y="11859001"/>
            <a:ext cx="495984" cy="495364"/>
            <a:chOff x="0" y="0"/>
            <a:chExt cx="661312" cy="660485"/>
          </a:xfrm>
        </p:grpSpPr>
        <p:sp>
          <p:nvSpPr>
            <p:cNvPr name="Freeform 19" id="19"/>
            <p:cNvSpPr/>
            <p:nvPr/>
          </p:nvSpPr>
          <p:spPr>
            <a:xfrm flipH="false" flipV="false" rot="0">
              <a:off x="0" y="0"/>
              <a:ext cx="661289" cy="660527"/>
            </a:xfrm>
            <a:custGeom>
              <a:avLst/>
              <a:gdLst/>
              <a:ahLst/>
              <a:cxnLst/>
              <a:rect r="r" b="b" t="t" l="l"/>
              <a:pathLst>
                <a:path h="660527" w="661289">
                  <a:moveTo>
                    <a:pt x="0" y="0"/>
                  </a:moveTo>
                  <a:lnTo>
                    <a:pt x="661289" y="0"/>
                  </a:lnTo>
                  <a:lnTo>
                    <a:pt x="661289" y="660527"/>
                  </a:lnTo>
                  <a:lnTo>
                    <a:pt x="0" y="660527"/>
                  </a:lnTo>
                  <a:lnTo>
                    <a:pt x="0" y="0"/>
                  </a:lnTo>
                  <a:close/>
                </a:path>
              </a:pathLst>
            </a:custGeom>
            <a:blipFill>
              <a:blip r:embed="rId13"/>
              <a:stretch>
                <a:fillRect l="-146" t="0" r="-149" b="6"/>
              </a:stretch>
            </a:blipFill>
          </p:spPr>
        </p:sp>
      </p:grpSp>
      <p:grpSp>
        <p:nvGrpSpPr>
          <p:cNvPr name="Group 20" id="20"/>
          <p:cNvGrpSpPr/>
          <p:nvPr/>
        </p:nvGrpSpPr>
        <p:grpSpPr>
          <a:xfrm rot="0">
            <a:off x="15799686" y="10322827"/>
            <a:ext cx="419361" cy="418837"/>
            <a:chOff x="0" y="0"/>
            <a:chExt cx="559148" cy="558449"/>
          </a:xfrm>
        </p:grpSpPr>
        <p:sp>
          <p:nvSpPr>
            <p:cNvPr name="Freeform 21" id="21"/>
            <p:cNvSpPr/>
            <p:nvPr/>
          </p:nvSpPr>
          <p:spPr>
            <a:xfrm flipH="false" flipV="false" rot="0">
              <a:off x="0" y="0"/>
              <a:ext cx="559181" cy="558419"/>
            </a:xfrm>
            <a:custGeom>
              <a:avLst/>
              <a:gdLst/>
              <a:ahLst/>
              <a:cxnLst/>
              <a:rect r="r" b="b" t="t" l="l"/>
              <a:pathLst>
                <a:path h="558419" w="559181">
                  <a:moveTo>
                    <a:pt x="0" y="0"/>
                  </a:moveTo>
                  <a:lnTo>
                    <a:pt x="559181" y="0"/>
                  </a:lnTo>
                  <a:lnTo>
                    <a:pt x="559181" y="558419"/>
                  </a:lnTo>
                  <a:lnTo>
                    <a:pt x="0" y="558419"/>
                  </a:lnTo>
                  <a:lnTo>
                    <a:pt x="0" y="0"/>
                  </a:lnTo>
                  <a:close/>
                </a:path>
              </a:pathLst>
            </a:custGeom>
            <a:blipFill>
              <a:blip r:embed="rId14"/>
              <a:stretch>
                <a:fillRect l="0" t="-62" r="5" b="-67"/>
              </a:stretch>
            </a:blipFill>
          </p:spPr>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858362" y="6662488"/>
            <a:ext cx="5620107" cy="3624512"/>
          </a:xfrm>
          <a:custGeom>
            <a:avLst/>
            <a:gdLst/>
            <a:ahLst/>
            <a:cxnLst/>
            <a:rect r="r" b="b" t="t" l="l"/>
            <a:pathLst>
              <a:path h="3624512" w="5620107">
                <a:moveTo>
                  <a:pt x="0" y="0"/>
                </a:moveTo>
                <a:lnTo>
                  <a:pt x="5620108" y="0"/>
                </a:lnTo>
                <a:lnTo>
                  <a:pt x="5620108" y="3624512"/>
                </a:lnTo>
                <a:lnTo>
                  <a:pt x="0" y="3624512"/>
                </a:lnTo>
                <a:lnTo>
                  <a:pt x="0" y="0"/>
                </a:lnTo>
                <a:close/>
              </a:path>
            </a:pathLst>
          </a:custGeom>
          <a:blipFill>
            <a:blip r:embed="rId2"/>
            <a:stretch>
              <a:fillRect l="-12122" t="0" r="-2785" b="0"/>
            </a:stretch>
          </a:blipFill>
        </p:spPr>
      </p:sp>
      <p:sp>
        <p:nvSpPr>
          <p:cNvPr name="Freeform 3" id="3"/>
          <p:cNvSpPr/>
          <p:nvPr/>
        </p:nvSpPr>
        <p:spPr>
          <a:xfrm flipH="false" flipV="false" rot="0">
            <a:off x="0" y="6919503"/>
            <a:ext cx="6672317" cy="3367497"/>
          </a:xfrm>
          <a:custGeom>
            <a:avLst/>
            <a:gdLst/>
            <a:ahLst/>
            <a:cxnLst/>
            <a:rect r="r" b="b" t="t" l="l"/>
            <a:pathLst>
              <a:path h="3367497" w="6672317">
                <a:moveTo>
                  <a:pt x="0" y="0"/>
                </a:moveTo>
                <a:lnTo>
                  <a:pt x="6672317" y="0"/>
                </a:lnTo>
                <a:lnTo>
                  <a:pt x="6672317" y="3367497"/>
                </a:lnTo>
                <a:lnTo>
                  <a:pt x="0" y="3367497"/>
                </a:lnTo>
                <a:lnTo>
                  <a:pt x="0" y="0"/>
                </a:lnTo>
                <a:close/>
              </a:path>
            </a:pathLst>
          </a:custGeom>
          <a:blipFill>
            <a:blip r:embed="rId3"/>
            <a:stretch>
              <a:fillRect l="0" t="0" r="0" b="-25781"/>
            </a:stretch>
          </a:blipFill>
        </p:spPr>
      </p:sp>
      <p:sp>
        <p:nvSpPr>
          <p:cNvPr name="Freeform 4" id="4"/>
          <p:cNvSpPr/>
          <p:nvPr/>
        </p:nvSpPr>
        <p:spPr>
          <a:xfrm flipH="false" flipV="false" rot="0">
            <a:off x="-157950" y="1990971"/>
            <a:ext cx="5544892" cy="4153256"/>
          </a:xfrm>
          <a:custGeom>
            <a:avLst/>
            <a:gdLst/>
            <a:ahLst/>
            <a:cxnLst/>
            <a:rect r="r" b="b" t="t" l="l"/>
            <a:pathLst>
              <a:path h="4153256" w="5544892">
                <a:moveTo>
                  <a:pt x="0" y="0"/>
                </a:moveTo>
                <a:lnTo>
                  <a:pt x="5544892" y="0"/>
                </a:lnTo>
                <a:lnTo>
                  <a:pt x="5544892" y="4153256"/>
                </a:lnTo>
                <a:lnTo>
                  <a:pt x="0" y="4153256"/>
                </a:lnTo>
                <a:lnTo>
                  <a:pt x="0" y="0"/>
                </a:lnTo>
                <a:close/>
              </a:path>
            </a:pathLst>
          </a:custGeom>
          <a:blipFill>
            <a:blip r:embed="rId4"/>
            <a:stretch>
              <a:fillRect l="0" t="-10125" r="0" b="-23381"/>
            </a:stretch>
          </a:blipFill>
        </p:spPr>
      </p:sp>
      <p:sp>
        <p:nvSpPr>
          <p:cNvPr name="Freeform 5" id="5"/>
          <p:cNvSpPr/>
          <p:nvPr/>
        </p:nvSpPr>
        <p:spPr>
          <a:xfrm flipH="false" flipV="false" rot="0">
            <a:off x="13042205" y="1990971"/>
            <a:ext cx="5245795" cy="3923428"/>
          </a:xfrm>
          <a:custGeom>
            <a:avLst/>
            <a:gdLst/>
            <a:ahLst/>
            <a:cxnLst/>
            <a:rect r="r" b="b" t="t" l="l"/>
            <a:pathLst>
              <a:path h="3923428" w="5245795">
                <a:moveTo>
                  <a:pt x="0" y="0"/>
                </a:moveTo>
                <a:lnTo>
                  <a:pt x="5245795" y="0"/>
                </a:lnTo>
                <a:lnTo>
                  <a:pt x="5245795" y="3923428"/>
                </a:lnTo>
                <a:lnTo>
                  <a:pt x="0" y="3923428"/>
                </a:lnTo>
                <a:lnTo>
                  <a:pt x="0" y="0"/>
                </a:lnTo>
                <a:close/>
              </a:path>
            </a:pathLst>
          </a:custGeom>
          <a:blipFill>
            <a:blip r:embed="rId5"/>
            <a:stretch>
              <a:fillRect l="0" t="-6824" r="0" b="-6824"/>
            </a:stretch>
          </a:blipFill>
        </p:spPr>
      </p:sp>
      <p:sp>
        <p:nvSpPr>
          <p:cNvPr name="Freeform 6" id="6"/>
          <p:cNvSpPr/>
          <p:nvPr/>
        </p:nvSpPr>
        <p:spPr>
          <a:xfrm flipH="false" flipV="false" rot="0">
            <a:off x="6672317" y="1028700"/>
            <a:ext cx="6186045" cy="6304966"/>
          </a:xfrm>
          <a:custGeom>
            <a:avLst/>
            <a:gdLst/>
            <a:ahLst/>
            <a:cxnLst/>
            <a:rect r="r" b="b" t="t" l="l"/>
            <a:pathLst>
              <a:path h="6304966" w="6186045">
                <a:moveTo>
                  <a:pt x="0" y="0"/>
                </a:moveTo>
                <a:lnTo>
                  <a:pt x="6186045" y="0"/>
                </a:lnTo>
                <a:lnTo>
                  <a:pt x="6186045" y="6304966"/>
                </a:lnTo>
                <a:lnTo>
                  <a:pt x="0" y="6304966"/>
                </a:lnTo>
                <a:lnTo>
                  <a:pt x="0" y="0"/>
                </a:lnTo>
                <a:close/>
              </a:path>
            </a:pathLst>
          </a:custGeom>
          <a:blipFill>
            <a:blip r:embed="rId6"/>
            <a:stretch>
              <a:fillRect l="-1922" t="0" r="0" b="0"/>
            </a:stretch>
          </a:blipFill>
        </p:spPr>
      </p:sp>
      <p:sp>
        <p:nvSpPr>
          <p:cNvPr name="TextBox 7" id="7"/>
          <p:cNvSpPr txBox="true"/>
          <p:nvPr/>
        </p:nvSpPr>
        <p:spPr>
          <a:xfrm rot="0">
            <a:off x="3825444" y="267818"/>
            <a:ext cx="9662915" cy="938473"/>
          </a:xfrm>
          <a:prstGeom prst="rect">
            <a:avLst/>
          </a:prstGeom>
        </p:spPr>
        <p:txBody>
          <a:bodyPr anchor="t" rtlCol="false" tIns="0" lIns="0" bIns="0" rIns="0">
            <a:spAutoFit/>
          </a:bodyPr>
          <a:lstStyle/>
          <a:p>
            <a:pPr algn="ctr">
              <a:lnSpc>
                <a:spcPts val="7751"/>
              </a:lnSpc>
            </a:pPr>
            <a:r>
              <a:rPr lang="en-US" b="true" sz="5537">
                <a:solidFill>
                  <a:srgbClr val="153153"/>
                </a:solidFill>
                <a:latin typeface="Canva Sans Bold"/>
                <a:ea typeface="Canva Sans Bold"/>
                <a:cs typeface="Canva Sans Bold"/>
                <a:sym typeface="Canva Sans Bold"/>
              </a:rPr>
              <a:t>Product Gallery – Tiba Store</a:t>
            </a:r>
          </a:p>
        </p:txBody>
      </p:sp>
      <p:sp>
        <p:nvSpPr>
          <p:cNvPr name="TextBox 8" id="8"/>
          <p:cNvSpPr txBox="true"/>
          <p:nvPr/>
        </p:nvSpPr>
        <p:spPr>
          <a:xfrm rot="0">
            <a:off x="3901148" y="326362"/>
            <a:ext cx="9587211" cy="1664609"/>
          </a:xfrm>
          <a:prstGeom prst="rect">
            <a:avLst/>
          </a:prstGeom>
        </p:spPr>
        <p:txBody>
          <a:bodyPr anchor="t" rtlCol="false" tIns="0" lIns="0" bIns="0" rIns="0">
            <a:spAutoFit/>
          </a:bodyPr>
          <a:lstStyle/>
          <a:p>
            <a:pPr algn="ctr">
              <a:lnSpc>
                <a:spcPts val="6658"/>
              </a:lnSpc>
            </a:pPr>
          </a:p>
          <a:p>
            <a:pPr algn="ctr">
              <a:lnSpc>
                <a:spcPts val="6658"/>
              </a:lnSpc>
            </a:pPr>
            <a:r>
              <a:rPr lang="en-US" b="true" sz="4756">
                <a:solidFill>
                  <a:srgbClr val="18BBB5"/>
                </a:solidFill>
                <a:latin typeface="Canva Sans Bold"/>
                <a:ea typeface="Canva Sans Bold"/>
                <a:cs typeface="Canva Sans Bold"/>
                <a:sym typeface="Canva Sans Bold"/>
              </a:rPr>
              <a:t>1) Beauty &amp; Skincare Products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5949345" y="2180858"/>
            <a:ext cx="5855420" cy="3549848"/>
          </a:xfrm>
          <a:custGeom>
            <a:avLst/>
            <a:gdLst/>
            <a:ahLst/>
            <a:cxnLst/>
            <a:rect r="r" b="b" t="t" l="l"/>
            <a:pathLst>
              <a:path h="3549848" w="5855420">
                <a:moveTo>
                  <a:pt x="0" y="0"/>
                </a:moveTo>
                <a:lnTo>
                  <a:pt x="5855420" y="0"/>
                </a:lnTo>
                <a:lnTo>
                  <a:pt x="5855420" y="3549848"/>
                </a:lnTo>
                <a:lnTo>
                  <a:pt x="0" y="3549848"/>
                </a:lnTo>
                <a:lnTo>
                  <a:pt x="0" y="0"/>
                </a:lnTo>
                <a:close/>
              </a:path>
            </a:pathLst>
          </a:custGeom>
          <a:blipFill>
            <a:blip r:embed="rId2"/>
            <a:stretch>
              <a:fillRect l="0" t="0" r="0" b="0"/>
            </a:stretch>
          </a:blipFill>
        </p:spPr>
      </p:sp>
      <p:sp>
        <p:nvSpPr>
          <p:cNvPr name="Freeform 3" id="3"/>
          <p:cNvSpPr/>
          <p:nvPr/>
        </p:nvSpPr>
        <p:spPr>
          <a:xfrm flipH="false" flipV="false" rot="0">
            <a:off x="12790256" y="2180858"/>
            <a:ext cx="4392479" cy="4392479"/>
          </a:xfrm>
          <a:custGeom>
            <a:avLst/>
            <a:gdLst/>
            <a:ahLst/>
            <a:cxnLst/>
            <a:rect r="r" b="b" t="t" l="l"/>
            <a:pathLst>
              <a:path h="4392479" w="4392479">
                <a:moveTo>
                  <a:pt x="0" y="0"/>
                </a:moveTo>
                <a:lnTo>
                  <a:pt x="4392479" y="0"/>
                </a:lnTo>
                <a:lnTo>
                  <a:pt x="4392479" y="4392479"/>
                </a:lnTo>
                <a:lnTo>
                  <a:pt x="0" y="4392479"/>
                </a:lnTo>
                <a:lnTo>
                  <a:pt x="0" y="0"/>
                </a:lnTo>
                <a:close/>
              </a:path>
            </a:pathLst>
          </a:custGeom>
          <a:blipFill>
            <a:blip r:embed="rId3"/>
            <a:stretch>
              <a:fillRect l="0" t="0" r="0" b="0"/>
            </a:stretch>
          </a:blipFill>
        </p:spPr>
      </p:sp>
      <p:sp>
        <p:nvSpPr>
          <p:cNvPr name="Freeform 4" id="4"/>
          <p:cNvSpPr/>
          <p:nvPr/>
        </p:nvSpPr>
        <p:spPr>
          <a:xfrm flipH="false" flipV="false" rot="0">
            <a:off x="552125" y="2180858"/>
            <a:ext cx="4416146" cy="4416146"/>
          </a:xfrm>
          <a:custGeom>
            <a:avLst/>
            <a:gdLst/>
            <a:ahLst/>
            <a:cxnLst/>
            <a:rect r="r" b="b" t="t" l="l"/>
            <a:pathLst>
              <a:path h="4416146" w="4416146">
                <a:moveTo>
                  <a:pt x="0" y="0"/>
                </a:moveTo>
                <a:lnTo>
                  <a:pt x="4416145" y="0"/>
                </a:lnTo>
                <a:lnTo>
                  <a:pt x="4416145" y="4416145"/>
                </a:lnTo>
                <a:lnTo>
                  <a:pt x="0" y="4416145"/>
                </a:lnTo>
                <a:lnTo>
                  <a:pt x="0" y="0"/>
                </a:lnTo>
                <a:close/>
              </a:path>
            </a:pathLst>
          </a:custGeom>
          <a:blipFill>
            <a:blip r:embed="rId4"/>
            <a:stretch>
              <a:fillRect l="0" t="0" r="0" b="0"/>
            </a:stretch>
          </a:blipFill>
        </p:spPr>
      </p:sp>
      <p:sp>
        <p:nvSpPr>
          <p:cNvPr name="Freeform 5" id="5"/>
          <p:cNvSpPr/>
          <p:nvPr/>
        </p:nvSpPr>
        <p:spPr>
          <a:xfrm flipH="false" flipV="false" rot="0">
            <a:off x="6419749" y="6380665"/>
            <a:ext cx="4464920" cy="3429360"/>
          </a:xfrm>
          <a:custGeom>
            <a:avLst/>
            <a:gdLst/>
            <a:ahLst/>
            <a:cxnLst/>
            <a:rect r="r" b="b" t="t" l="l"/>
            <a:pathLst>
              <a:path h="3429360" w="4464920">
                <a:moveTo>
                  <a:pt x="0" y="0"/>
                </a:moveTo>
                <a:lnTo>
                  <a:pt x="4464921" y="0"/>
                </a:lnTo>
                <a:lnTo>
                  <a:pt x="4464921" y="3429360"/>
                </a:lnTo>
                <a:lnTo>
                  <a:pt x="0" y="3429360"/>
                </a:lnTo>
                <a:lnTo>
                  <a:pt x="0" y="0"/>
                </a:lnTo>
                <a:close/>
              </a:path>
            </a:pathLst>
          </a:custGeom>
          <a:blipFill>
            <a:blip r:embed="rId5"/>
            <a:stretch>
              <a:fillRect l="0" t="-4653" r="0" b="-6013"/>
            </a:stretch>
          </a:blipFill>
        </p:spPr>
      </p:sp>
      <p:sp>
        <p:nvSpPr>
          <p:cNvPr name="TextBox 6" id="6"/>
          <p:cNvSpPr txBox="true"/>
          <p:nvPr/>
        </p:nvSpPr>
        <p:spPr>
          <a:xfrm rot="0">
            <a:off x="5034093" y="141565"/>
            <a:ext cx="9074599" cy="887135"/>
          </a:xfrm>
          <a:prstGeom prst="rect">
            <a:avLst/>
          </a:prstGeom>
        </p:spPr>
        <p:txBody>
          <a:bodyPr anchor="t" rtlCol="false" tIns="0" lIns="0" bIns="0" rIns="0">
            <a:spAutoFit/>
          </a:bodyPr>
          <a:lstStyle/>
          <a:p>
            <a:pPr algn="ctr">
              <a:lnSpc>
                <a:spcPts val="7279"/>
              </a:lnSpc>
            </a:pPr>
            <a:r>
              <a:rPr lang="en-US" b="true" sz="5199">
                <a:solidFill>
                  <a:srgbClr val="153153"/>
                </a:solidFill>
                <a:latin typeface="Canva Sans Bold"/>
                <a:ea typeface="Canva Sans Bold"/>
                <a:cs typeface="Canva Sans Bold"/>
                <a:sym typeface="Canva Sans Bold"/>
              </a:rPr>
              <a:t>Product Gallery – Tiba Store</a:t>
            </a:r>
          </a:p>
        </p:txBody>
      </p:sp>
      <p:sp>
        <p:nvSpPr>
          <p:cNvPr name="TextBox 7" id="7"/>
          <p:cNvSpPr txBox="true"/>
          <p:nvPr/>
        </p:nvSpPr>
        <p:spPr>
          <a:xfrm rot="0">
            <a:off x="5949345" y="933450"/>
            <a:ext cx="6389309" cy="887135"/>
          </a:xfrm>
          <a:prstGeom prst="rect">
            <a:avLst/>
          </a:prstGeom>
        </p:spPr>
        <p:txBody>
          <a:bodyPr anchor="t" rtlCol="false" tIns="0" lIns="0" bIns="0" rIns="0">
            <a:spAutoFit/>
          </a:bodyPr>
          <a:lstStyle/>
          <a:p>
            <a:pPr algn="ctr">
              <a:lnSpc>
                <a:spcPts val="7279"/>
              </a:lnSpc>
            </a:pPr>
            <a:r>
              <a:rPr lang="en-US" b="true" sz="5199">
                <a:solidFill>
                  <a:srgbClr val="18BBB5"/>
                </a:solidFill>
                <a:latin typeface="Canva Sans Bold"/>
                <a:ea typeface="Canva Sans Bold"/>
                <a:cs typeface="Canva Sans Bold"/>
                <a:sym typeface="Canva Sans Bold"/>
              </a:rPr>
              <a:t>Baby Care Products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712527" y="1876809"/>
            <a:ext cx="3770468" cy="4750196"/>
          </a:xfrm>
          <a:custGeom>
            <a:avLst/>
            <a:gdLst/>
            <a:ahLst/>
            <a:cxnLst/>
            <a:rect r="r" b="b" t="t" l="l"/>
            <a:pathLst>
              <a:path h="4750196" w="3770468">
                <a:moveTo>
                  <a:pt x="0" y="0"/>
                </a:moveTo>
                <a:lnTo>
                  <a:pt x="3770468" y="0"/>
                </a:lnTo>
                <a:lnTo>
                  <a:pt x="3770468" y="4750196"/>
                </a:lnTo>
                <a:lnTo>
                  <a:pt x="0" y="4750196"/>
                </a:lnTo>
                <a:lnTo>
                  <a:pt x="0" y="0"/>
                </a:lnTo>
                <a:close/>
              </a:path>
            </a:pathLst>
          </a:custGeom>
          <a:blipFill>
            <a:blip r:embed="rId2"/>
            <a:stretch>
              <a:fillRect l="0" t="0" r="0" b="0"/>
            </a:stretch>
          </a:blipFill>
        </p:spPr>
      </p:sp>
      <p:sp>
        <p:nvSpPr>
          <p:cNvPr name="Freeform 3" id="3"/>
          <p:cNvSpPr/>
          <p:nvPr/>
        </p:nvSpPr>
        <p:spPr>
          <a:xfrm flipH="false" flipV="false" rot="0">
            <a:off x="373746" y="2031959"/>
            <a:ext cx="5298764" cy="4806421"/>
          </a:xfrm>
          <a:custGeom>
            <a:avLst/>
            <a:gdLst/>
            <a:ahLst/>
            <a:cxnLst/>
            <a:rect r="r" b="b" t="t" l="l"/>
            <a:pathLst>
              <a:path h="4806421" w="5298764">
                <a:moveTo>
                  <a:pt x="0" y="0"/>
                </a:moveTo>
                <a:lnTo>
                  <a:pt x="5298764" y="0"/>
                </a:lnTo>
                <a:lnTo>
                  <a:pt x="5298764" y="4806421"/>
                </a:lnTo>
                <a:lnTo>
                  <a:pt x="0" y="4806421"/>
                </a:lnTo>
                <a:lnTo>
                  <a:pt x="0" y="0"/>
                </a:lnTo>
                <a:close/>
              </a:path>
            </a:pathLst>
          </a:custGeom>
          <a:blipFill>
            <a:blip r:embed="rId3"/>
            <a:stretch>
              <a:fillRect l="0" t="0" r="0" b="0"/>
            </a:stretch>
          </a:blipFill>
        </p:spPr>
      </p:sp>
      <p:sp>
        <p:nvSpPr>
          <p:cNvPr name="Freeform 4" id="4"/>
          <p:cNvSpPr/>
          <p:nvPr/>
        </p:nvSpPr>
        <p:spPr>
          <a:xfrm flipH="false" flipV="false" rot="0">
            <a:off x="6462866" y="1876809"/>
            <a:ext cx="2681134" cy="4768678"/>
          </a:xfrm>
          <a:custGeom>
            <a:avLst/>
            <a:gdLst/>
            <a:ahLst/>
            <a:cxnLst/>
            <a:rect r="r" b="b" t="t" l="l"/>
            <a:pathLst>
              <a:path h="4768678" w="2681134">
                <a:moveTo>
                  <a:pt x="0" y="0"/>
                </a:moveTo>
                <a:lnTo>
                  <a:pt x="2681134" y="0"/>
                </a:lnTo>
                <a:lnTo>
                  <a:pt x="2681134" y="4768678"/>
                </a:lnTo>
                <a:lnTo>
                  <a:pt x="0" y="4768678"/>
                </a:lnTo>
                <a:lnTo>
                  <a:pt x="0" y="0"/>
                </a:lnTo>
                <a:close/>
              </a:path>
            </a:pathLst>
          </a:custGeom>
          <a:blipFill>
            <a:blip r:embed="rId4"/>
            <a:stretch>
              <a:fillRect l="0" t="0" r="0" b="0"/>
            </a:stretch>
          </a:blipFill>
        </p:spPr>
      </p:sp>
      <p:sp>
        <p:nvSpPr>
          <p:cNvPr name="Freeform 5" id="5"/>
          <p:cNvSpPr/>
          <p:nvPr/>
        </p:nvSpPr>
        <p:spPr>
          <a:xfrm flipH="false" flipV="false" rot="0">
            <a:off x="9427380" y="1601111"/>
            <a:ext cx="3742222" cy="4969670"/>
          </a:xfrm>
          <a:custGeom>
            <a:avLst/>
            <a:gdLst/>
            <a:ahLst/>
            <a:cxnLst/>
            <a:rect r="r" b="b" t="t" l="l"/>
            <a:pathLst>
              <a:path h="4969670" w="3742222">
                <a:moveTo>
                  <a:pt x="0" y="0"/>
                </a:moveTo>
                <a:lnTo>
                  <a:pt x="3742222" y="0"/>
                </a:lnTo>
                <a:lnTo>
                  <a:pt x="3742222" y="4969670"/>
                </a:lnTo>
                <a:lnTo>
                  <a:pt x="0" y="4969670"/>
                </a:lnTo>
                <a:lnTo>
                  <a:pt x="0" y="0"/>
                </a:lnTo>
                <a:close/>
              </a:path>
            </a:pathLst>
          </a:custGeom>
          <a:blipFill>
            <a:blip r:embed="rId5"/>
            <a:stretch>
              <a:fillRect l="0" t="0" r="0" b="0"/>
            </a:stretch>
          </a:blipFill>
        </p:spPr>
      </p:sp>
      <p:sp>
        <p:nvSpPr>
          <p:cNvPr name="TextBox 6" id="6"/>
          <p:cNvSpPr txBox="true"/>
          <p:nvPr/>
        </p:nvSpPr>
        <p:spPr>
          <a:xfrm rot="0">
            <a:off x="4890081" y="141565"/>
            <a:ext cx="9074599" cy="887135"/>
          </a:xfrm>
          <a:prstGeom prst="rect">
            <a:avLst/>
          </a:prstGeom>
        </p:spPr>
        <p:txBody>
          <a:bodyPr anchor="t" rtlCol="false" tIns="0" lIns="0" bIns="0" rIns="0">
            <a:spAutoFit/>
          </a:bodyPr>
          <a:lstStyle/>
          <a:p>
            <a:pPr algn="ctr">
              <a:lnSpc>
                <a:spcPts val="7279"/>
              </a:lnSpc>
            </a:pPr>
            <a:r>
              <a:rPr lang="en-US" b="true" sz="5199">
                <a:solidFill>
                  <a:srgbClr val="153153"/>
                </a:solidFill>
                <a:latin typeface="Canva Sans Bold"/>
                <a:ea typeface="Canva Sans Bold"/>
                <a:cs typeface="Canva Sans Bold"/>
                <a:sym typeface="Canva Sans Bold"/>
              </a:rPr>
              <a:t>Product Gallery – Tiba Store</a:t>
            </a:r>
          </a:p>
        </p:txBody>
      </p:sp>
      <p:sp>
        <p:nvSpPr>
          <p:cNvPr name="TextBox 7" id="7"/>
          <p:cNvSpPr txBox="true"/>
          <p:nvPr/>
        </p:nvSpPr>
        <p:spPr>
          <a:xfrm rot="0">
            <a:off x="5128978" y="933450"/>
            <a:ext cx="8596804" cy="887135"/>
          </a:xfrm>
          <a:prstGeom prst="rect">
            <a:avLst/>
          </a:prstGeom>
        </p:spPr>
        <p:txBody>
          <a:bodyPr anchor="t" rtlCol="false" tIns="0" lIns="0" bIns="0" rIns="0">
            <a:spAutoFit/>
          </a:bodyPr>
          <a:lstStyle/>
          <a:p>
            <a:pPr algn="ctr">
              <a:lnSpc>
                <a:spcPts val="7279"/>
              </a:lnSpc>
            </a:pPr>
            <a:r>
              <a:rPr lang="en-US" b="true" sz="5199">
                <a:solidFill>
                  <a:srgbClr val="18BBB5"/>
                </a:solidFill>
                <a:latin typeface="Canva Sans Bold"/>
                <a:ea typeface="Canva Sans Bold"/>
                <a:cs typeface="Canva Sans Bold"/>
                <a:sym typeface="Canva Sans Bold"/>
              </a:rPr>
              <a:t>Home &amp; Cleaning Products</a:t>
            </a:r>
          </a:p>
        </p:txBody>
      </p:sp>
      <p:sp>
        <p:nvSpPr>
          <p:cNvPr name="TextBox 8" id="8"/>
          <p:cNvSpPr txBox="true"/>
          <p:nvPr/>
        </p:nvSpPr>
        <p:spPr>
          <a:xfrm rot="0">
            <a:off x="1810053" y="6962205"/>
            <a:ext cx="15234655" cy="3250667"/>
          </a:xfrm>
          <a:prstGeom prst="rect">
            <a:avLst/>
          </a:prstGeom>
        </p:spPr>
        <p:txBody>
          <a:bodyPr anchor="t" rtlCol="false" tIns="0" lIns="0" bIns="0" rIns="0">
            <a:spAutoFit/>
          </a:bodyPr>
          <a:lstStyle/>
          <a:p>
            <a:pPr algn="ctr">
              <a:lnSpc>
                <a:spcPts val="6465"/>
              </a:lnSpc>
            </a:pPr>
            <a:r>
              <a:rPr lang="en-US" b="true" sz="4618">
                <a:solidFill>
                  <a:srgbClr val="1A6EC1"/>
                </a:solidFill>
                <a:latin typeface="Canva Sans Bold"/>
                <a:ea typeface="Canva Sans Bold"/>
                <a:cs typeface="Canva Sans Bold"/>
                <a:sym typeface="Canva Sans Bold"/>
              </a:rPr>
              <a:t>"You can visit our Facebook page to explore all our products more clearly."</a:t>
            </a:r>
          </a:p>
          <a:p>
            <a:pPr algn="ctr">
              <a:lnSpc>
                <a:spcPts val="6465"/>
              </a:lnSpc>
            </a:pPr>
            <a:r>
              <a:rPr lang="en-US" b="true" sz="4618" u="sng">
                <a:solidFill>
                  <a:srgbClr val="1A6EC1"/>
                </a:solidFill>
                <a:latin typeface="Canva Sans Bold"/>
                <a:ea typeface="Canva Sans Bold"/>
                <a:cs typeface="Canva Sans Bold"/>
                <a:sym typeface="Canva Sans Bold"/>
                <a:hlinkClick r:id="rId6" tooltip="https://www.facebook.com/profile.php?id=61581922016882"/>
              </a:rPr>
              <a:t>https://www.facebook.com/profile.php?id=61581922016882</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972417" y="-2665598"/>
            <a:ext cx="19929383" cy="13477245"/>
          </a:xfrm>
          <a:custGeom>
            <a:avLst/>
            <a:gdLst/>
            <a:ahLst/>
            <a:cxnLst/>
            <a:rect r="r" b="b" t="t" l="l"/>
            <a:pathLst>
              <a:path h="13477245" w="19929383">
                <a:moveTo>
                  <a:pt x="0" y="0"/>
                </a:moveTo>
                <a:lnTo>
                  <a:pt x="19929383" y="0"/>
                </a:lnTo>
                <a:lnTo>
                  <a:pt x="19929383" y="13477245"/>
                </a:lnTo>
                <a:lnTo>
                  <a:pt x="0" y="13477245"/>
                </a:lnTo>
                <a:lnTo>
                  <a:pt x="0" y="0"/>
                </a:lnTo>
                <a:close/>
              </a:path>
            </a:pathLst>
          </a:custGeom>
          <a:blipFill>
            <a:blip r:embed="rId2">
              <a:alphaModFix amt="55000"/>
              <a:extLst>
                <a:ext uri="{96DAC541-7B7A-43D3-8B79-37D633B846F1}">
                  <asvg:svgBlip xmlns:asvg="http://schemas.microsoft.com/office/drawing/2016/SVG/main" r:embed="rId3"/>
                </a:ext>
              </a:extLst>
            </a:blip>
            <a:stretch>
              <a:fillRect l="0" t="-92" r="0" b="-92"/>
            </a:stretch>
          </a:blipFill>
        </p:spPr>
      </p:sp>
      <p:sp>
        <p:nvSpPr>
          <p:cNvPr name="Freeform 3" id="3"/>
          <p:cNvSpPr/>
          <p:nvPr/>
        </p:nvSpPr>
        <p:spPr>
          <a:xfrm flipH="false" flipV="false" rot="0">
            <a:off x="-2366630" y="7281974"/>
            <a:ext cx="3395330" cy="3807991"/>
          </a:xfrm>
          <a:custGeom>
            <a:avLst/>
            <a:gdLst/>
            <a:ahLst/>
            <a:cxnLst/>
            <a:rect r="r" b="b" t="t" l="l"/>
            <a:pathLst>
              <a:path h="3807991" w="3395330">
                <a:moveTo>
                  <a:pt x="0" y="0"/>
                </a:moveTo>
                <a:lnTo>
                  <a:pt x="3395330" y="0"/>
                </a:lnTo>
                <a:lnTo>
                  <a:pt x="3395330" y="3807991"/>
                </a:lnTo>
                <a:lnTo>
                  <a:pt x="0" y="380799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7259300" y="-947626"/>
            <a:ext cx="3395330" cy="3807991"/>
          </a:xfrm>
          <a:custGeom>
            <a:avLst/>
            <a:gdLst/>
            <a:ahLst/>
            <a:cxnLst/>
            <a:rect r="r" b="b" t="t" l="l"/>
            <a:pathLst>
              <a:path h="3807991" w="3395330">
                <a:moveTo>
                  <a:pt x="0" y="0"/>
                </a:moveTo>
                <a:lnTo>
                  <a:pt x="3395330" y="0"/>
                </a:lnTo>
                <a:lnTo>
                  <a:pt x="3395330" y="3807991"/>
                </a:lnTo>
                <a:lnTo>
                  <a:pt x="0" y="380799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5576340" y="5226309"/>
            <a:ext cx="1125867" cy="1266673"/>
          </a:xfrm>
          <a:custGeom>
            <a:avLst/>
            <a:gdLst/>
            <a:ahLst/>
            <a:cxnLst/>
            <a:rect r="r" b="b" t="t" l="l"/>
            <a:pathLst>
              <a:path h="1266673" w="1125867">
                <a:moveTo>
                  <a:pt x="0" y="0"/>
                </a:moveTo>
                <a:lnTo>
                  <a:pt x="1125867" y="0"/>
                </a:lnTo>
                <a:lnTo>
                  <a:pt x="1125867" y="1266673"/>
                </a:lnTo>
                <a:lnTo>
                  <a:pt x="0" y="126667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5576340" y="5226309"/>
            <a:ext cx="1125867" cy="1266673"/>
          </a:xfrm>
          <a:custGeom>
            <a:avLst/>
            <a:gdLst/>
            <a:ahLst/>
            <a:cxnLst/>
            <a:rect r="r" b="b" t="t" l="l"/>
            <a:pathLst>
              <a:path h="1266673" w="1125867">
                <a:moveTo>
                  <a:pt x="0" y="0"/>
                </a:moveTo>
                <a:lnTo>
                  <a:pt x="1125867" y="0"/>
                </a:lnTo>
                <a:lnTo>
                  <a:pt x="1125867" y="1266673"/>
                </a:lnTo>
                <a:lnTo>
                  <a:pt x="0" y="126667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15576340" y="5226309"/>
            <a:ext cx="1125867" cy="1266673"/>
          </a:xfrm>
          <a:custGeom>
            <a:avLst/>
            <a:gdLst/>
            <a:ahLst/>
            <a:cxnLst/>
            <a:rect r="r" b="b" t="t" l="l"/>
            <a:pathLst>
              <a:path h="1266673" w="1125867">
                <a:moveTo>
                  <a:pt x="0" y="0"/>
                </a:moveTo>
                <a:lnTo>
                  <a:pt x="1125867" y="0"/>
                </a:lnTo>
                <a:lnTo>
                  <a:pt x="1125867" y="1266673"/>
                </a:lnTo>
                <a:lnTo>
                  <a:pt x="0" y="126667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8" id="8"/>
          <p:cNvGrpSpPr/>
          <p:nvPr/>
        </p:nvGrpSpPr>
        <p:grpSpPr>
          <a:xfrm rot="0">
            <a:off x="14270536" y="1725567"/>
            <a:ext cx="6985503" cy="8365056"/>
            <a:chOff x="0" y="0"/>
            <a:chExt cx="9314004" cy="11153408"/>
          </a:xfrm>
        </p:grpSpPr>
        <p:sp>
          <p:nvSpPr>
            <p:cNvPr name="Freeform 9" id="9"/>
            <p:cNvSpPr/>
            <p:nvPr/>
          </p:nvSpPr>
          <p:spPr>
            <a:xfrm flipH="true" flipV="false" rot="0">
              <a:off x="0" y="0"/>
              <a:ext cx="9314053" cy="11153394"/>
            </a:xfrm>
            <a:custGeom>
              <a:avLst/>
              <a:gdLst/>
              <a:ahLst/>
              <a:cxnLst/>
              <a:rect r="r" b="b" t="t" l="l"/>
              <a:pathLst>
                <a:path h="11153394" w="9314053">
                  <a:moveTo>
                    <a:pt x="9314053" y="0"/>
                  </a:moveTo>
                  <a:lnTo>
                    <a:pt x="0" y="0"/>
                  </a:lnTo>
                  <a:lnTo>
                    <a:pt x="0" y="11153394"/>
                  </a:lnTo>
                  <a:lnTo>
                    <a:pt x="9314053" y="11153394"/>
                  </a:lnTo>
                  <a:lnTo>
                    <a:pt x="9314053" y="0"/>
                  </a:lnTo>
                  <a:close/>
                </a:path>
              </a:pathLst>
            </a:custGeom>
            <a:blipFill>
              <a:blip r:embed="rId12"/>
              <a:stretch>
                <a:fillRect l="-21" t="0" r="-20" b="0"/>
              </a:stretch>
            </a:blipFill>
          </p:spPr>
        </p:sp>
      </p:grpSp>
      <p:grpSp>
        <p:nvGrpSpPr>
          <p:cNvPr name="Group 10" id="10"/>
          <p:cNvGrpSpPr/>
          <p:nvPr/>
        </p:nvGrpSpPr>
        <p:grpSpPr>
          <a:xfrm rot="0">
            <a:off x="14554420" y="2363518"/>
            <a:ext cx="390540" cy="390052"/>
            <a:chOff x="0" y="0"/>
            <a:chExt cx="520720" cy="520069"/>
          </a:xfrm>
        </p:grpSpPr>
        <p:sp>
          <p:nvSpPr>
            <p:cNvPr name="Freeform 11" id="11"/>
            <p:cNvSpPr/>
            <p:nvPr/>
          </p:nvSpPr>
          <p:spPr>
            <a:xfrm flipH="false" flipV="false" rot="0">
              <a:off x="0" y="0"/>
              <a:ext cx="520700" cy="520065"/>
            </a:xfrm>
            <a:custGeom>
              <a:avLst/>
              <a:gdLst/>
              <a:ahLst/>
              <a:cxnLst/>
              <a:rect r="r" b="b" t="t" l="l"/>
              <a:pathLst>
                <a:path h="520065" w="520700">
                  <a:moveTo>
                    <a:pt x="0" y="0"/>
                  </a:moveTo>
                  <a:lnTo>
                    <a:pt x="520700" y="0"/>
                  </a:lnTo>
                  <a:lnTo>
                    <a:pt x="520700" y="520065"/>
                  </a:lnTo>
                  <a:lnTo>
                    <a:pt x="0" y="520065"/>
                  </a:lnTo>
                  <a:lnTo>
                    <a:pt x="0" y="0"/>
                  </a:lnTo>
                  <a:close/>
                </a:path>
              </a:pathLst>
            </a:custGeom>
            <a:blipFill>
              <a:blip r:embed="rId13"/>
              <a:stretch>
                <a:fillRect l="-146" t="0" r="-150" b="0"/>
              </a:stretch>
            </a:blipFill>
          </p:spPr>
        </p:sp>
      </p:grpSp>
      <p:grpSp>
        <p:nvGrpSpPr>
          <p:cNvPr name="Group 12" id="12"/>
          <p:cNvGrpSpPr/>
          <p:nvPr/>
        </p:nvGrpSpPr>
        <p:grpSpPr>
          <a:xfrm rot="0">
            <a:off x="13580351" y="10090622"/>
            <a:ext cx="690185" cy="689322"/>
            <a:chOff x="0" y="0"/>
            <a:chExt cx="920246" cy="919096"/>
          </a:xfrm>
        </p:grpSpPr>
        <p:sp>
          <p:nvSpPr>
            <p:cNvPr name="Freeform 13" id="13"/>
            <p:cNvSpPr/>
            <p:nvPr/>
          </p:nvSpPr>
          <p:spPr>
            <a:xfrm flipH="false" flipV="false" rot="0">
              <a:off x="0" y="0"/>
              <a:ext cx="920242" cy="919099"/>
            </a:xfrm>
            <a:custGeom>
              <a:avLst/>
              <a:gdLst/>
              <a:ahLst/>
              <a:cxnLst/>
              <a:rect r="r" b="b" t="t" l="l"/>
              <a:pathLst>
                <a:path h="919099" w="920242">
                  <a:moveTo>
                    <a:pt x="0" y="0"/>
                  </a:moveTo>
                  <a:lnTo>
                    <a:pt x="920242" y="0"/>
                  </a:lnTo>
                  <a:lnTo>
                    <a:pt x="920242" y="919099"/>
                  </a:lnTo>
                  <a:lnTo>
                    <a:pt x="0" y="919099"/>
                  </a:lnTo>
                  <a:lnTo>
                    <a:pt x="0" y="0"/>
                  </a:lnTo>
                  <a:close/>
                </a:path>
              </a:pathLst>
            </a:custGeom>
            <a:blipFill>
              <a:blip r:embed="rId14"/>
              <a:stretch>
                <a:fillRect l="0" t="-62" r="0" b="-62"/>
              </a:stretch>
            </a:blipFill>
          </p:spPr>
        </p:sp>
      </p:grpSp>
      <p:grpSp>
        <p:nvGrpSpPr>
          <p:cNvPr name="Group 14" id="14"/>
          <p:cNvGrpSpPr/>
          <p:nvPr/>
        </p:nvGrpSpPr>
        <p:grpSpPr>
          <a:xfrm rot="0">
            <a:off x="18636737" y="9523204"/>
            <a:ext cx="1319444" cy="1317794"/>
            <a:chOff x="0" y="0"/>
            <a:chExt cx="1759258" cy="1757059"/>
          </a:xfrm>
        </p:grpSpPr>
        <p:sp>
          <p:nvSpPr>
            <p:cNvPr name="Freeform 15" id="15"/>
            <p:cNvSpPr/>
            <p:nvPr/>
          </p:nvSpPr>
          <p:spPr>
            <a:xfrm flipH="false" flipV="false" rot="0">
              <a:off x="0" y="0"/>
              <a:ext cx="1759204" cy="1757045"/>
            </a:xfrm>
            <a:custGeom>
              <a:avLst/>
              <a:gdLst/>
              <a:ahLst/>
              <a:cxnLst/>
              <a:rect r="r" b="b" t="t" l="l"/>
              <a:pathLst>
                <a:path h="1757045" w="1759204">
                  <a:moveTo>
                    <a:pt x="0" y="0"/>
                  </a:moveTo>
                  <a:lnTo>
                    <a:pt x="1759204" y="0"/>
                  </a:lnTo>
                  <a:lnTo>
                    <a:pt x="1759204" y="1757045"/>
                  </a:lnTo>
                  <a:lnTo>
                    <a:pt x="0" y="1757045"/>
                  </a:lnTo>
                  <a:lnTo>
                    <a:pt x="0" y="0"/>
                  </a:lnTo>
                  <a:close/>
                </a:path>
              </a:pathLst>
            </a:custGeom>
            <a:blipFill>
              <a:blip r:embed="rId15"/>
              <a:stretch>
                <a:fillRect l="0" t="-62" r="-3" b="-63"/>
              </a:stretch>
            </a:blipFill>
          </p:spPr>
        </p:sp>
      </p:grpSp>
      <p:sp>
        <p:nvSpPr>
          <p:cNvPr name="TextBox 16" id="16"/>
          <p:cNvSpPr txBox="true"/>
          <p:nvPr/>
        </p:nvSpPr>
        <p:spPr>
          <a:xfrm rot="0">
            <a:off x="1300682" y="349221"/>
            <a:ext cx="12624761" cy="9693334"/>
          </a:xfrm>
          <a:prstGeom prst="rect">
            <a:avLst/>
          </a:prstGeom>
        </p:spPr>
        <p:txBody>
          <a:bodyPr anchor="t" rtlCol="false" tIns="0" lIns="0" bIns="0" rIns="0">
            <a:spAutoFit/>
          </a:bodyPr>
          <a:lstStyle/>
          <a:p>
            <a:pPr algn="l">
              <a:lnSpc>
                <a:spcPts val="6519"/>
              </a:lnSpc>
            </a:pPr>
            <a:r>
              <a:rPr lang="en-US" b="true" sz="6330">
                <a:solidFill>
                  <a:srgbClr val="2B4863"/>
                </a:solidFill>
                <a:latin typeface="Droid Arabic Naskh Bold"/>
                <a:ea typeface="Droid Arabic Naskh Bold"/>
                <a:cs typeface="Droid Arabic Naskh Bold"/>
                <a:sym typeface="Droid Arabic Naskh Bold"/>
              </a:rPr>
              <a:t>Unique Selling Point (USP)</a:t>
            </a:r>
          </a:p>
          <a:p>
            <a:pPr algn="l">
              <a:lnSpc>
                <a:spcPts val="3919"/>
              </a:lnSpc>
            </a:pPr>
          </a:p>
          <a:p>
            <a:pPr algn="l" marL="870125" indent="-290042" lvl="2">
              <a:lnSpc>
                <a:spcPts val="3916"/>
              </a:lnSpc>
              <a:buFont typeface="Arial"/>
              <a:buChar char="⚬"/>
            </a:pPr>
            <a:r>
              <a:rPr lang="en-US" b="true" sz="3806">
                <a:solidFill>
                  <a:srgbClr val="2B4863"/>
                </a:solidFill>
                <a:latin typeface="Droid Arabic Naskh Bold"/>
                <a:ea typeface="Droid Arabic Naskh Bold"/>
                <a:cs typeface="Droid Arabic Naskh Bold"/>
                <a:sym typeface="Droid Arabic Naskh Bold"/>
              </a:rPr>
              <a:t>What truly sets Tiba Store apart is its focus on trusted local family needs. All products are carefully selected to ensure safety, quality, and everyday convenience for every member of the Banha family.</a:t>
            </a:r>
          </a:p>
          <a:p>
            <a:pPr algn="l" marL="870136" indent="-290045" lvl="2">
              <a:lnSpc>
                <a:spcPts val="3919"/>
              </a:lnSpc>
              <a:buFont typeface="Arial"/>
              <a:buChar char="⚬"/>
            </a:pPr>
          </a:p>
          <a:p>
            <a:pPr algn="l" marL="870136" indent="-290045" lvl="2">
              <a:lnSpc>
                <a:spcPts val="3919"/>
              </a:lnSpc>
            </a:pPr>
          </a:p>
          <a:p>
            <a:pPr algn="l" marL="870125" indent="-290042" lvl="2">
              <a:lnSpc>
                <a:spcPts val="3916"/>
              </a:lnSpc>
              <a:buFont typeface="Arial"/>
              <a:buChar char="⚬"/>
            </a:pPr>
            <a:r>
              <a:rPr lang="en-US" b="true" sz="3806">
                <a:solidFill>
                  <a:srgbClr val="2B4863"/>
                </a:solidFill>
                <a:latin typeface="Droid Arabic Naskh Bold"/>
                <a:ea typeface="Droid Arabic Naskh Bold"/>
                <a:cs typeface="Droid Arabic Naskh Bold"/>
                <a:sym typeface="Droid Arabic Naskh Bold"/>
              </a:rPr>
              <a:t>Unlike other stores that focus on a single product category, Tiba Store brings together beauty, baby care, and household cleaning products in one reliable location.</a:t>
            </a:r>
          </a:p>
          <a:p>
            <a:pPr algn="l" marL="870125" indent="-290042" lvl="2">
              <a:lnSpc>
                <a:spcPts val="3919"/>
              </a:lnSpc>
              <a:buFont typeface="Arial"/>
              <a:buChar char="⚬"/>
            </a:pPr>
          </a:p>
          <a:p>
            <a:pPr algn="l" marL="870136" indent="-290045" lvl="2">
              <a:lnSpc>
                <a:spcPts val="3919"/>
              </a:lnSpc>
              <a:buFont typeface="Arial"/>
              <a:buChar char="⚬"/>
            </a:pPr>
            <a:r>
              <a:rPr lang="en-US" b="true" sz="3806">
                <a:solidFill>
                  <a:srgbClr val="2B4863"/>
                </a:solidFill>
                <a:latin typeface="Droid Arabic Naskh Bold"/>
                <a:ea typeface="Droid Arabic Naskh Bold"/>
                <a:cs typeface="Droid Arabic Naskh Bold"/>
                <a:sym typeface="Droid Arabic Naskh Bold"/>
              </a:rPr>
              <a:t>Tiba Store offers a personalized online shopping experience that feels just like being inside the store — with real-time support, product guidance, and instant assistance through WhatsApp and social platforms.</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972417" y="-2665598"/>
            <a:ext cx="19929383" cy="13477245"/>
          </a:xfrm>
          <a:custGeom>
            <a:avLst/>
            <a:gdLst/>
            <a:ahLst/>
            <a:cxnLst/>
            <a:rect r="r" b="b" t="t" l="l"/>
            <a:pathLst>
              <a:path h="13477245" w="19929383">
                <a:moveTo>
                  <a:pt x="0" y="0"/>
                </a:moveTo>
                <a:lnTo>
                  <a:pt x="19929383" y="0"/>
                </a:lnTo>
                <a:lnTo>
                  <a:pt x="19929383" y="13477245"/>
                </a:lnTo>
                <a:lnTo>
                  <a:pt x="0" y="13477245"/>
                </a:lnTo>
                <a:lnTo>
                  <a:pt x="0" y="0"/>
                </a:lnTo>
                <a:close/>
              </a:path>
            </a:pathLst>
          </a:custGeom>
          <a:blipFill>
            <a:blip r:embed="rId2">
              <a:alphaModFix amt="55000"/>
              <a:extLst>
                <a:ext uri="{96DAC541-7B7A-43D3-8B79-37D633B846F1}">
                  <asvg:svgBlip xmlns:asvg="http://schemas.microsoft.com/office/drawing/2016/SVG/main" r:embed="rId3"/>
                </a:ext>
              </a:extLst>
            </a:blip>
            <a:stretch>
              <a:fillRect l="0" t="-92" r="0" b="-92"/>
            </a:stretch>
          </a:blipFill>
        </p:spPr>
      </p:sp>
      <p:sp>
        <p:nvSpPr>
          <p:cNvPr name="Freeform 3" id="3"/>
          <p:cNvSpPr/>
          <p:nvPr/>
        </p:nvSpPr>
        <p:spPr>
          <a:xfrm flipH="false" flipV="false" rot="0">
            <a:off x="-2366630" y="7281974"/>
            <a:ext cx="3395330" cy="3807991"/>
          </a:xfrm>
          <a:custGeom>
            <a:avLst/>
            <a:gdLst/>
            <a:ahLst/>
            <a:cxnLst/>
            <a:rect r="r" b="b" t="t" l="l"/>
            <a:pathLst>
              <a:path h="3807991" w="3395330">
                <a:moveTo>
                  <a:pt x="0" y="0"/>
                </a:moveTo>
                <a:lnTo>
                  <a:pt x="3395330" y="0"/>
                </a:lnTo>
                <a:lnTo>
                  <a:pt x="3395330" y="3807991"/>
                </a:lnTo>
                <a:lnTo>
                  <a:pt x="0" y="380799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7259300" y="-947626"/>
            <a:ext cx="3395330" cy="3807991"/>
          </a:xfrm>
          <a:custGeom>
            <a:avLst/>
            <a:gdLst/>
            <a:ahLst/>
            <a:cxnLst/>
            <a:rect r="r" b="b" t="t" l="l"/>
            <a:pathLst>
              <a:path h="3807991" w="3395330">
                <a:moveTo>
                  <a:pt x="0" y="0"/>
                </a:moveTo>
                <a:lnTo>
                  <a:pt x="3395330" y="0"/>
                </a:lnTo>
                <a:lnTo>
                  <a:pt x="3395330" y="3807991"/>
                </a:lnTo>
                <a:lnTo>
                  <a:pt x="0" y="380799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4672013" y="4998839"/>
            <a:ext cx="1125867" cy="1266673"/>
          </a:xfrm>
          <a:custGeom>
            <a:avLst/>
            <a:gdLst/>
            <a:ahLst/>
            <a:cxnLst/>
            <a:rect r="r" b="b" t="t" l="l"/>
            <a:pathLst>
              <a:path h="1266673" w="1125867">
                <a:moveTo>
                  <a:pt x="0" y="0"/>
                </a:moveTo>
                <a:lnTo>
                  <a:pt x="1125867" y="0"/>
                </a:lnTo>
                <a:lnTo>
                  <a:pt x="1125867" y="1266673"/>
                </a:lnTo>
                <a:lnTo>
                  <a:pt x="0" y="126667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14672013" y="4998839"/>
            <a:ext cx="1125867" cy="1266673"/>
          </a:xfrm>
          <a:custGeom>
            <a:avLst/>
            <a:gdLst/>
            <a:ahLst/>
            <a:cxnLst/>
            <a:rect r="r" b="b" t="t" l="l"/>
            <a:pathLst>
              <a:path h="1266673" w="1125867">
                <a:moveTo>
                  <a:pt x="0" y="0"/>
                </a:moveTo>
                <a:lnTo>
                  <a:pt x="1125867" y="0"/>
                </a:lnTo>
                <a:lnTo>
                  <a:pt x="1125867" y="1266673"/>
                </a:lnTo>
                <a:lnTo>
                  <a:pt x="0" y="126667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7" id="7"/>
          <p:cNvSpPr txBox="true"/>
          <p:nvPr/>
        </p:nvSpPr>
        <p:spPr>
          <a:xfrm rot="0">
            <a:off x="4056375" y="1882688"/>
            <a:ext cx="13684726" cy="7081365"/>
          </a:xfrm>
          <a:prstGeom prst="rect">
            <a:avLst/>
          </a:prstGeom>
        </p:spPr>
        <p:txBody>
          <a:bodyPr anchor="t" rtlCol="false" tIns="0" lIns="0" bIns="0" rIns="0">
            <a:spAutoFit/>
          </a:bodyPr>
          <a:lstStyle/>
          <a:p>
            <a:pPr algn="ctr">
              <a:lnSpc>
                <a:spcPts val="6485"/>
              </a:lnSpc>
            </a:pPr>
            <a:r>
              <a:rPr lang="en-US" b="true" sz="6297">
                <a:solidFill>
                  <a:srgbClr val="2B4863"/>
                </a:solidFill>
                <a:latin typeface="Droid Arabic Naskh Bold"/>
                <a:ea typeface="Droid Arabic Naskh Bold"/>
                <a:cs typeface="Droid Arabic Naskh Bold"/>
                <a:sym typeface="Droid Arabic Naskh Bold"/>
              </a:rPr>
              <a:t>Marketing Channels Overview:</a:t>
            </a:r>
          </a:p>
          <a:p>
            <a:pPr algn="ctr">
              <a:lnSpc>
                <a:spcPts val="6485"/>
              </a:lnSpc>
            </a:pPr>
          </a:p>
          <a:p>
            <a:pPr algn="ctr" marL="868916" indent="-289639" lvl="2">
              <a:lnSpc>
                <a:spcPts val="3914"/>
              </a:lnSpc>
              <a:buFont typeface="Arial"/>
              <a:buChar char="⚬"/>
            </a:pPr>
            <a:r>
              <a:rPr lang="en-US" b="true" sz="3800">
                <a:solidFill>
                  <a:srgbClr val="2B4863"/>
                </a:solidFill>
                <a:latin typeface="Droid Arabic Naskh Bold"/>
                <a:ea typeface="Droid Arabic Naskh Bold"/>
                <a:cs typeface="Droid Arabic Naskh Bold"/>
                <a:sym typeface="Droid Arabic Naskh Bold"/>
              </a:rPr>
              <a:t>WhatsApp Business:</a:t>
            </a:r>
          </a:p>
          <a:p>
            <a:pPr algn="ctr" marL="868916" indent="-289639" lvl="2">
              <a:lnSpc>
                <a:spcPts val="3914"/>
              </a:lnSpc>
            </a:pPr>
            <a:r>
              <a:rPr lang="en-US" b="true" sz="3800">
                <a:solidFill>
                  <a:srgbClr val="2B4863"/>
                </a:solidFill>
                <a:latin typeface="Droid Arabic Naskh Bold"/>
                <a:ea typeface="Droid Arabic Naskh Bold"/>
                <a:cs typeface="Droid Arabic Naskh Bold"/>
                <a:sym typeface="Droid Arabic Naskh Bold"/>
              </a:rPr>
              <a:t>Used as a direct and personal communication channel, enabling customers to inquire about and order products easily and quickly.</a:t>
            </a:r>
          </a:p>
          <a:p>
            <a:pPr algn="ctr" marL="868916" indent="-289639" lvl="2">
              <a:lnSpc>
                <a:spcPts val="3914"/>
              </a:lnSpc>
            </a:pPr>
          </a:p>
          <a:p>
            <a:pPr algn="ctr" marL="868916" indent="-289639" lvl="2">
              <a:lnSpc>
                <a:spcPts val="3914"/>
              </a:lnSpc>
              <a:buFont typeface="Arial"/>
              <a:buChar char="⚬"/>
            </a:pPr>
            <a:r>
              <a:rPr lang="en-US" b="true" sz="3800">
                <a:solidFill>
                  <a:srgbClr val="2B4863"/>
                </a:solidFill>
                <a:latin typeface="Droid Arabic Naskh Bold"/>
                <a:ea typeface="Droid Arabic Naskh Bold"/>
                <a:cs typeface="Droid Arabic Naskh Bold"/>
                <a:sym typeface="Droid Arabic Naskh Bold"/>
              </a:rPr>
              <a:t>Email Marketing:</a:t>
            </a:r>
          </a:p>
          <a:p>
            <a:pPr algn="ctr" marL="868916" indent="-289639" lvl="2">
              <a:lnSpc>
                <a:spcPts val="3914"/>
              </a:lnSpc>
            </a:pPr>
            <a:r>
              <a:rPr lang="en-US" b="true" sz="3800">
                <a:solidFill>
                  <a:srgbClr val="2B4863"/>
                </a:solidFill>
                <a:latin typeface="Droid Arabic Naskh Bold"/>
                <a:ea typeface="Droid Arabic Naskh Bold"/>
                <a:cs typeface="Droid Arabic Naskh Bold"/>
                <a:sym typeface="Droid Arabic Naskh Bold"/>
              </a:rPr>
              <a:t>A mailing list will be created to send exclusive offers and helpful content, aiming to enhance customer loyalty and encourage repeat purchases.</a:t>
            </a:r>
          </a:p>
          <a:p>
            <a:pPr algn="ctr" marL="868916" indent="-289639" lvl="2">
              <a:lnSpc>
                <a:spcPts val="3914"/>
              </a:lnSpc>
            </a:pPr>
          </a:p>
          <a:p>
            <a:pPr algn="ctr" marL="820600" indent="-273533" lvl="2">
              <a:lnSpc>
                <a:spcPts val="3914"/>
              </a:lnSpc>
              <a:buFont typeface="Arial"/>
              <a:buChar char="⚬"/>
            </a:pPr>
          </a:p>
        </p:txBody>
      </p:sp>
      <p:sp>
        <p:nvSpPr>
          <p:cNvPr name="Freeform 8" id="8"/>
          <p:cNvSpPr/>
          <p:nvPr/>
        </p:nvSpPr>
        <p:spPr>
          <a:xfrm flipH="false" flipV="false" rot="0">
            <a:off x="310703" y="774651"/>
            <a:ext cx="3745672" cy="8189401"/>
          </a:xfrm>
          <a:custGeom>
            <a:avLst/>
            <a:gdLst/>
            <a:ahLst/>
            <a:cxnLst/>
            <a:rect r="r" b="b" t="t" l="l"/>
            <a:pathLst>
              <a:path h="8189401" w="3745672">
                <a:moveTo>
                  <a:pt x="0" y="0"/>
                </a:moveTo>
                <a:lnTo>
                  <a:pt x="3745672" y="0"/>
                </a:lnTo>
                <a:lnTo>
                  <a:pt x="3745672" y="8189401"/>
                </a:lnTo>
                <a:lnTo>
                  <a:pt x="0" y="8189401"/>
                </a:lnTo>
                <a:lnTo>
                  <a:pt x="0" y="0"/>
                </a:lnTo>
                <a:close/>
              </a:path>
            </a:pathLst>
          </a:custGeom>
          <a:blipFill>
            <a:blip r:embed="rId12"/>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972417" y="-2665598"/>
            <a:ext cx="19929383" cy="13477245"/>
          </a:xfrm>
          <a:custGeom>
            <a:avLst/>
            <a:gdLst/>
            <a:ahLst/>
            <a:cxnLst/>
            <a:rect r="r" b="b" t="t" l="l"/>
            <a:pathLst>
              <a:path h="13477245" w="19929383">
                <a:moveTo>
                  <a:pt x="0" y="0"/>
                </a:moveTo>
                <a:lnTo>
                  <a:pt x="19929383" y="0"/>
                </a:lnTo>
                <a:lnTo>
                  <a:pt x="19929383" y="13477245"/>
                </a:lnTo>
                <a:lnTo>
                  <a:pt x="0" y="13477245"/>
                </a:lnTo>
                <a:lnTo>
                  <a:pt x="0" y="0"/>
                </a:lnTo>
                <a:close/>
              </a:path>
            </a:pathLst>
          </a:custGeom>
          <a:blipFill>
            <a:blip r:embed="rId2">
              <a:alphaModFix amt="55000"/>
              <a:extLst>
                <a:ext uri="{96DAC541-7B7A-43D3-8B79-37D633B846F1}">
                  <asvg:svgBlip xmlns:asvg="http://schemas.microsoft.com/office/drawing/2016/SVG/main" r:embed="rId3"/>
                </a:ext>
              </a:extLst>
            </a:blip>
            <a:stretch>
              <a:fillRect l="0" t="-92" r="0" b="-92"/>
            </a:stretch>
          </a:blipFill>
        </p:spPr>
      </p:sp>
      <p:sp>
        <p:nvSpPr>
          <p:cNvPr name="Freeform 3" id="3"/>
          <p:cNvSpPr/>
          <p:nvPr/>
        </p:nvSpPr>
        <p:spPr>
          <a:xfrm flipH="false" flipV="false" rot="0">
            <a:off x="-2366630" y="7281974"/>
            <a:ext cx="3395330" cy="3807991"/>
          </a:xfrm>
          <a:custGeom>
            <a:avLst/>
            <a:gdLst/>
            <a:ahLst/>
            <a:cxnLst/>
            <a:rect r="r" b="b" t="t" l="l"/>
            <a:pathLst>
              <a:path h="3807991" w="3395330">
                <a:moveTo>
                  <a:pt x="0" y="0"/>
                </a:moveTo>
                <a:lnTo>
                  <a:pt x="3395330" y="0"/>
                </a:lnTo>
                <a:lnTo>
                  <a:pt x="3395330" y="3807991"/>
                </a:lnTo>
                <a:lnTo>
                  <a:pt x="0" y="380799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7259300" y="-947626"/>
            <a:ext cx="3395330" cy="3807991"/>
          </a:xfrm>
          <a:custGeom>
            <a:avLst/>
            <a:gdLst/>
            <a:ahLst/>
            <a:cxnLst/>
            <a:rect r="r" b="b" t="t" l="l"/>
            <a:pathLst>
              <a:path h="3807991" w="3395330">
                <a:moveTo>
                  <a:pt x="0" y="0"/>
                </a:moveTo>
                <a:lnTo>
                  <a:pt x="3395330" y="0"/>
                </a:lnTo>
                <a:lnTo>
                  <a:pt x="3395330" y="3807991"/>
                </a:lnTo>
                <a:lnTo>
                  <a:pt x="0" y="380799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4672013" y="4998839"/>
            <a:ext cx="1125867" cy="1266673"/>
          </a:xfrm>
          <a:custGeom>
            <a:avLst/>
            <a:gdLst/>
            <a:ahLst/>
            <a:cxnLst/>
            <a:rect r="r" b="b" t="t" l="l"/>
            <a:pathLst>
              <a:path h="1266673" w="1125867">
                <a:moveTo>
                  <a:pt x="0" y="0"/>
                </a:moveTo>
                <a:lnTo>
                  <a:pt x="1125867" y="0"/>
                </a:lnTo>
                <a:lnTo>
                  <a:pt x="1125867" y="1266673"/>
                </a:lnTo>
                <a:lnTo>
                  <a:pt x="0" y="126667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14672013" y="4998839"/>
            <a:ext cx="1125867" cy="1266673"/>
          </a:xfrm>
          <a:custGeom>
            <a:avLst/>
            <a:gdLst/>
            <a:ahLst/>
            <a:cxnLst/>
            <a:rect r="r" b="b" t="t" l="l"/>
            <a:pathLst>
              <a:path h="1266673" w="1125867">
                <a:moveTo>
                  <a:pt x="0" y="0"/>
                </a:moveTo>
                <a:lnTo>
                  <a:pt x="1125867" y="0"/>
                </a:lnTo>
                <a:lnTo>
                  <a:pt x="1125867" y="1266673"/>
                </a:lnTo>
                <a:lnTo>
                  <a:pt x="0" y="126667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7" id="7"/>
          <p:cNvSpPr txBox="true"/>
          <p:nvPr/>
        </p:nvSpPr>
        <p:spPr>
          <a:xfrm rot="0">
            <a:off x="5003223" y="1595769"/>
            <a:ext cx="12256077" cy="7221330"/>
          </a:xfrm>
          <a:prstGeom prst="rect">
            <a:avLst/>
          </a:prstGeom>
        </p:spPr>
        <p:txBody>
          <a:bodyPr anchor="t" rtlCol="false" tIns="0" lIns="0" bIns="0" rIns="0">
            <a:spAutoFit/>
          </a:bodyPr>
          <a:lstStyle/>
          <a:p>
            <a:pPr algn="ctr">
              <a:lnSpc>
                <a:spcPts val="5808"/>
              </a:lnSpc>
            </a:pPr>
            <a:r>
              <a:rPr lang="en-US" b="true" sz="5639">
                <a:solidFill>
                  <a:srgbClr val="2B4863"/>
                </a:solidFill>
                <a:latin typeface="Droid Arabic Naskh Bold"/>
                <a:ea typeface="Droid Arabic Naskh Bold"/>
                <a:cs typeface="Droid Arabic Naskh Bold"/>
                <a:sym typeface="Droid Arabic Naskh Bold"/>
              </a:rPr>
              <a:t>Marketing Channels Overview:</a:t>
            </a:r>
          </a:p>
          <a:p>
            <a:pPr algn="ctr">
              <a:lnSpc>
                <a:spcPts val="5808"/>
              </a:lnSpc>
            </a:pPr>
          </a:p>
          <a:p>
            <a:pPr algn="ctr" marL="778203" indent="-259401" lvl="2">
              <a:lnSpc>
                <a:spcPts val="3505"/>
              </a:lnSpc>
            </a:pPr>
          </a:p>
          <a:p>
            <a:pPr algn="ctr" marL="778203" indent="-259401" lvl="2">
              <a:lnSpc>
                <a:spcPts val="3505"/>
              </a:lnSpc>
              <a:buFont typeface="Arial"/>
              <a:buChar char="⚬"/>
            </a:pPr>
            <a:r>
              <a:rPr lang="en-US" b="true" sz="3404">
                <a:solidFill>
                  <a:srgbClr val="2B4863"/>
                </a:solidFill>
                <a:latin typeface="Droid Arabic Naskh Bold"/>
                <a:ea typeface="Droid Arabic Naskh Bold"/>
                <a:cs typeface="Droid Arabic Naskh Bold"/>
                <a:sym typeface="Droid Arabic Naskh Bold"/>
              </a:rPr>
              <a:t>Social Media (Facebook, Instagram, TikTok):</a:t>
            </a:r>
          </a:p>
          <a:p>
            <a:pPr algn="ctr" marL="778203" indent="-259401" lvl="2">
              <a:lnSpc>
                <a:spcPts val="3505"/>
              </a:lnSpc>
            </a:pPr>
            <a:r>
              <a:rPr lang="en-US" b="true" sz="3404">
                <a:solidFill>
                  <a:srgbClr val="2B4863"/>
                </a:solidFill>
                <a:latin typeface="Droid Arabic Naskh Bold"/>
                <a:ea typeface="Droid Arabic Naskh Bold"/>
                <a:cs typeface="Droid Arabic Naskh Bold"/>
                <a:sym typeface="Droid Arabic Naskh Bold"/>
              </a:rPr>
              <a:t>These are the cornerstones of marketing campaigns, focusing on visual and interactive content such as Reels and short videos to showcase product usage and build an emotional connection with the audience.</a:t>
            </a:r>
          </a:p>
          <a:p>
            <a:pPr algn="ctr" marL="778203" indent="-259401" lvl="2">
              <a:lnSpc>
                <a:spcPts val="3505"/>
              </a:lnSpc>
            </a:pPr>
          </a:p>
          <a:p>
            <a:pPr algn="ctr" marL="778203" indent="-259401" lvl="2">
              <a:lnSpc>
                <a:spcPts val="3505"/>
              </a:lnSpc>
              <a:buFont typeface="Arial"/>
              <a:buChar char="⚬"/>
            </a:pPr>
            <a:r>
              <a:rPr lang="en-US" b="true" sz="3404">
                <a:solidFill>
                  <a:srgbClr val="2B4863"/>
                </a:solidFill>
                <a:latin typeface="Droid Arabic Naskh Bold"/>
                <a:ea typeface="Droid Arabic Naskh Bold"/>
                <a:cs typeface="Droid Arabic Naskh Bold"/>
                <a:sym typeface="Droid Arabic Naskh Bold"/>
              </a:rPr>
              <a:t>Paid Advertising:</a:t>
            </a:r>
          </a:p>
          <a:p>
            <a:pPr algn="ctr" marL="778203" indent="-259401" lvl="2">
              <a:lnSpc>
                <a:spcPts val="3505"/>
              </a:lnSpc>
            </a:pPr>
            <a:r>
              <a:rPr lang="en-US" b="true" sz="3404">
                <a:solidFill>
                  <a:srgbClr val="2B4863"/>
                </a:solidFill>
                <a:latin typeface="Droid Arabic Naskh Bold"/>
                <a:ea typeface="Droid Arabic Naskh Bold"/>
                <a:cs typeface="Droid Arabic Naskh Bold"/>
                <a:sym typeface="Droid Arabic Naskh Bold"/>
              </a:rPr>
              <a:t>Through social media, we will reach potential customers based on their interests and digital behavior, ensuring increased awareness and sales within the local community.</a:t>
            </a:r>
          </a:p>
        </p:txBody>
      </p:sp>
      <p:sp>
        <p:nvSpPr>
          <p:cNvPr name="Freeform 8" id="8"/>
          <p:cNvSpPr/>
          <p:nvPr/>
        </p:nvSpPr>
        <p:spPr>
          <a:xfrm flipH="false" flipV="false" rot="0">
            <a:off x="447427" y="1068899"/>
            <a:ext cx="3745672" cy="8189401"/>
          </a:xfrm>
          <a:custGeom>
            <a:avLst/>
            <a:gdLst/>
            <a:ahLst/>
            <a:cxnLst/>
            <a:rect r="r" b="b" t="t" l="l"/>
            <a:pathLst>
              <a:path h="8189401" w="3745672">
                <a:moveTo>
                  <a:pt x="0" y="0"/>
                </a:moveTo>
                <a:lnTo>
                  <a:pt x="3745672" y="0"/>
                </a:lnTo>
                <a:lnTo>
                  <a:pt x="3745672" y="8189401"/>
                </a:lnTo>
                <a:lnTo>
                  <a:pt x="0" y="8189401"/>
                </a:lnTo>
                <a:lnTo>
                  <a:pt x="0" y="0"/>
                </a:lnTo>
                <a:close/>
              </a:path>
            </a:pathLst>
          </a:custGeom>
          <a:blipFill>
            <a:blip r:embed="rId12"/>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33" r="0" b="-9333"/>
            </a:stretch>
          </a:blipFill>
        </p:spPr>
      </p:sp>
      <p:sp>
        <p:nvSpPr>
          <p:cNvPr name="TextBox 3" id="3"/>
          <p:cNvSpPr txBox="true"/>
          <p:nvPr/>
        </p:nvSpPr>
        <p:spPr>
          <a:xfrm rot="0">
            <a:off x="2822087" y="2152047"/>
            <a:ext cx="12746271" cy="5705505"/>
          </a:xfrm>
          <a:prstGeom prst="rect">
            <a:avLst/>
          </a:prstGeom>
        </p:spPr>
        <p:txBody>
          <a:bodyPr anchor="t" rtlCol="false" tIns="0" lIns="0" bIns="0" rIns="0">
            <a:spAutoFit/>
          </a:bodyPr>
          <a:lstStyle/>
          <a:p>
            <a:pPr algn="ctr">
              <a:lnSpc>
                <a:spcPts val="14852"/>
              </a:lnSpc>
            </a:pPr>
            <a:r>
              <a:rPr lang="en-US" b="true" sz="13502">
                <a:solidFill>
                  <a:srgbClr val="FFFFFF"/>
                </a:solidFill>
                <a:latin typeface="Montserrat Bold"/>
                <a:ea typeface="Montserrat Bold"/>
                <a:cs typeface="Montserrat Bold"/>
                <a:sym typeface="Montserrat Bold"/>
              </a:rPr>
              <a:t>DIGITAL MARKETING</a:t>
            </a:r>
          </a:p>
          <a:p>
            <a:pPr algn="ctr">
              <a:lnSpc>
                <a:spcPts val="14852"/>
              </a:lnSpc>
            </a:pPr>
            <a:r>
              <a:rPr lang="en-US" b="true" sz="13502">
                <a:solidFill>
                  <a:srgbClr val="FFFFFF"/>
                </a:solidFill>
                <a:latin typeface="Montserrat Bold"/>
                <a:ea typeface="Montserrat Bold"/>
                <a:cs typeface="Montserrat Bold"/>
                <a:sym typeface="Montserrat Bold"/>
              </a:rPr>
              <a:t>PLAN</a:t>
            </a:r>
          </a:p>
        </p:txBody>
      </p:sp>
      <p:grpSp>
        <p:nvGrpSpPr>
          <p:cNvPr name="Group 4" id="4"/>
          <p:cNvGrpSpPr/>
          <p:nvPr/>
        </p:nvGrpSpPr>
        <p:grpSpPr>
          <a:xfrm rot="0">
            <a:off x="15850174" y="4027160"/>
            <a:ext cx="349058" cy="349058"/>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4EA46A">
                    <a:alpha val="100000"/>
                  </a:srgbClr>
                </a:gs>
                <a:gs pos="100000">
                  <a:srgbClr val="005C57">
                    <a:alpha val="100000"/>
                  </a:srgbClr>
                </a:gs>
              </a:gsLst>
              <a:lin ang="0"/>
            </a:gradFill>
          </p:spPr>
        </p:sp>
        <p:sp>
          <p:nvSpPr>
            <p:cNvPr name="TextBox 6" id="6"/>
            <p:cNvSpPr txBox="true"/>
            <p:nvPr/>
          </p:nvSpPr>
          <p:spPr>
            <a:xfrm>
              <a:off x="76200" y="47625"/>
              <a:ext cx="660400" cy="688975"/>
            </a:xfrm>
            <a:prstGeom prst="rect">
              <a:avLst/>
            </a:prstGeom>
          </p:spPr>
          <p:txBody>
            <a:bodyPr anchor="ctr" rtlCol="false" tIns="50800" lIns="50800" bIns="50800" rIns="50800"/>
            <a:lstStyle/>
            <a:p>
              <a:pPr algn="ctr">
                <a:lnSpc>
                  <a:spcPts val="2799"/>
                </a:lnSpc>
              </a:pPr>
            </a:p>
          </p:txBody>
        </p:sp>
      </p:grpSp>
      <p:grpSp>
        <p:nvGrpSpPr>
          <p:cNvPr name="Group 7" id="7"/>
          <p:cNvGrpSpPr/>
          <p:nvPr/>
        </p:nvGrpSpPr>
        <p:grpSpPr>
          <a:xfrm rot="0">
            <a:off x="2425708" y="3374103"/>
            <a:ext cx="345156" cy="345156"/>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4EA46A">
                    <a:alpha val="100000"/>
                  </a:srgbClr>
                </a:gs>
                <a:gs pos="100000">
                  <a:srgbClr val="005C57">
                    <a:alpha val="100000"/>
                  </a:srgbClr>
                </a:gs>
              </a:gsLst>
              <a:lin ang="0"/>
            </a:gradFill>
          </p:spPr>
        </p:sp>
        <p:sp>
          <p:nvSpPr>
            <p:cNvPr name="TextBox 9" id="9"/>
            <p:cNvSpPr txBox="true"/>
            <p:nvPr/>
          </p:nvSpPr>
          <p:spPr>
            <a:xfrm>
              <a:off x="76200" y="47625"/>
              <a:ext cx="660400" cy="688975"/>
            </a:xfrm>
            <a:prstGeom prst="rect">
              <a:avLst/>
            </a:prstGeom>
          </p:spPr>
          <p:txBody>
            <a:bodyPr anchor="ctr" rtlCol="false" tIns="50800" lIns="50800" bIns="50800" rIns="50800"/>
            <a:lstStyle/>
            <a:p>
              <a:pPr algn="ctr">
                <a:lnSpc>
                  <a:spcPts val="2799"/>
                </a:lnSpc>
              </a:pPr>
            </a:p>
          </p:txBody>
        </p:sp>
      </p:grpSp>
      <p:grpSp>
        <p:nvGrpSpPr>
          <p:cNvPr name="Group 10" id="10"/>
          <p:cNvGrpSpPr/>
          <p:nvPr/>
        </p:nvGrpSpPr>
        <p:grpSpPr>
          <a:xfrm rot="0">
            <a:off x="2744194" y="3269541"/>
            <a:ext cx="155786" cy="155786"/>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4EA46A">
                    <a:alpha val="100000"/>
                  </a:srgbClr>
                </a:gs>
                <a:gs pos="100000">
                  <a:srgbClr val="005C57">
                    <a:alpha val="100000"/>
                  </a:srgbClr>
                </a:gs>
              </a:gsLst>
              <a:lin ang="0"/>
            </a:gradFill>
          </p:spPr>
        </p:sp>
        <p:sp>
          <p:nvSpPr>
            <p:cNvPr name="TextBox 12" id="12"/>
            <p:cNvSpPr txBox="true"/>
            <p:nvPr/>
          </p:nvSpPr>
          <p:spPr>
            <a:xfrm>
              <a:off x="76200" y="47625"/>
              <a:ext cx="660400" cy="688975"/>
            </a:xfrm>
            <a:prstGeom prst="rect">
              <a:avLst/>
            </a:prstGeom>
          </p:spPr>
          <p:txBody>
            <a:bodyPr anchor="ctr" rtlCol="false" tIns="50800" lIns="50800" bIns="50800" rIns="50800"/>
            <a:lstStyle/>
            <a:p>
              <a:pPr algn="ctr">
                <a:lnSpc>
                  <a:spcPts val="2799"/>
                </a:lnSpc>
              </a:pPr>
            </a:p>
          </p:txBody>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972417" y="-1697727"/>
            <a:ext cx="19929383" cy="13477245"/>
          </a:xfrm>
          <a:custGeom>
            <a:avLst/>
            <a:gdLst/>
            <a:ahLst/>
            <a:cxnLst/>
            <a:rect r="r" b="b" t="t" l="l"/>
            <a:pathLst>
              <a:path h="13477245" w="19929383">
                <a:moveTo>
                  <a:pt x="0" y="0"/>
                </a:moveTo>
                <a:lnTo>
                  <a:pt x="19929383" y="0"/>
                </a:lnTo>
                <a:lnTo>
                  <a:pt x="19929383" y="13477245"/>
                </a:lnTo>
                <a:lnTo>
                  <a:pt x="0" y="13477245"/>
                </a:lnTo>
                <a:lnTo>
                  <a:pt x="0" y="0"/>
                </a:lnTo>
                <a:close/>
              </a:path>
            </a:pathLst>
          </a:custGeom>
          <a:blipFill>
            <a:blip r:embed="rId2">
              <a:alphaModFix amt="55000"/>
              <a:extLst>
                <a:ext uri="{96DAC541-7B7A-43D3-8B79-37D633B846F1}">
                  <asvg:svgBlip xmlns:asvg="http://schemas.microsoft.com/office/drawing/2016/SVG/main" r:embed="rId3"/>
                </a:ext>
              </a:extLst>
            </a:blip>
            <a:stretch>
              <a:fillRect l="0" t="-92" r="0" b="-92"/>
            </a:stretch>
          </a:blipFill>
        </p:spPr>
      </p:sp>
      <p:sp>
        <p:nvSpPr>
          <p:cNvPr name="Freeform 3" id="3"/>
          <p:cNvSpPr/>
          <p:nvPr/>
        </p:nvSpPr>
        <p:spPr>
          <a:xfrm flipH="false" flipV="false" rot="0">
            <a:off x="-2366630" y="7281974"/>
            <a:ext cx="3395330" cy="3807991"/>
          </a:xfrm>
          <a:custGeom>
            <a:avLst/>
            <a:gdLst/>
            <a:ahLst/>
            <a:cxnLst/>
            <a:rect r="r" b="b" t="t" l="l"/>
            <a:pathLst>
              <a:path h="3807991" w="3395330">
                <a:moveTo>
                  <a:pt x="0" y="0"/>
                </a:moveTo>
                <a:lnTo>
                  <a:pt x="3395330" y="0"/>
                </a:lnTo>
                <a:lnTo>
                  <a:pt x="3395330" y="3807991"/>
                </a:lnTo>
                <a:lnTo>
                  <a:pt x="0" y="380799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7259300" y="-947626"/>
            <a:ext cx="3395330" cy="3807991"/>
          </a:xfrm>
          <a:custGeom>
            <a:avLst/>
            <a:gdLst/>
            <a:ahLst/>
            <a:cxnLst/>
            <a:rect r="r" b="b" t="t" l="l"/>
            <a:pathLst>
              <a:path h="3807991" w="3395330">
                <a:moveTo>
                  <a:pt x="0" y="0"/>
                </a:moveTo>
                <a:lnTo>
                  <a:pt x="3395330" y="0"/>
                </a:lnTo>
                <a:lnTo>
                  <a:pt x="3395330" y="3807991"/>
                </a:lnTo>
                <a:lnTo>
                  <a:pt x="0" y="380799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 id="5"/>
          <p:cNvGrpSpPr/>
          <p:nvPr/>
        </p:nvGrpSpPr>
        <p:grpSpPr>
          <a:xfrm rot="0">
            <a:off x="17727552" y="397817"/>
            <a:ext cx="214533" cy="214265"/>
            <a:chOff x="0" y="0"/>
            <a:chExt cx="286044" cy="285687"/>
          </a:xfrm>
        </p:grpSpPr>
        <p:sp>
          <p:nvSpPr>
            <p:cNvPr name="Freeform 6" id="6"/>
            <p:cNvSpPr/>
            <p:nvPr/>
          </p:nvSpPr>
          <p:spPr>
            <a:xfrm flipH="false" flipV="false" rot="0">
              <a:off x="0" y="0"/>
              <a:ext cx="286004" cy="285750"/>
            </a:xfrm>
            <a:custGeom>
              <a:avLst/>
              <a:gdLst/>
              <a:ahLst/>
              <a:cxnLst/>
              <a:rect r="r" b="b" t="t" l="l"/>
              <a:pathLst>
                <a:path h="285750" w="286004">
                  <a:moveTo>
                    <a:pt x="0" y="0"/>
                  </a:moveTo>
                  <a:lnTo>
                    <a:pt x="286004" y="0"/>
                  </a:lnTo>
                  <a:lnTo>
                    <a:pt x="286004" y="285750"/>
                  </a:lnTo>
                  <a:lnTo>
                    <a:pt x="0" y="285750"/>
                  </a:lnTo>
                  <a:lnTo>
                    <a:pt x="0" y="0"/>
                  </a:lnTo>
                  <a:close/>
                </a:path>
              </a:pathLst>
            </a:custGeom>
            <a:blipFill>
              <a:blip r:embed="rId8"/>
              <a:stretch>
                <a:fillRect l="0" t="-62" r="-13" b="-40"/>
              </a:stretch>
            </a:blipFill>
          </p:spPr>
        </p:sp>
      </p:grpSp>
      <p:sp>
        <p:nvSpPr>
          <p:cNvPr name="TextBox 7" id="7"/>
          <p:cNvSpPr txBox="true"/>
          <p:nvPr/>
        </p:nvSpPr>
        <p:spPr>
          <a:xfrm rot="0">
            <a:off x="1028700" y="-170267"/>
            <a:ext cx="15392561" cy="10457267"/>
          </a:xfrm>
          <a:prstGeom prst="rect">
            <a:avLst/>
          </a:prstGeom>
        </p:spPr>
        <p:txBody>
          <a:bodyPr anchor="t" rtlCol="false" tIns="0" lIns="0" bIns="0" rIns="0">
            <a:spAutoFit/>
          </a:bodyPr>
          <a:lstStyle/>
          <a:p>
            <a:pPr algn="ctr">
              <a:lnSpc>
                <a:spcPts val="9516"/>
              </a:lnSpc>
            </a:pPr>
            <a:r>
              <a:rPr lang="en-US" b="true" sz="6797">
                <a:solidFill>
                  <a:srgbClr val="2B4863"/>
                </a:solidFill>
                <a:latin typeface="Noto Sans Bold"/>
                <a:ea typeface="Noto Sans Bold"/>
                <a:cs typeface="Noto Sans Bold"/>
                <a:sym typeface="Noto Sans Bold"/>
              </a:rPr>
              <a:t>Situational Analysis </a:t>
            </a:r>
          </a:p>
          <a:p>
            <a:pPr algn="ctr">
              <a:lnSpc>
                <a:spcPts val="6149"/>
              </a:lnSpc>
            </a:pPr>
            <a:r>
              <a:rPr lang="en-US" b="true" sz="3500">
                <a:solidFill>
                  <a:srgbClr val="34BDB8"/>
                </a:solidFill>
                <a:latin typeface="Droid Arabic Naskh Bold"/>
                <a:ea typeface="Droid Arabic Naskh Bold"/>
                <a:cs typeface="Droid Arabic Naskh Bold"/>
                <a:sym typeface="Droid Arabic Naskh Bold"/>
              </a:rPr>
              <a:t>1.Overview</a:t>
            </a:r>
          </a:p>
          <a:p>
            <a:pPr algn="ctr">
              <a:lnSpc>
                <a:spcPts val="4776"/>
              </a:lnSpc>
            </a:pPr>
            <a:r>
              <a:rPr lang="en-US" b="true" sz="2718">
                <a:solidFill>
                  <a:srgbClr val="2B4863"/>
                </a:solidFill>
                <a:latin typeface="Droid Arabic Naskh Bold"/>
                <a:ea typeface="Droid Arabic Naskh Bold"/>
                <a:cs typeface="Droid Arabic Naskh Bold"/>
                <a:sym typeface="Droid Arabic Naskh Bold"/>
              </a:rPr>
              <a:t>Tiba Store is a trusted local family shop based in Banha, providing a curated selection of beauty, cleaning, and baby care products.</a:t>
            </a:r>
          </a:p>
          <a:p>
            <a:pPr algn="ctr">
              <a:lnSpc>
                <a:spcPts val="4776"/>
              </a:lnSpc>
            </a:pPr>
            <a:r>
              <a:rPr lang="en-US" b="true" sz="2718">
                <a:solidFill>
                  <a:srgbClr val="2B4863"/>
                </a:solidFill>
                <a:latin typeface="Droid Arabic Naskh Bold"/>
                <a:ea typeface="Droid Arabic Naskh Bold"/>
                <a:cs typeface="Droid Arabic Naskh Bold"/>
                <a:sym typeface="Droid Arabic Naskh Bold"/>
              </a:rPr>
              <a:t>The brand is built on three core values: quality, affordability, and convenience, with WhatsApp playing a central role in fast, personalized ordering and customer support.</a:t>
            </a:r>
          </a:p>
          <a:p>
            <a:pPr algn="ctr">
              <a:lnSpc>
                <a:spcPts val="4776"/>
              </a:lnSpc>
            </a:pPr>
            <a:r>
              <a:rPr lang="en-US" b="true" sz="2718">
                <a:solidFill>
                  <a:srgbClr val="2B4863"/>
                </a:solidFill>
                <a:latin typeface="Droid Arabic Naskh Bold"/>
                <a:ea typeface="Droid Arabic Naskh Bold"/>
                <a:cs typeface="Droid Arabic Naskh Bold"/>
                <a:sym typeface="Droid Arabic Naskh Bold"/>
              </a:rPr>
              <a:t>By positioning itself as a “One-Stop Family Store,” Tiba Store has become a reliable choice for families seeking safe, everyday essentials.</a:t>
            </a:r>
          </a:p>
          <a:p>
            <a:pPr algn="ctr">
              <a:lnSpc>
                <a:spcPts val="5798"/>
              </a:lnSpc>
            </a:pPr>
            <a:r>
              <a:rPr lang="en-US" b="true" sz="3300">
                <a:solidFill>
                  <a:srgbClr val="34BDB8"/>
                </a:solidFill>
                <a:latin typeface="Droid Arabic Naskh Bold"/>
                <a:ea typeface="Droid Arabic Naskh Bold"/>
                <a:cs typeface="Droid Arabic Naskh Bold"/>
                <a:sym typeface="Droid Arabic Naskh Bold"/>
              </a:rPr>
              <a:t>     </a:t>
            </a:r>
            <a:r>
              <a:rPr lang="en-US" b="true" sz="3300">
                <a:solidFill>
                  <a:srgbClr val="34BDB8"/>
                </a:solidFill>
                <a:latin typeface="Droid Arabic Naskh Bold"/>
                <a:ea typeface="Droid Arabic Naskh Bold"/>
                <a:cs typeface="Droid Arabic Naskh Bold"/>
                <a:sym typeface="Droid Arabic Naskh Bold"/>
              </a:rPr>
              <a:t>2. Market Insights</a:t>
            </a:r>
          </a:p>
          <a:p>
            <a:pPr algn="ctr">
              <a:lnSpc>
                <a:spcPts val="4776"/>
              </a:lnSpc>
            </a:pPr>
            <a:r>
              <a:rPr lang="en-US" b="true" sz="2718">
                <a:solidFill>
                  <a:srgbClr val="2B4863"/>
                </a:solidFill>
                <a:latin typeface="Droid Arabic Naskh Bold"/>
                <a:ea typeface="Droid Arabic Naskh Bold"/>
                <a:cs typeface="Droid Arabic Naskh Bold"/>
                <a:sym typeface="Droid Arabic Naskh Bold"/>
              </a:rPr>
              <a:t>Social media usage in Banha is extremely high, especially on Facebook, Instagram, and WhatsApp, creating strong opportunities for digital engagement.</a:t>
            </a:r>
          </a:p>
          <a:p>
            <a:pPr algn="ctr">
              <a:lnSpc>
                <a:spcPts val="4776"/>
              </a:lnSpc>
            </a:pPr>
            <a:r>
              <a:rPr lang="en-US" b="true" sz="2718">
                <a:solidFill>
                  <a:srgbClr val="2B4863"/>
                </a:solidFill>
                <a:latin typeface="Droid Arabic Naskh Bold"/>
                <a:ea typeface="Droid Arabic Naskh Bold"/>
                <a:cs typeface="Droid Arabic Naskh Bold"/>
                <a:sym typeface="Droid Arabic Naskh Bold"/>
              </a:rPr>
              <a:t>Short-form video content—especially Reels and TikTok-style clips—drives the highest interaction among local audiences.</a:t>
            </a:r>
          </a:p>
          <a:p>
            <a:pPr algn="ctr">
              <a:lnSpc>
                <a:spcPts val="4776"/>
              </a:lnSpc>
            </a:pPr>
            <a:r>
              <a:rPr lang="en-US" b="true" sz="2718">
                <a:solidFill>
                  <a:srgbClr val="2B4863"/>
                </a:solidFill>
                <a:latin typeface="Droid Arabic Naskh Bold"/>
                <a:ea typeface="Droid Arabic Naskh Bold"/>
                <a:cs typeface="Droid Arabic Naskh Bold"/>
                <a:sym typeface="Droid Arabic Naskh Bold"/>
              </a:rPr>
              <a:t>Families prefer buying from trusted local sources rather than unfamiliar online sellers.</a:t>
            </a:r>
          </a:p>
          <a:p>
            <a:pPr algn="ctr">
              <a:lnSpc>
                <a:spcPts val="4776"/>
              </a:lnSpc>
            </a:pPr>
            <a:r>
              <a:rPr lang="en-US" b="true" sz="2718">
                <a:solidFill>
                  <a:srgbClr val="2B4863"/>
                </a:solidFill>
                <a:latin typeface="Droid Arabic Naskh Bold"/>
                <a:ea typeface="Droid Arabic Naskh Bold"/>
                <a:cs typeface="Droid Arabic Naskh Bold"/>
                <a:sym typeface="Droid Arabic Naskh Bold"/>
              </a:rPr>
              <a:t>WhatsApp remains the most efficient and trusted channel for inquiries, product recommendations, and order placement.</a:t>
            </a:r>
          </a:p>
        </p:txBody>
      </p:sp>
    </p:spTree>
  </p:cSld>
  <p:clrMapOvr>
    <a:masterClrMapping/>
  </p:clrMapOvr>
</p:sld>
</file>

<file path=ppt/slides/slide1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25257" y="734735"/>
            <a:ext cx="17234043" cy="9936493"/>
          </a:xfrm>
          <a:prstGeom prst="rect">
            <a:avLst/>
          </a:prstGeom>
        </p:spPr>
        <p:txBody>
          <a:bodyPr anchor="t" rtlCol="false" tIns="0" lIns="0" bIns="0" rIns="0">
            <a:spAutoFit/>
          </a:bodyPr>
          <a:lstStyle/>
          <a:p>
            <a:pPr algn="ctr">
              <a:lnSpc>
                <a:spcPts val="4153"/>
              </a:lnSpc>
            </a:pPr>
            <a:r>
              <a:rPr lang="en-US" sz="2966" b="true">
                <a:solidFill>
                  <a:srgbClr val="18BBB5"/>
                </a:solidFill>
                <a:latin typeface="Canva Sans Bold"/>
                <a:ea typeface="Canva Sans Bold"/>
                <a:cs typeface="Canva Sans Bold"/>
                <a:sym typeface="Canva Sans Bold"/>
              </a:rPr>
              <a:t>Primary Audience:</a:t>
            </a:r>
          </a:p>
          <a:p>
            <a:pPr algn="ctr">
              <a:lnSpc>
                <a:spcPts val="4153"/>
              </a:lnSpc>
            </a:pPr>
          </a:p>
          <a:p>
            <a:pPr algn="ctr">
              <a:lnSpc>
                <a:spcPts val="4153"/>
              </a:lnSpc>
            </a:pPr>
            <a:r>
              <a:rPr lang="en-US" sz="2966" b="true">
                <a:solidFill>
                  <a:srgbClr val="153153"/>
                </a:solidFill>
                <a:latin typeface="Canva Sans Bold"/>
                <a:ea typeface="Canva Sans Bold"/>
                <a:cs typeface="Canva Sans Bold"/>
                <a:sym typeface="Canva Sans Bold"/>
              </a:rPr>
              <a:t>Women aged 20–45, especially mothers responsible for home, cleaning, and baby-related purchases.</a:t>
            </a:r>
          </a:p>
          <a:p>
            <a:pPr algn="ctr">
              <a:lnSpc>
                <a:spcPts val="4153"/>
              </a:lnSpc>
            </a:pPr>
          </a:p>
          <a:p>
            <a:pPr algn="ctr">
              <a:lnSpc>
                <a:spcPts val="4153"/>
              </a:lnSpc>
            </a:pPr>
            <a:r>
              <a:rPr lang="en-US" sz="2966" b="true">
                <a:solidFill>
                  <a:srgbClr val="18BBB5"/>
                </a:solidFill>
                <a:latin typeface="Canva Sans Bold"/>
                <a:ea typeface="Canva Sans Bold"/>
                <a:cs typeface="Canva Sans Bold"/>
                <a:sym typeface="Canva Sans Bold"/>
              </a:rPr>
              <a:t>Behavior &amp;</a:t>
            </a:r>
            <a:r>
              <a:rPr lang="en-US" sz="2966" b="true">
                <a:solidFill>
                  <a:srgbClr val="153153"/>
                </a:solidFill>
                <a:latin typeface="Canva Sans Bold"/>
                <a:ea typeface="Canva Sans Bold"/>
                <a:cs typeface="Canva Sans Bold"/>
                <a:sym typeface="Canva Sans Bold"/>
              </a:rPr>
              <a:t> </a:t>
            </a:r>
            <a:r>
              <a:rPr lang="en-US" sz="2966" b="true">
                <a:solidFill>
                  <a:srgbClr val="18BBB5"/>
                </a:solidFill>
                <a:latin typeface="Canva Sans Bold"/>
                <a:ea typeface="Canva Sans Bold"/>
                <a:cs typeface="Canva Sans Bold"/>
                <a:sym typeface="Canva Sans Bold"/>
              </a:rPr>
              <a:t>Preferences:</a:t>
            </a:r>
          </a:p>
          <a:p>
            <a:pPr algn="ctr">
              <a:lnSpc>
                <a:spcPts val="4153"/>
              </a:lnSpc>
            </a:pPr>
          </a:p>
          <a:p>
            <a:pPr algn="ctr">
              <a:lnSpc>
                <a:spcPts val="4153"/>
              </a:lnSpc>
            </a:pPr>
            <a:r>
              <a:rPr lang="en-US" sz="2966" b="true">
                <a:solidFill>
                  <a:srgbClr val="153153"/>
                </a:solidFill>
                <a:latin typeface="Canva Sans Bold"/>
                <a:ea typeface="Canva Sans Bold"/>
                <a:cs typeface="Canva Sans Bold"/>
                <a:sym typeface="Canva Sans Bold"/>
              </a:rPr>
              <a:t>Highly responsive to short, clear video demonstrations</a:t>
            </a:r>
          </a:p>
          <a:p>
            <a:pPr algn="ctr">
              <a:lnSpc>
                <a:spcPts val="4153"/>
              </a:lnSpc>
            </a:pPr>
          </a:p>
          <a:p>
            <a:pPr algn="ctr">
              <a:lnSpc>
                <a:spcPts val="4153"/>
              </a:lnSpc>
            </a:pPr>
            <a:r>
              <a:rPr lang="en-US" sz="2966" b="true">
                <a:solidFill>
                  <a:srgbClr val="153153"/>
                </a:solidFill>
                <a:latin typeface="Canva Sans Bold"/>
                <a:ea typeface="Canva Sans Bold"/>
                <a:cs typeface="Canva Sans Bold"/>
                <a:sym typeface="Canva Sans Bold"/>
              </a:rPr>
              <a:t>Trust brands that offer transparency and personalized communication</a:t>
            </a:r>
          </a:p>
          <a:p>
            <a:pPr algn="ctr">
              <a:lnSpc>
                <a:spcPts val="4153"/>
              </a:lnSpc>
            </a:pPr>
          </a:p>
          <a:p>
            <a:pPr algn="ctr">
              <a:lnSpc>
                <a:spcPts val="4153"/>
              </a:lnSpc>
            </a:pPr>
            <a:r>
              <a:rPr lang="en-US" sz="2966" b="true">
                <a:solidFill>
                  <a:srgbClr val="153153"/>
                </a:solidFill>
                <a:latin typeface="Canva Sans Bold"/>
                <a:ea typeface="Canva Sans Bold"/>
                <a:cs typeface="Canva Sans Bold"/>
                <a:sym typeface="Canva Sans Bold"/>
              </a:rPr>
              <a:t>Prefer family-friendly brands that provide product education and practical tips</a:t>
            </a:r>
          </a:p>
          <a:p>
            <a:pPr algn="ctr">
              <a:lnSpc>
                <a:spcPts val="4153"/>
              </a:lnSpc>
            </a:pPr>
          </a:p>
          <a:p>
            <a:pPr algn="ctr">
              <a:lnSpc>
                <a:spcPts val="4153"/>
              </a:lnSpc>
            </a:pPr>
            <a:r>
              <a:rPr lang="en-US" sz="2966" b="true">
                <a:solidFill>
                  <a:srgbClr val="153153"/>
                </a:solidFill>
                <a:latin typeface="Canva Sans Bold"/>
                <a:ea typeface="Canva Sans Bold"/>
                <a:cs typeface="Canva Sans Bold"/>
                <a:sym typeface="Canva Sans Bold"/>
              </a:rPr>
              <a:t>Strong interest in special offers, bundles, and value-focused deals</a:t>
            </a:r>
          </a:p>
          <a:p>
            <a:pPr algn="ctr">
              <a:lnSpc>
                <a:spcPts val="4153"/>
              </a:lnSpc>
            </a:pPr>
          </a:p>
          <a:p>
            <a:pPr algn="ctr">
              <a:lnSpc>
                <a:spcPts val="4153"/>
              </a:lnSpc>
            </a:pPr>
            <a:r>
              <a:rPr lang="en-US" sz="2966" b="true">
                <a:solidFill>
                  <a:srgbClr val="153153"/>
                </a:solidFill>
                <a:latin typeface="Canva Sans Bold"/>
                <a:ea typeface="Canva Sans Bold"/>
                <a:cs typeface="Canva Sans Bold"/>
                <a:sym typeface="Canva Sans Bold"/>
              </a:rPr>
              <a:t>Rely on quick WhatsApp replies before making a purchase decision4. Competitor Analysis (Local Landscape)</a:t>
            </a:r>
          </a:p>
          <a:p>
            <a:pPr algn="ctr">
              <a:lnSpc>
                <a:spcPts val="4153"/>
              </a:lnSpc>
            </a:pPr>
          </a:p>
          <a:p>
            <a:pPr algn="ctr">
              <a:lnSpc>
                <a:spcPts val="4153"/>
              </a:lnSpc>
            </a:pPr>
          </a:p>
        </p:txBody>
      </p:sp>
      <p:sp>
        <p:nvSpPr>
          <p:cNvPr name="TextBox 3" id="3"/>
          <p:cNvSpPr txBox="true"/>
          <p:nvPr/>
        </p:nvSpPr>
        <p:spPr>
          <a:xfrm rot="0">
            <a:off x="5335741" y="-95250"/>
            <a:ext cx="6613074" cy="887135"/>
          </a:xfrm>
          <a:prstGeom prst="rect">
            <a:avLst/>
          </a:prstGeom>
        </p:spPr>
        <p:txBody>
          <a:bodyPr anchor="t" rtlCol="false" tIns="0" lIns="0" bIns="0" rIns="0">
            <a:spAutoFit/>
          </a:bodyPr>
          <a:lstStyle/>
          <a:p>
            <a:pPr algn="ctr">
              <a:lnSpc>
                <a:spcPts val="7279"/>
              </a:lnSpc>
            </a:pPr>
            <a:r>
              <a:rPr lang="en-US" b="true" sz="5199">
                <a:solidFill>
                  <a:srgbClr val="18BBB5"/>
                </a:solidFill>
                <a:latin typeface="Canva Sans Bold"/>
                <a:ea typeface="Canva Sans Bold"/>
                <a:cs typeface="Canva Sans Bold"/>
                <a:sym typeface="Canva Sans Bold"/>
              </a:rPr>
              <a:t>3. Audience Analysis</a:t>
            </a:r>
          </a:p>
        </p:txBody>
      </p:sp>
    </p:spTree>
  </p:cSld>
  <p:clrMapOvr>
    <a:masterClrMapping/>
  </p:clrMapOvr>
</p:sld>
</file>

<file path=ppt/slides/slide1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5638670" y="-95250"/>
            <a:ext cx="6613074" cy="887135"/>
          </a:xfrm>
          <a:prstGeom prst="rect">
            <a:avLst/>
          </a:prstGeom>
        </p:spPr>
        <p:txBody>
          <a:bodyPr anchor="t" rtlCol="false" tIns="0" lIns="0" bIns="0" rIns="0">
            <a:spAutoFit/>
          </a:bodyPr>
          <a:lstStyle/>
          <a:p>
            <a:pPr algn="ctr">
              <a:lnSpc>
                <a:spcPts val="7279"/>
              </a:lnSpc>
            </a:pPr>
            <a:r>
              <a:rPr lang="en-US" b="true" sz="5199">
                <a:solidFill>
                  <a:srgbClr val="18BBB5"/>
                </a:solidFill>
                <a:latin typeface="Canva Sans Bold"/>
                <a:ea typeface="Canva Sans Bold"/>
                <a:cs typeface="Canva Sans Bold"/>
                <a:sym typeface="Canva Sans Bold"/>
              </a:rPr>
              <a:t>3. Audience Analysis</a:t>
            </a:r>
          </a:p>
        </p:txBody>
      </p:sp>
      <p:sp>
        <p:nvSpPr>
          <p:cNvPr name="TextBox 3" id="3"/>
          <p:cNvSpPr txBox="true"/>
          <p:nvPr/>
        </p:nvSpPr>
        <p:spPr>
          <a:xfrm rot="0">
            <a:off x="2103895" y="734735"/>
            <a:ext cx="14080211" cy="10023361"/>
          </a:xfrm>
          <a:prstGeom prst="rect">
            <a:avLst/>
          </a:prstGeom>
        </p:spPr>
        <p:txBody>
          <a:bodyPr anchor="t" rtlCol="false" tIns="0" lIns="0" bIns="0" rIns="0">
            <a:spAutoFit/>
          </a:bodyPr>
          <a:lstStyle/>
          <a:p>
            <a:pPr algn="ctr">
              <a:lnSpc>
                <a:spcPts val="4173"/>
              </a:lnSpc>
            </a:pPr>
            <a:r>
              <a:rPr lang="en-US" sz="2981" b="true">
                <a:solidFill>
                  <a:srgbClr val="18BBB5"/>
                </a:solidFill>
                <a:latin typeface="Canva Sans Bold"/>
                <a:ea typeface="Canva Sans Bold"/>
                <a:cs typeface="Canva Sans Bold"/>
                <a:sym typeface="Canva Sans Bold"/>
              </a:rPr>
              <a:t>Direct Competition:</a:t>
            </a:r>
          </a:p>
          <a:p>
            <a:pPr algn="ctr">
              <a:lnSpc>
                <a:spcPts val="4173"/>
              </a:lnSpc>
            </a:pPr>
          </a:p>
          <a:p>
            <a:pPr algn="ctr">
              <a:lnSpc>
                <a:spcPts val="4173"/>
              </a:lnSpc>
            </a:pPr>
            <a:r>
              <a:rPr lang="en-US" sz="2981" b="true">
                <a:solidFill>
                  <a:srgbClr val="153153"/>
                </a:solidFill>
                <a:latin typeface="Canva Sans Bold"/>
                <a:ea typeface="Canva Sans Bold"/>
                <a:cs typeface="Canva Sans Bold"/>
                <a:sym typeface="Canva Sans Bold"/>
              </a:rPr>
              <a:t>Local shops and Facebook pages selling beauty and cleaning products, as well as mini-markets expanding into personal care items.</a:t>
            </a:r>
          </a:p>
          <a:p>
            <a:pPr algn="ctr">
              <a:lnSpc>
                <a:spcPts val="4173"/>
              </a:lnSpc>
            </a:pPr>
          </a:p>
          <a:p>
            <a:pPr algn="ctr">
              <a:lnSpc>
                <a:spcPts val="4173"/>
              </a:lnSpc>
            </a:pPr>
            <a:r>
              <a:rPr lang="en-US" sz="2981" b="true">
                <a:solidFill>
                  <a:srgbClr val="18BBB5"/>
                </a:solidFill>
                <a:latin typeface="Canva Sans Bold"/>
                <a:ea typeface="Canva Sans Bold"/>
                <a:cs typeface="Canva Sans Bold"/>
                <a:sym typeface="Canva Sans Bold"/>
              </a:rPr>
              <a:t>Market Gap:</a:t>
            </a:r>
          </a:p>
          <a:p>
            <a:pPr algn="ctr">
              <a:lnSpc>
                <a:spcPts val="4173"/>
              </a:lnSpc>
            </a:pPr>
          </a:p>
          <a:p>
            <a:pPr algn="ctr">
              <a:lnSpc>
                <a:spcPts val="4173"/>
              </a:lnSpc>
            </a:pPr>
            <a:r>
              <a:rPr lang="en-US" sz="2981" b="true">
                <a:solidFill>
                  <a:srgbClr val="153153"/>
                </a:solidFill>
                <a:latin typeface="Canva Sans Bold"/>
                <a:ea typeface="Canva Sans Bold"/>
                <a:cs typeface="Canva Sans Bold"/>
                <a:sym typeface="Canva Sans Bold"/>
              </a:rPr>
              <a:t>Most competitors focus solely on low pricing, with limited attention to customer experience, product guidance, or branding.</a:t>
            </a:r>
          </a:p>
          <a:p>
            <a:pPr algn="ctr">
              <a:lnSpc>
                <a:spcPts val="4173"/>
              </a:lnSpc>
            </a:pPr>
          </a:p>
          <a:p>
            <a:pPr algn="ctr">
              <a:lnSpc>
                <a:spcPts val="4173"/>
              </a:lnSpc>
            </a:pPr>
            <a:r>
              <a:rPr lang="en-US" sz="2981" b="true">
                <a:solidFill>
                  <a:srgbClr val="153153"/>
                </a:solidFill>
                <a:latin typeface="Canva Sans Bold"/>
                <a:ea typeface="Canva Sans Bold"/>
                <a:cs typeface="Canva Sans Bold"/>
                <a:sym typeface="Canva Sans Bold"/>
              </a:rPr>
              <a:t>Tiba Store differentiates itself by offering:</a:t>
            </a:r>
          </a:p>
          <a:p>
            <a:pPr algn="ctr">
              <a:lnSpc>
                <a:spcPts val="4173"/>
              </a:lnSpc>
            </a:pPr>
          </a:p>
          <a:p>
            <a:pPr algn="ctr">
              <a:lnSpc>
                <a:spcPts val="4173"/>
              </a:lnSpc>
            </a:pPr>
            <a:r>
              <a:rPr lang="en-US" sz="2981" b="true">
                <a:solidFill>
                  <a:srgbClr val="153153"/>
                </a:solidFill>
                <a:latin typeface="Canva Sans Bold"/>
                <a:ea typeface="Canva Sans Bold"/>
                <a:cs typeface="Canva Sans Bold"/>
                <a:sym typeface="Canva Sans Bold"/>
              </a:rPr>
              <a:t>✔ Trusted and carefully selected products</a:t>
            </a:r>
          </a:p>
          <a:p>
            <a:pPr algn="ctr">
              <a:lnSpc>
                <a:spcPts val="4173"/>
              </a:lnSpc>
            </a:pPr>
            <a:r>
              <a:rPr lang="en-US" sz="2981" b="true">
                <a:solidFill>
                  <a:srgbClr val="153153"/>
                </a:solidFill>
                <a:latin typeface="Canva Sans Bold"/>
                <a:ea typeface="Canva Sans Bold"/>
                <a:cs typeface="Canva Sans Bold"/>
                <a:sym typeface="Canva Sans Bold"/>
              </a:rPr>
              <a:t>✔ A warm, family-oriented brand identity</a:t>
            </a:r>
          </a:p>
          <a:p>
            <a:pPr algn="ctr">
              <a:lnSpc>
                <a:spcPts val="4173"/>
              </a:lnSpc>
            </a:pPr>
            <a:r>
              <a:rPr lang="en-US" sz="2981" b="true">
                <a:solidFill>
                  <a:srgbClr val="153153"/>
                </a:solidFill>
                <a:latin typeface="Canva Sans Bold"/>
                <a:ea typeface="Canva Sans Bold"/>
                <a:cs typeface="Canva Sans Bold"/>
                <a:sym typeface="Canva Sans Bold"/>
              </a:rPr>
              <a:t>✔ Fast, personalized WhatsApp support</a:t>
            </a:r>
          </a:p>
          <a:p>
            <a:pPr algn="ctr">
              <a:lnSpc>
                <a:spcPts val="4173"/>
              </a:lnSpc>
            </a:pPr>
            <a:r>
              <a:rPr lang="en-US" sz="2981" b="true">
                <a:solidFill>
                  <a:srgbClr val="153153"/>
                </a:solidFill>
                <a:latin typeface="Canva Sans Bold"/>
                <a:ea typeface="Canva Sans Bold"/>
                <a:cs typeface="Canva Sans Bold"/>
                <a:sym typeface="Canva Sans Bold"/>
              </a:rPr>
              <a:t>✔ Helpful educational content and practical tips</a:t>
            </a:r>
          </a:p>
          <a:p>
            <a:pPr algn="ctr">
              <a:lnSpc>
                <a:spcPts val="4173"/>
              </a:lnSpc>
            </a:pPr>
            <a:r>
              <a:rPr lang="en-US" sz="2981" b="true">
                <a:solidFill>
                  <a:srgbClr val="153153"/>
                </a:solidFill>
                <a:latin typeface="Canva Sans Bold"/>
                <a:ea typeface="Canva Sans Bold"/>
                <a:cs typeface="Canva Sans Bold"/>
                <a:sym typeface="Canva Sans Bold"/>
              </a:rPr>
              <a:t>✔ A smoother digital shopping experience than typical local stores</a:t>
            </a:r>
          </a:p>
          <a:p>
            <a:pPr algn="ctr">
              <a:lnSpc>
                <a:spcPts val="4173"/>
              </a:lnSpc>
            </a:pPr>
          </a:p>
          <a:p>
            <a:pPr algn="ctr">
              <a:lnSpc>
                <a:spcPts val="4173"/>
              </a:lnSpc>
            </a:pPr>
          </a:p>
        </p:txBody>
      </p:sp>
    </p:spTree>
  </p:cSld>
  <p:clrMapOvr>
    <a:masterClrMapping/>
  </p:clrMapOvr>
</p:sld>
</file>

<file path=ppt/slides/slide1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600843" y="-95250"/>
            <a:ext cx="16658457" cy="887135"/>
          </a:xfrm>
          <a:prstGeom prst="rect">
            <a:avLst/>
          </a:prstGeom>
        </p:spPr>
        <p:txBody>
          <a:bodyPr anchor="t" rtlCol="false" tIns="0" lIns="0" bIns="0" rIns="0">
            <a:spAutoFit/>
          </a:bodyPr>
          <a:lstStyle/>
          <a:p>
            <a:pPr algn="ctr">
              <a:lnSpc>
                <a:spcPts val="7279"/>
              </a:lnSpc>
            </a:pPr>
            <a:r>
              <a:rPr lang="en-US" sz="5199" b="true">
                <a:solidFill>
                  <a:srgbClr val="18BBB5"/>
                </a:solidFill>
                <a:latin typeface="Canva Sans Bold"/>
                <a:ea typeface="Canva Sans Bold"/>
                <a:cs typeface="Canva Sans Bold"/>
                <a:sym typeface="Canva Sans Bold"/>
              </a:rPr>
              <a:t>4-Competitor</a:t>
            </a:r>
            <a:r>
              <a:rPr lang="en-US" sz="5199" b="true">
                <a:solidFill>
                  <a:srgbClr val="000000"/>
                </a:solidFill>
                <a:latin typeface="Canva Sans Bold"/>
                <a:ea typeface="Canva Sans Bold"/>
                <a:cs typeface="Canva Sans Bold"/>
                <a:sym typeface="Canva Sans Bold"/>
              </a:rPr>
              <a:t> </a:t>
            </a:r>
            <a:r>
              <a:rPr lang="en-US" sz="5199" b="true">
                <a:solidFill>
                  <a:srgbClr val="18BBB5"/>
                </a:solidFill>
                <a:latin typeface="Canva Sans Bold"/>
                <a:ea typeface="Canva Sans Bold"/>
                <a:cs typeface="Canva Sans Bold"/>
                <a:sym typeface="Canva Sans Bold"/>
              </a:rPr>
              <a:t>Analysis:</a:t>
            </a:r>
            <a:r>
              <a:rPr lang="en-US" sz="5199" b="true">
                <a:solidFill>
                  <a:srgbClr val="000000"/>
                </a:solidFill>
                <a:latin typeface="Canva Sans Bold"/>
                <a:ea typeface="Canva Sans Bold"/>
                <a:cs typeface="Canva Sans Bold"/>
                <a:sym typeface="Canva Sans Bold"/>
              </a:rPr>
              <a:t> </a:t>
            </a:r>
            <a:r>
              <a:rPr lang="en-US" sz="5199" b="true">
                <a:solidFill>
                  <a:srgbClr val="18BBB5"/>
                </a:solidFill>
                <a:latin typeface="Canva Sans Bold"/>
                <a:ea typeface="Canva Sans Bold"/>
                <a:cs typeface="Canva Sans Bold"/>
                <a:sym typeface="Canva Sans Bold"/>
              </a:rPr>
              <a:t>Finding</a:t>
            </a:r>
            <a:r>
              <a:rPr lang="en-US" sz="5199" b="true">
                <a:solidFill>
                  <a:srgbClr val="000000"/>
                </a:solidFill>
                <a:latin typeface="Canva Sans Bold"/>
                <a:ea typeface="Canva Sans Bold"/>
                <a:cs typeface="Canva Sans Bold"/>
                <a:sym typeface="Canva Sans Bold"/>
              </a:rPr>
              <a:t> </a:t>
            </a:r>
            <a:r>
              <a:rPr lang="en-US" sz="5199" b="true">
                <a:solidFill>
                  <a:srgbClr val="18BBB5"/>
                </a:solidFill>
                <a:latin typeface="Canva Sans Bold"/>
                <a:ea typeface="Canva Sans Bold"/>
                <a:cs typeface="Canva Sans Bold"/>
                <a:sym typeface="Canva Sans Bold"/>
              </a:rPr>
              <a:t>the Market Gap</a:t>
            </a:r>
          </a:p>
        </p:txBody>
      </p:sp>
      <p:sp>
        <p:nvSpPr>
          <p:cNvPr name="TextBox 3" id="3"/>
          <p:cNvSpPr txBox="true"/>
          <p:nvPr/>
        </p:nvSpPr>
        <p:spPr>
          <a:xfrm rot="0">
            <a:off x="443288" y="734735"/>
            <a:ext cx="17401424" cy="10465377"/>
          </a:xfrm>
          <a:prstGeom prst="rect">
            <a:avLst/>
          </a:prstGeom>
        </p:spPr>
        <p:txBody>
          <a:bodyPr anchor="t" rtlCol="false" tIns="0" lIns="0" bIns="0" rIns="0">
            <a:spAutoFit/>
          </a:bodyPr>
          <a:lstStyle/>
          <a:p>
            <a:pPr algn="ctr">
              <a:lnSpc>
                <a:spcPts val="3767"/>
              </a:lnSpc>
            </a:pPr>
            <a:r>
              <a:rPr lang="en-US" sz="2691" b="true">
                <a:solidFill>
                  <a:srgbClr val="18BBB5"/>
                </a:solidFill>
                <a:latin typeface="Canva Sans Bold"/>
                <a:ea typeface="Canva Sans Bold"/>
                <a:cs typeface="Canva Sans Bold"/>
                <a:sym typeface="Canva Sans Bold"/>
              </a:rPr>
              <a:t>1. Market Landscape &amp; Competitor Focus</a:t>
            </a:r>
          </a:p>
          <a:p>
            <a:pPr algn="ctr">
              <a:lnSpc>
                <a:spcPts val="3767"/>
              </a:lnSpc>
            </a:pPr>
          </a:p>
          <a:p>
            <a:pPr algn="ctr">
              <a:lnSpc>
                <a:spcPts val="3767"/>
              </a:lnSpc>
            </a:pPr>
            <a:r>
              <a:rPr lang="en-US" sz="2691" b="true">
                <a:solidFill>
                  <a:srgbClr val="153153"/>
                </a:solidFill>
                <a:latin typeface="Canva Sans Bold"/>
                <a:ea typeface="Canva Sans Bold"/>
                <a:cs typeface="Canva Sans Bold"/>
                <a:sym typeface="Canva Sans Bold"/>
              </a:rPr>
              <a:t>Most competitors rely heavily on low pricing and basic product posting, creating a noisy and price-driven market.</a:t>
            </a:r>
          </a:p>
          <a:p>
            <a:pPr algn="ctr">
              <a:lnSpc>
                <a:spcPts val="3767"/>
              </a:lnSpc>
            </a:pPr>
          </a:p>
          <a:p>
            <a:pPr algn="ctr">
              <a:lnSpc>
                <a:spcPts val="3767"/>
              </a:lnSpc>
            </a:pPr>
            <a:r>
              <a:rPr lang="en-US" sz="2691" b="true">
                <a:solidFill>
                  <a:srgbClr val="153153"/>
                </a:solidFill>
                <a:latin typeface="Canva Sans Bold"/>
                <a:ea typeface="Canva Sans Bold"/>
                <a:cs typeface="Canva Sans Bold"/>
                <a:sym typeface="Canva Sans Bold"/>
              </a:rPr>
              <a:t>Market Gap: No trusted local digital store offering an Integrated Family Solution (3Cs) with guaranteed product authenticity and quality.</a:t>
            </a:r>
          </a:p>
          <a:p>
            <a:pPr algn="ctr">
              <a:lnSpc>
                <a:spcPts val="3767"/>
              </a:lnSpc>
            </a:pPr>
          </a:p>
          <a:p>
            <a:pPr algn="ctr">
              <a:lnSpc>
                <a:spcPts val="3767"/>
              </a:lnSpc>
            </a:pPr>
            <a:r>
              <a:rPr lang="en-US" sz="2691" b="true">
                <a:solidFill>
                  <a:srgbClr val="153153"/>
                </a:solidFill>
                <a:latin typeface="Canva Sans Bold"/>
                <a:ea typeface="Canva Sans Bold"/>
                <a:cs typeface="Canva Sans Bold"/>
                <a:sym typeface="Canva Sans Bold"/>
              </a:rPr>
              <a:t>Local competitors have stronger visibility inside the physical Banha market, which increases the challenge.</a:t>
            </a:r>
          </a:p>
          <a:p>
            <a:pPr algn="ctr">
              <a:lnSpc>
                <a:spcPts val="3767"/>
              </a:lnSpc>
            </a:pPr>
          </a:p>
          <a:p>
            <a:pPr algn="ctr">
              <a:lnSpc>
                <a:spcPts val="3767"/>
              </a:lnSpc>
            </a:pPr>
            <a:r>
              <a:rPr lang="en-US" sz="2691" b="true">
                <a:solidFill>
                  <a:srgbClr val="18BBB5"/>
                </a:solidFill>
                <a:latin typeface="Canva Sans Bold"/>
                <a:ea typeface="Canva Sans Bold"/>
                <a:cs typeface="Canva Sans Bold"/>
                <a:sym typeface="Canva Sans Bold"/>
              </a:rPr>
              <a:t>2. Tiba Store's Differentiation Strategy (USP)</a:t>
            </a:r>
          </a:p>
          <a:p>
            <a:pPr algn="ctr">
              <a:lnSpc>
                <a:spcPts val="3767"/>
              </a:lnSpc>
            </a:pPr>
          </a:p>
          <a:p>
            <a:pPr algn="ctr">
              <a:lnSpc>
                <a:spcPts val="3767"/>
              </a:lnSpc>
            </a:pPr>
            <a:r>
              <a:rPr lang="en-US" sz="2691" b="true">
                <a:solidFill>
                  <a:srgbClr val="153153"/>
                </a:solidFill>
                <a:latin typeface="Canva Sans Bold"/>
                <a:ea typeface="Canva Sans Bold"/>
                <a:cs typeface="Canva Sans Bold"/>
                <a:sym typeface="Canva Sans Bold"/>
              </a:rPr>
              <a:t>Shifting the focus from “cheapest price” to Value, Quality, and Convenience.</a:t>
            </a:r>
          </a:p>
          <a:p>
            <a:pPr algn="ctr">
              <a:lnSpc>
                <a:spcPts val="3767"/>
              </a:lnSpc>
            </a:pPr>
          </a:p>
          <a:p>
            <a:pPr algn="ctr">
              <a:lnSpc>
                <a:spcPts val="3767"/>
              </a:lnSpc>
            </a:pPr>
            <a:r>
              <a:rPr lang="en-US" sz="2691" b="true">
                <a:solidFill>
                  <a:srgbClr val="153153"/>
                </a:solidFill>
                <a:latin typeface="Canva Sans Bold"/>
                <a:ea typeface="Canva Sans Bold"/>
                <a:cs typeface="Canva Sans Bold"/>
                <a:sym typeface="Canva Sans Bold"/>
              </a:rPr>
              <a:t>One-Stop Family Shop Model: Cosmetics + Cleaning + Baby Care → saves mothers significant time and effort.</a:t>
            </a:r>
          </a:p>
          <a:p>
            <a:pPr algn="ctr">
              <a:lnSpc>
                <a:spcPts val="3767"/>
              </a:lnSpc>
            </a:pPr>
          </a:p>
          <a:p>
            <a:pPr algn="ctr">
              <a:lnSpc>
                <a:spcPts val="3767"/>
              </a:lnSpc>
            </a:pPr>
            <a:r>
              <a:rPr lang="en-US" sz="2691" b="true">
                <a:solidFill>
                  <a:srgbClr val="153153"/>
                </a:solidFill>
                <a:latin typeface="Canva Sans Bold"/>
                <a:ea typeface="Canva Sans Bold"/>
                <a:cs typeface="Canva Sans Bold"/>
                <a:sym typeface="Canva Sans Bold"/>
              </a:rPr>
              <a:t>Strong local digital presence with fast, personalized WhatsApp Business support that drives immediate conversions.</a:t>
            </a:r>
          </a:p>
          <a:p>
            <a:pPr algn="ctr">
              <a:lnSpc>
                <a:spcPts val="3767"/>
              </a:lnSpc>
            </a:pPr>
          </a:p>
          <a:p>
            <a:pPr algn="ctr">
              <a:lnSpc>
                <a:spcPts val="3767"/>
              </a:lnSpc>
            </a:pPr>
          </a:p>
        </p:txBody>
      </p:sp>
    </p:spTree>
  </p:cSld>
  <p:clrMapOvr>
    <a:masterClrMapping/>
  </p:clrMapOvr>
</p:sld>
</file>

<file path=ppt/slides/slide1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595342" y="141565"/>
            <a:ext cx="15097316" cy="887135"/>
          </a:xfrm>
          <a:prstGeom prst="rect">
            <a:avLst/>
          </a:prstGeom>
        </p:spPr>
        <p:txBody>
          <a:bodyPr anchor="t" rtlCol="false" tIns="0" lIns="0" bIns="0" rIns="0">
            <a:spAutoFit/>
          </a:bodyPr>
          <a:lstStyle/>
          <a:p>
            <a:pPr algn="ctr">
              <a:lnSpc>
                <a:spcPts val="7279"/>
              </a:lnSpc>
            </a:pPr>
            <a:r>
              <a:rPr lang="en-US" sz="5199" b="true">
                <a:solidFill>
                  <a:srgbClr val="18BBB5"/>
                </a:solidFill>
                <a:latin typeface="Canva Sans Bold"/>
                <a:ea typeface="Canva Sans Bold"/>
                <a:cs typeface="Canva Sans Bold"/>
                <a:sym typeface="Canva Sans Bold"/>
              </a:rPr>
              <a:t>4-Competitor Analysis: Finding the Market Gap</a:t>
            </a:r>
          </a:p>
        </p:txBody>
      </p:sp>
      <p:sp>
        <p:nvSpPr>
          <p:cNvPr name="TextBox 3" id="3"/>
          <p:cNvSpPr txBox="true"/>
          <p:nvPr/>
        </p:nvSpPr>
        <p:spPr>
          <a:xfrm rot="0">
            <a:off x="1028700" y="1217555"/>
            <a:ext cx="16230600" cy="9123469"/>
          </a:xfrm>
          <a:prstGeom prst="rect">
            <a:avLst/>
          </a:prstGeom>
        </p:spPr>
        <p:txBody>
          <a:bodyPr anchor="t" rtlCol="false" tIns="0" lIns="0" bIns="0" rIns="0">
            <a:spAutoFit/>
          </a:bodyPr>
          <a:lstStyle/>
          <a:p>
            <a:pPr algn="ctr">
              <a:lnSpc>
                <a:spcPts val="4830"/>
              </a:lnSpc>
            </a:pPr>
            <a:r>
              <a:rPr lang="en-US" sz="3450" b="true">
                <a:solidFill>
                  <a:srgbClr val="18BBB5"/>
                </a:solidFill>
                <a:latin typeface="Canva Sans Bold"/>
                <a:ea typeface="Canva Sans Bold"/>
                <a:cs typeface="Canva Sans Bold"/>
                <a:sym typeface="Canva Sans Bold"/>
              </a:rPr>
              <a:t>Actionable Insights &amp; Learnings</a:t>
            </a:r>
          </a:p>
          <a:p>
            <a:pPr algn="ctr">
              <a:lnSpc>
                <a:spcPts val="4830"/>
              </a:lnSpc>
            </a:pPr>
          </a:p>
          <a:p>
            <a:pPr algn="ctr">
              <a:lnSpc>
                <a:spcPts val="4830"/>
              </a:lnSpc>
            </a:pPr>
            <a:r>
              <a:rPr lang="en-US" sz="3450" b="true">
                <a:solidFill>
                  <a:srgbClr val="153153"/>
                </a:solidFill>
                <a:latin typeface="Canva Sans Bold"/>
                <a:ea typeface="Canva Sans Bold"/>
                <a:cs typeface="Canva Sans Bold"/>
                <a:sym typeface="Canva Sans Bold"/>
              </a:rPr>
              <a:t>Successful competitors</a:t>
            </a:r>
            <a:r>
              <a:rPr lang="en-US" sz="3450" b="true">
                <a:solidFill>
                  <a:srgbClr val="000000"/>
                </a:solidFill>
                <a:latin typeface="Canva Sans Bold"/>
                <a:ea typeface="Canva Sans Bold"/>
                <a:cs typeface="Canva Sans Bold"/>
                <a:sym typeface="Canva Sans Bold"/>
              </a:rPr>
              <a:t> </a:t>
            </a:r>
            <a:r>
              <a:rPr lang="en-US" sz="3450" b="true">
                <a:solidFill>
                  <a:srgbClr val="153153"/>
                </a:solidFill>
                <a:latin typeface="Canva Sans Bold"/>
                <a:ea typeface="Canva Sans Bold"/>
                <a:cs typeface="Canva Sans Bold"/>
                <a:sym typeface="Canva Sans Bold"/>
              </a:rPr>
              <a:t>grow trust through:</a:t>
            </a:r>
          </a:p>
          <a:p>
            <a:pPr algn="ctr">
              <a:lnSpc>
                <a:spcPts val="4830"/>
              </a:lnSpc>
            </a:pPr>
          </a:p>
          <a:p>
            <a:pPr algn="ctr">
              <a:lnSpc>
                <a:spcPts val="4830"/>
              </a:lnSpc>
            </a:pPr>
            <a:r>
              <a:rPr lang="en-US" sz="3450" b="true">
                <a:solidFill>
                  <a:srgbClr val="153153"/>
                </a:solidFill>
                <a:latin typeface="Canva Sans Bold"/>
                <a:ea typeface="Canva Sans Bold"/>
                <a:cs typeface="Canva Sans Bold"/>
                <a:sym typeface="Canva Sans Bold"/>
              </a:rPr>
              <a:t>• Authentic User-Generated Content (UGC)</a:t>
            </a:r>
          </a:p>
          <a:p>
            <a:pPr algn="ctr">
              <a:lnSpc>
                <a:spcPts val="4830"/>
              </a:lnSpc>
            </a:pPr>
          </a:p>
          <a:p>
            <a:pPr algn="ctr">
              <a:lnSpc>
                <a:spcPts val="4830"/>
              </a:lnSpc>
            </a:pPr>
            <a:r>
              <a:rPr lang="en-US" sz="3450" b="true">
                <a:solidFill>
                  <a:srgbClr val="153153"/>
                </a:solidFill>
                <a:latin typeface="Canva Sans Bold"/>
                <a:ea typeface="Canva Sans Bold"/>
                <a:cs typeface="Canva Sans Bold"/>
                <a:sym typeface="Canva Sans Bold"/>
              </a:rPr>
              <a:t>• Simple loyalty contests and customer participation</a:t>
            </a:r>
          </a:p>
          <a:p>
            <a:pPr algn="ctr">
              <a:lnSpc>
                <a:spcPts val="4830"/>
              </a:lnSpc>
            </a:pPr>
          </a:p>
          <a:p>
            <a:pPr algn="ctr">
              <a:lnSpc>
                <a:spcPts val="4830"/>
              </a:lnSpc>
            </a:pPr>
            <a:r>
              <a:rPr lang="en-US" sz="3450" b="true">
                <a:solidFill>
                  <a:srgbClr val="18BBB5"/>
                </a:solidFill>
                <a:latin typeface="Canva Sans Bold"/>
                <a:ea typeface="Canva Sans Bold"/>
                <a:cs typeface="Canva Sans Bold"/>
                <a:sym typeface="Canva Sans Bold"/>
              </a:rPr>
              <a:t>Tiba Store</a:t>
            </a:r>
            <a:r>
              <a:rPr lang="en-US" sz="3450" b="true">
                <a:solidFill>
                  <a:srgbClr val="000000"/>
                </a:solidFill>
                <a:latin typeface="Canva Sans Bold"/>
                <a:ea typeface="Canva Sans Bold"/>
                <a:cs typeface="Canva Sans Bold"/>
                <a:sym typeface="Canva Sans Bold"/>
              </a:rPr>
              <a:t> </a:t>
            </a:r>
            <a:r>
              <a:rPr lang="en-US" sz="3450" b="true">
                <a:solidFill>
                  <a:srgbClr val="18BBB5"/>
                </a:solidFill>
                <a:latin typeface="Canva Sans Bold"/>
                <a:ea typeface="Canva Sans Bold"/>
                <a:cs typeface="Canva Sans Bold"/>
                <a:sym typeface="Canva Sans Bold"/>
              </a:rPr>
              <a:t>Action Plan:</a:t>
            </a:r>
          </a:p>
          <a:p>
            <a:pPr algn="ctr">
              <a:lnSpc>
                <a:spcPts val="4830"/>
              </a:lnSpc>
            </a:pPr>
          </a:p>
          <a:p>
            <a:pPr algn="ctr">
              <a:lnSpc>
                <a:spcPts val="4830"/>
              </a:lnSpc>
            </a:pPr>
            <a:r>
              <a:rPr lang="en-US" sz="3450" b="true">
                <a:solidFill>
                  <a:srgbClr val="153153"/>
                </a:solidFill>
                <a:latin typeface="Canva Sans Bold"/>
                <a:ea typeface="Canva Sans Bold"/>
                <a:cs typeface="Canva Sans Bold"/>
                <a:sym typeface="Canva Sans Bold"/>
              </a:rPr>
              <a:t>• Prioritize real testimonials and micro-influencer collaborations to build trust quickly.</a:t>
            </a:r>
          </a:p>
          <a:p>
            <a:pPr algn="ctr">
              <a:lnSpc>
                <a:spcPts val="4830"/>
              </a:lnSpc>
            </a:pPr>
          </a:p>
          <a:p>
            <a:pPr algn="ctr">
              <a:lnSpc>
                <a:spcPts val="4830"/>
              </a:lnSpc>
            </a:pPr>
            <a:r>
              <a:rPr lang="en-US" sz="3450" b="true">
                <a:solidFill>
                  <a:srgbClr val="153153"/>
                </a:solidFill>
                <a:latin typeface="Canva Sans Bold"/>
                <a:ea typeface="Canva Sans Bold"/>
                <a:cs typeface="Canva Sans Bold"/>
                <a:sym typeface="Canva Sans Bold"/>
              </a:rPr>
              <a:t>• KPI: Increase testimonial video views by 50%</a:t>
            </a:r>
          </a:p>
          <a:p>
            <a:pPr algn="ctr">
              <a:lnSpc>
                <a:spcPts val="4830"/>
              </a:lnSpc>
            </a:pP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68965" y="-4303696"/>
            <a:ext cx="19929383" cy="13502086"/>
          </a:xfrm>
          <a:custGeom>
            <a:avLst/>
            <a:gdLst/>
            <a:ahLst/>
            <a:cxnLst/>
            <a:rect r="r" b="b" t="t" l="l"/>
            <a:pathLst>
              <a:path h="13502086" w="19929383">
                <a:moveTo>
                  <a:pt x="0" y="0"/>
                </a:moveTo>
                <a:lnTo>
                  <a:pt x="19929383" y="0"/>
                </a:lnTo>
                <a:lnTo>
                  <a:pt x="19929383" y="13502086"/>
                </a:lnTo>
                <a:lnTo>
                  <a:pt x="0" y="13502086"/>
                </a:lnTo>
                <a:lnTo>
                  <a:pt x="0" y="0"/>
                </a:lnTo>
                <a:close/>
              </a:path>
            </a:pathLst>
          </a:custGeom>
          <a:blipFill>
            <a:blip r:embed="rId2">
              <a:alphaModFix amt="5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366630" y="7281974"/>
            <a:ext cx="3395330" cy="3807991"/>
          </a:xfrm>
          <a:custGeom>
            <a:avLst/>
            <a:gdLst/>
            <a:ahLst/>
            <a:cxnLst/>
            <a:rect r="r" b="b" t="t" l="l"/>
            <a:pathLst>
              <a:path h="3807991" w="3395330">
                <a:moveTo>
                  <a:pt x="0" y="0"/>
                </a:moveTo>
                <a:lnTo>
                  <a:pt x="3395330" y="0"/>
                </a:lnTo>
                <a:lnTo>
                  <a:pt x="3395330" y="3807991"/>
                </a:lnTo>
                <a:lnTo>
                  <a:pt x="0" y="380799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7259300" y="-947626"/>
            <a:ext cx="3395330" cy="3807991"/>
          </a:xfrm>
          <a:custGeom>
            <a:avLst/>
            <a:gdLst/>
            <a:ahLst/>
            <a:cxnLst/>
            <a:rect r="r" b="b" t="t" l="l"/>
            <a:pathLst>
              <a:path h="3807991" w="3395330">
                <a:moveTo>
                  <a:pt x="0" y="0"/>
                </a:moveTo>
                <a:lnTo>
                  <a:pt x="3395330" y="0"/>
                </a:lnTo>
                <a:lnTo>
                  <a:pt x="3395330" y="3807991"/>
                </a:lnTo>
                <a:lnTo>
                  <a:pt x="0" y="380799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516565" y="-4151296"/>
            <a:ext cx="19929383" cy="13502086"/>
          </a:xfrm>
          <a:custGeom>
            <a:avLst/>
            <a:gdLst/>
            <a:ahLst/>
            <a:cxnLst/>
            <a:rect r="r" b="b" t="t" l="l"/>
            <a:pathLst>
              <a:path h="13502086" w="19929383">
                <a:moveTo>
                  <a:pt x="0" y="0"/>
                </a:moveTo>
                <a:lnTo>
                  <a:pt x="19929383" y="0"/>
                </a:lnTo>
                <a:lnTo>
                  <a:pt x="19929383" y="13502086"/>
                </a:lnTo>
                <a:lnTo>
                  <a:pt x="0" y="13502086"/>
                </a:lnTo>
                <a:lnTo>
                  <a:pt x="0" y="0"/>
                </a:lnTo>
                <a:close/>
              </a:path>
            </a:pathLst>
          </a:custGeom>
          <a:blipFill>
            <a:blip r:embed="rId2">
              <a:alphaModFix amt="55000"/>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364165" y="-3998896"/>
            <a:ext cx="19929383" cy="13502086"/>
          </a:xfrm>
          <a:custGeom>
            <a:avLst/>
            <a:gdLst/>
            <a:ahLst/>
            <a:cxnLst/>
            <a:rect r="r" b="b" t="t" l="l"/>
            <a:pathLst>
              <a:path h="13502086" w="19929383">
                <a:moveTo>
                  <a:pt x="0" y="0"/>
                </a:moveTo>
                <a:lnTo>
                  <a:pt x="19929383" y="0"/>
                </a:lnTo>
                <a:lnTo>
                  <a:pt x="19929383" y="13502086"/>
                </a:lnTo>
                <a:lnTo>
                  <a:pt x="0" y="13502086"/>
                </a:lnTo>
                <a:lnTo>
                  <a:pt x="0" y="0"/>
                </a:lnTo>
                <a:close/>
              </a:path>
            </a:pathLst>
          </a:custGeom>
          <a:blipFill>
            <a:blip r:embed="rId2">
              <a:alphaModFix amt="55000"/>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211765" y="-3846496"/>
            <a:ext cx="19929383" cy="13502086"/>
          </a:xfrm>
          <a:custGeom>
            <a:avLst/>
            <a:gdLst/>
            <a:ahLst/>
            <a:cxnLst/>
            <a:rect r="r" b="b" t="t" l="l"/>
            <a:pathLst>
              <a:path h="13502086" w="19929383">
                <a:moveTo>
                  <a:pt x="0" y="0"/>
                </a:moveTo>
                <a:lnTo>
                  <a:pt x="19929383" y="0"/>
                </a:lnTo>
                <a:lnTo>
                  <a:pt x="19929383" y="13502086"/>
                </a:lnTo>
                <a:lnTo>
                  <a:pt x="0" y="13502086"/>
                </a:lnTo>
                <a:lnTo>
                  <a:pt x="0" y="0"/>
                </a:lnTo>
                <a:close/>
              </a:path>
            </a:pathLst>
          </a:custGeom>
          <a:blipFill>
            <a:blip r:embed="rId2">
              <a:alphaModFix amt="55000"/>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59365" y="-3694096"/>
            <a:ext cx="19929383" cy="13502086"/>
          </a:xfrm>
          <a:custGeom>
            <a:avLst/>
            <a:gdLst/>
            <a:ahLst/>
            <a:cxnLst/>
            <a:rect r="r" b="b" t="t" l="l"/>
            <a:pathLst>
              <a:path h="13502086" w="19929383">
                <a:moveTo>
                  <a:pt x="0" y="0"/>
                </a:moveTo>
                <a:lnTo>
                  <a:pt x="19929383" y="0"/>
                </a:lnTo>
                <a:lnTo>
                  <a:pt x="19929383" y="13502086"/>
                </a:lnTo>
                <a:lnTo>
                  <a:pt x="0" y="13502086"/>
                </a:lnTo>
                <a:lnTo>
                  <a:pt x="0" y="0"/>
                </a:lnTo>
                <a:close/>
              </a:path>
            </a:pathLst>
          </a:custGeom>
          <a:blipFill>
            <a:blip r:embed="rId2">
              <a:alphaModFix amt="55000"/>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93035" y="-3541696"/>
            <a:ext cx="19929383" cy="13502086"/>
          </a:xfrm>
          <a:custGeom>
            <a:avLst/>
            <a:gdLst/>
            <a:ahLst/>
            <a:cxnLst/>
            <a:rect r="r" b="b" t="t" l="l"/>
            <a:pathLst>
              <a:path h="13502086" w="19929383">
                <a:moveTo>
                  <a:pt x="0" y="0"/>
                </a:moveTo>
                <a:lnTo>
                  <a:pt x="19929383" y="0"/>
                </a:lnTo>
                <a:lnTo>
                  <a:pt x="19929383" y="13502086"/>
                </a:lnTo>
                <a:lnTo>
                  <a:pt x="0" y="13502086"/>
                </a:lnTo>
                <a:lnTo>
                  <a:pt x="0" y="0"/>
                </a:lnTo>
                <a:close/>
              </a:path>
            </a:pathLst>
          </a:custGeom>
          <a:blipFill>
            <a:blip r:embed="rId2">
              <a:alphaModFix amt="55000"/>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245435" y="-3389296"/>
            <a:ext cx="19929383" cy="13502086"/>
          </a:xfrm>
          <a:custGeom>
            <a:avLst/>
            <a:gdLst/>
            <a:ahLst/>
            <a:cxnLst/>
            <a:rect r="r" b="b" t="t" l="l"/>
            <a:pathLst>
              <a:path h="13502086" w="19929383">
                <a:moveTo>
                  <a:pt x="0" y="0"/>
                </a:moveTo>
                <a:lnTo>
                  <a:pt x="19929383" y="0"/>
                </a:lnTo>
                <a:lnTo>
                  <a:pt x="19929383" y="13502086"/>
                </a:lnTo>
                <a:lnTo>
                  <a:pt x="0" y="13502086"/>
                </a:lnTo>
                <a:lnTo>
                  <a:pt x="0" y="0"/>
                </a:lnTo>
                <a:close/>
              </a:path>
            </a:pathLst>
          </a:custGeom>
          <a:blipFill>
            <a:blip r:embed="rId2">
              <a:alphaModFix amt="55000"/>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2008604" y="-326610"/>
            <a:ext cx="15183844" cy="10287000"/>
          </a:xfrm>
          <a:custGeom>
            <a:avLst/>
            <a:gdLst/>
            <a:ahLst/>
            <a:cxnLst/>
            <a:rect r="r" b="b" t="t" l="l"/>
            <a:pathLst>
              <a:path h="10287000" w="15183844">
                <a:moveTo>
                  <a:pt x="0" y="0"/>
                </a:moveTo>
                <a:lnTo>
                  <a:pt x="15183845" y="0"/>
                </a:lnTo>
                <a:lnTo>
                  <a:pt x="15183845" y="10287000"/>
                </a:lnTo>
                <a:lnTo>
                  <a:pt x="0" y="10287000"/>
                </a:lnTo>
                <a:lnTo>
                  <a:pt x="0" y="0"/>
                </a:lnTo>
                <a:close/>
              </a:path>
            </a:pathLst>
          </a:custGeom>
          <a:blipFill>
            <a:blip r:embed="rId2">
              <a:alphaModFix amt="55000"/>
              <a:extLst>
                <a:ext uri="{96DAC541-7B7A-43D3-8B79-37D633B846F1}">
                  <asvg:svgBlip xmlns:asvg="http://schemas.microsoft.com/office/drawing/2016/SVG/main" r:embed="rId3"/>
                </a:ext>
              </a:extLst>
            </a:blip>
            <a:stretch>
              <a:fillRect l="0" t="0" r="0" b="0"/>
            </a:stretch>
          </a:blipFill>
        </p:spPr>
      </p:sp>
      <p:sp>
        <p:nvSpPr>
          <p:cNvPr name="TextBox 12" id="12"/>
          <p:cNvSpPr txBox="true"/>
          <p:nvPr/>
        </p:nvSpPr>
        <p:spPr>
          <a:xfrm rot="0">
            <a:off x="108878" y="-963951"/>
            <a:ext cx="17150422" cy="15900422"/>
          </a:xfrm>
          <a:prstGeom prst="rect">
            <a:avLst/>
          </a:prstGeom>
        </p:spPr>
        <p:txBody>
          <a:bodyPr anchor="t" rtlCol="false" tIns="0" lIns="0" bIns="0" rIns="0">
            <a:spAutoFit/>
          </a:bodyPr>
          <a:lstStyle/>
          <a:p>
            <a:pPr algn="ctr">
              <a:lnSpc>
                <a:spcPts val="8638"/>
              </a:lnSpc>
            </a:pPr>
          </a:p>
          <a:p>
            <a:pPr algn="ctr">
              <a:lnSpc>
                <a:spcPts val="4895"/>
              </a:lnSpc>
            </a:pPr>
          </a:p>
          <a:p>
            <a:pPr algn="ctr">
              <a:lnSpc>
                <a:spcPts val="4895"/>
              </a:lnSpc>
            </a:pPr>
          </a:p>
          <a:p>
            <a:pPr algn="ctr">
              <a:lnSpc>
                <a:spcPts val="4895"/>
              </a:lnSpc>
            </a:pPr>
            <a:r>
              <a:rPr lang="en-US" b="true" sz="3496">
                <a:solidFill>
                  <a:srgbClr val="153153"/>
                </a:solidFill>
                <a:latin typeface="Canva Sans Bold"/>
                <a:ea typeface="Canva Sans Bold"/>
                <a:cs typeface="Canva Sans Bold"/>
                <a:sym typeface="Canva Sans Bold"/>
              </a:rPr>
              <a:t>WhatsApp is currently the strongest platform for conversions and building customer relationships.</a:t>
            </a:r>
          </a:p>
          <a:p>
            <a:pPr algn="ctr">
              <a:lnSpc>
                <a:spcPts val="4895"/>
              </a:lnSpc>
            </a:pPr>
          </a:p>
          <a:p>
            <a:pPr algn="ctr">
              <a:lnSpc>
                <a:spcPts val="4895"/>
              </a:lnSpc>
            </a:pPr>
            <a:r>
              <a:rPr lang="en-US" b="true" sz="3496">
                <a:solidFill>
                  <a:srgbClr val="153153"/>
                </a:solidFill>
                <a:latin typeface="Canva Sans Bold"/>
                <a:ea typeface="Canva Sans Bold"/>
                <a:cs typeface="Canva Sans Bold"/>
                <a:sym typeface="Canva Sans Bold"/>
              </a:rPr>
              <a:t>Facebook provides the highest reach and access to Banha’s active community groups.</a:t>
            </a:r>
          </a:p>
          <a:p>
            <a:pPr algn="ctr">
              <a:lnSpc>
                <a:spcPts val="4895"/>
              </a:lnSpc>
            </a:pPr>
          </a:p>
          <a:p>
            <a:pPr algn="ctr">
              <a:lnSpc>
                <a:spcPts val="4895"/>
              </a:lnSpc>
            </a:pPr>
            <a:r>
              <a:rPr lang="en-US" b="true" sz="3496">
                <a:solidFill>
                  <a:srgbClr val="153153"/>
                </a:solidFill>
                <a:latin typeface="Canva Sans Bold"/>
                <a:ea typeface="Canva Sans Bold"/>
                <a:cs typeface="Canva Sans Bold"/>
                <a:sym typeface="Canva Sans Bold"/>
              </a:rPr>
              <a:t>Reels and short videos consistently generate the highest engagement.</a:t>
            </a:r>
          </a:p>
          <a:p>
            <a:pPr algn="ctr">
              <a:lnSpc>
                <a:spcPts val="4895"/>
              </a:lnSpc>
            </a:pPr>
          </a:p>
          <a:p>
            <a:pPr algn="ctr">
              <a:lnSpc>
                <a:spcPts val="4895"/>
              </a:lnSpc>
            </a:pPr>
            <a:r>
              <a:rPr lang="en-US" b="true" sz="3496">
                <a:solidFill>
                  <a:srgbClr val="153153"/>
                </a:solidFill>
                <a:latin typeface="Canva Sans Bold"/>
                <a:ea typeface="Canva Sans Bold"/>
                <a:cs typeface="Canva Sans Bold"/>
                <a:sym typeface="Canva Sans Bold"/>
              </a:rPr>
              <a:t>Key areas for improvement include:</a:t>
            </a:r>
          </a:p>
          <a:p>
            <a:pPr algn="ctr">
              <a:lnSpc>
                <a:spcPts val="4895"/>
              </a:lnSpc>
            </a:pPr>
            <a:r>
              <a:rPr lang="en-US" b="true" sz="3496">
                <a:solidFill>
                  <a:srgbClr val="153153"/>
                </a:solidFill>
                <a:latin typeface="Canva Sans Bold"/>
                <a:ea typeface="Canva Sans Bold"/>
                <a:cs typeface="Canva Sans Bold"/>
                <a:sym typeface="Canva Sans Bold"/>
              </a:rPr>
              <a:t>– More consistent posting</a:t>
            </a:r>
          </a:p>
          <a:p>
            <a:pPr algn="ctr">
              <a:lnSpc>
                <a:spcPts val="4895"/>
              </a:lnSpc>
            </a:pPr>
            <a:r>
              <a:rPr lang="en-US" b="true" sz="3496">
                <a:solidFill>
                  <a:srgbClr val="153153"/>
                </a:solidFill>
                <a:latin typeface="Canva Sans Bold"/>
                <a:ea typeface="Canva Sans Bold"/>
                <a:cs typeface="Canva Sans Bold"/>
                <a:sym typeface="Canva Sans Bold"/>
              </a:rPr>
              <a:t>– Introducing paid advertising</a:t>
            </a:r>
          </a:p>
          <a:p>
            <a:pPr algn="ctr">
              <a:lnSpc>
                <a:spcPts val="4895"/>
              </a:lnSpc>
            </a:pPr>
            <a:r>
              <a:rPr lang="en-US" b="true" sz="3496">
                <a:solidFill>
                  <a:srgbClr val="153153"/>
                </a:solidFill>
                <a:latin typeface="Canva Sans Bold"/>
                <a:ea typeface="Canva Sans Bold"/>
                <a:cs typeface="Canva Sans Bold"/>
                <a:sym typeface="Canva Sans Bold"/>
              </a:rPr>
              <a:t>– Expanding collaboration with local micro-influencers</a:t>
            </a:r>
          </a:p>
          <a:p>
            <a:pPr algn="ctr">
              <a:lnSpc>
                <a:spcPts val="4895"/>
              </a:lnSpc>
            </a:pPr>
          </a:p>
          <a:p>
            <a:pPr algn="ctr">
              <a:lnSpc>
                <a:spcPts val="4895"/>
              </a:lnSpc>
            </a:pPr>
          </a:p>
          <a:p>
            <a:pPr algn="ctr">
              <a:lnSpc>
                <a:spcPts val="4895"/>
              </a:lnSpc>
            </a:pPr>
          </a:p>
          <a:p>
            <a:pPr algn="ctr">
              <a:lnSpc>
                <a:spcPts val="4895"/>
              </a:lnSpc>
            </a:pPr>
          </a:p>
          <a:p>
            <a:pPr algn="ctr">
              <a:lnSpc>
                <a:spcPts val="4895"/>
              </a:lnSpc>
            </a:pPr>
          </a:p>
          <a:p>
            <a:pPr algn="ctr">
              <a:lnSpc>
                <a:spcPts val="4895"/>
              </a:lnSpc>
            </a:pPr>
          </a:p>
          <a:p>
            <a:pPr algn="ctr">
              <a:lnSpc>
                <a:spcPts val="4895"/>
              </a:lnSpc>
            </a:pPr>
          </a:p>
          <a:p>
            <a:pPr algn="ctr">
              <a:lnSpc>
                <a:spcPts val="4895"/>
              </a:lnSpc>
            </a:pPr>
          </a:p>
          <a:p>
            <a:pPr algn="ctr">
              <a:lnSpc>
                <a:spcPts val="4895"/>
              </a:lnSpc>
            </a:pPr>
          </a:p>
          <a:p>
            <a:pPr algn="ctr">
              <a:lnSpc>
                <a:spcPts val="4895"/>
              </a:lnSpc>
              <a:spcBef>
                <a:spcPct val="0"/>
              </a:spcBef>
            </a:pPr>
          </a:p>
        </p:txBody>
      </p:sp>
      <p:sp>
        <p:nvSpPr>
          <p:cNvPr name="TextBox 13" id="13"/>
          <p:cNvSpPr txBox="true"/>
          <p:nvPr/>
        </p:nvSpPr>
        <p:spPr>
          <a:xfrm rot="0">
            <a:off x="4119697" y="141565"/>
            <a:ext cx="9128783" cy="887135"/>
          </a:xfrm>
          <a:prstGeom prst="rect">
            <a:avLst/>
          </a:prstGeom>
        </p:spPr>
        <p:txBody>
          <a:bodyPr anchor="t" rtlCol="false" tIns="0" lIns="0" bIns="0" rIns="0">
            <a:spAutoFit/>
          </a:bodyPr>
          <a:lstStyle/>
          <a:p>
            <a:pPr algn="ctr">
              <a:lnSpc>
                <a:spcPts val="7279"/>
              </a:lnSpc>
            </a:pPr>
            <a:r>
              <a:rPr lang="en-US" b="true" sz="5199">
                <a:solidFill>
                  <a:srgbClr val="18BBB5"/>
                </a:solidFill>
                <a:latin typeface="Canva Sans Bold"/>
                <a:ea typeface="Canva Sans Bold"/>
                <a:cs typeface="Canva Sans Bold"/>
                <a:sym typeface="Canva Sans Bold"/>
              </a:rPr>
              <a:t>5. Digital Performance Audit</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7546503" y="-2553482"/>
            <a:ext cx="19929383" cy="13477245"/>
          </a:xfrm>
          <a:custGeom>
            <a:avLst/>
            <a:gdLst/>
            <a:ahLst/>
            <a:cxnLst/>
            <a:rect r="r" b="b" t="t" l="l"/>
            <a:pathLst>
              <a:path h="13477245" w="19929383">
                <a:moveTo>
                  <a:pt x="0" y="0"/>
                </a:moveTo>
                <a:lnTo>
                  <a:pt x="19929383" y="0"/>
                </a:lnTo>
                <a:lnTo>
                  <a:pt x="19929383" y="13477245"/>
                </a:lnTo>
                <a:lnTo>
                  <a:pt x="0" y="13477245"/>
                </a:lnTo>
                <a:lnTo>
                  <a:pt x="0" y="0"/>
                </a:lnTo>
                <a:close/>
              </a:path>
            </a:pathLst>
          </a:custGeom>
          <a:blipFill>
            <a:blip r:embed="rId2">
              <a:alphaModFix amt="55000"/>
              <a:extLst>
                <a:ext uri="{96DAC541-7B7A-43D3-8B79-37D633B846F1}">
                  <asvg:svgBlip xmlns:asvg="http://schemas.microsoft.com/office/drawing/2016/SVG/main" r:embed="rId3"/>
                </a:ext>
              </a:extLst>
            </a:blip>
            <a:stretch>
              <a:fillRect l="0" t="-92" r="0" b="-92"/>
            </a:stretch>
          </a:blipFill>
        </p:spPr>
      </p:sp>
      <p:sp>
        <p:nvSpPr>
          <p:cNvPr name="Freeform 3" id="3"/>
          <p:cNvSpPr/>
          <p:nvPr/>
        </p:nvSpPr>
        <p:spPr>
          <a:xfrm flipH="false" flipV="false" rot="0">
            <a:off x="17259300" y="-947626"/>
            <a:ext cx="3395330" cy="3807991"/>
          </a:xfrm>
          <a:custGeom>
            <a:avLst/>
            <a:gdLst/>
            <a:ahLst/>
            <a:cxnLst/>
            <a:rect r="r" b="b" t="t" l="l"/>
            <a:pathLst>
              <a:path h="3807991" w="3395330">
                <a:moveTo>
                  <a:pt x="0" y="0"/>
                </a:moveTo>
                <a:lnTo>
                  <a:pt x="3395330" y="0"/>
                </a:lnTo>
                <a:lnTo>
                  <a:pt x="3395330" y="3807991"/>
                </a:lnTo>
                <a:lnTo>
                  <a:pt x="0" y="380799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362978" y="-161552"/>
            <a:ext cx="15896322" cy="10267975"/>
          </a:xfrm>
          <a:prstGeom prst="rect">
            <a:avLst/>
          </a:prstGeom>
        </p:spPr>
        <p:txBody>
          <a:bodyPr anchor="t" rtlCol="false" tIns="0" lIns="0" bIns="0" rIns="0">
            <a:spAutoFit/>
          </a:bodyPr>
          <a:lstStyle/>
          <a:p>
            <a:pPr algn="ctr">
              <a:lnSpc>
                <a:spcPts val="6622"/>
              </a:lnSpc>
            </a:pPr>
            <a:r>
              <a:rPr lang="en-US" b="true" sz="5518">
                <a:solidFill>
                  <a:srgbClr val="2B4863"/>
                </a:solidFill>
                <a:latin typeface="Droid Arabic Naskh Bold"/>
                <a:ea typeface="Droid Arabic Naskh Bold"/>
                <a:cs typeface="Droid Arabic Naskh Bold"/>
                <a:sym typeface="Droid Arabic Naskh Bold"/>
              </a:rPr>
              <a:t>  </a:t>
            </a:r>
          </a:p>
          <a:p>
            <a:pPr algn="ctr">
              <a:lnSpc>
                <a:spcPts val="7293"/>
              </a:lnSpc>
            </a:pPr>
            <a:r>
              <a:rPr lang="en-US" b="true" sz="6083">
                <a:solidFill>
                  <a:srgbClr val="2B4863"/>
                </a:solidFill>
                <a:latin typeface="Droid Arabic Naskh Bold"/>
                <a:ea typeface="Droid Arabic Naskh Bold"/>
                <a:cs typeface="Droid Arabic Naskh Bold"/>
                <a:sym typeface="Droid Arabic Naskh Bold"/>
              </a:rPr>
              <a:t>Internal Analysis (SWOT):</a:t>
            </a:r>
          </a:p>
          <a:p>
            <a:pPr algn="just">
              <a:lnSpc>
                <a:spcPts val="2992"/>
              </a:lnSpc>
            </a:pPr>
          </a:p>
          <a:p>
            <a:pPr algn="just" marL="1791150" indent="-597050" lvl="2">
              <a:lnSpc>
                <a:spcPts val="4973"/>
              </a:lnSpc>
              <a:buFont typeface="Arial"/>
              <a:buChar char="⚬"/>
            </a:pPr>
            <a:r>
              <a:rPr lang="en-US" b="true" sz="4148">
                <a:solidFill>
                  <a:srgbClr val="18BBB5"/>
                </a:solidFill>
                <a:latin typeface="Droid Arabic Naskh Bold"/>
                <a:ea typeface="Droid Arabic Naskh Bold"/>
                <a:cs typeface="Droid Arabic Naskh Bold"/>
                <a:sym typeface="Droid Arabic Naskh Bold"/>
              </a:rPr>
              <a:t>Strengths</a:t>
            </a:r>
            <a:r>
              <a:rPr lang="en-US" b="true" sz="4148">
                <a:solidFill>
                  <a:srgbClr val="2B4863"/>
                </a:solidFill>
                <a:latin typeface="Droid Arabic Naskh Bold"/>
                <a:ea typeface="Droid Arabic Naskh Bold"/>
                <a:cs typeface="Droid Arabic Naskh Bold"/>
                <a:sym typeface="Droid Arabic Naskh Bold"/>
              </a:rPr>
              <a:t>: </a:t>
            </a:r>
          </a:p>
          <a:p>
            <a:pPr algn="just">
              <a:lnSpc>
                <a:spcPts val="3085"/>
              </a:lnSpc>
            </a:pPr>
            <a:r>
              <a:rPr lang="en-US" b="true" sz="2573">
                <a:solidFill>
                  <a:srgbClr val="2B4863"/>
                </a:solidFill>
                <a:latin typeface="Droid Arabic Naskh Bold"/>
                <a:ea typeface="Droid Arabic Naskh Bold"/>
                <a:cs typeface="Droid Arabic Naskh Bold"/>
                <a:sym typeface="Droid Arabic Naskh Bold"/>
              </a:rPr>
              <a:t>One-Stop Family Store: Tiba Store offers beauty, cleaning, and baby care products all in one place.</a:t>
            </a:r>
          </a:p>
          <a:p>
            <a:pPr algn="just">
              <a:lnSpc>
                <a:spcPts val="3085"/>
              </a:lnSpc>
            </a:pPr>
          </a:p>
          <a:p>
            <a:pPr algn="just">
              <a:lnSpc>
                <a:spcPts val="3085"/>
              </a:lnSpc>
            </a:pPr>
            <a:r>
              <a:rPr lang="en-US" b="true" sz="2573">
                <a:solidFill>
                  <a:srgbClr val="2B4863"/>
                </a:solidFill>
                <a:latin typeface="Droid Arabic Naskh Bold"/>
                <a:ea typeface="Droid Arabic Naskh Bold"/>
                <a:cs typeface="Droid Arabic Naskh Bold"/>
                <a:sym typeface="Droid Arabic Naskh Bold"/>
              </a:rPr>
              <a:t>Strong Local Trust: High credibility among customers in Banha.</a:t>
            </a:r>
          </a:p>
          <a:p>
            <a:pPr algn="just">
              <a:lnSpc>
                <a:spcPts val="3085"/>
              </a:lnSpc>
            </a:pPr>
          </a:p>
          <a:p>
            <a:pPr algn="just">
              <a:lnSpc>
                <a:spcPts val="3085"/>
              </a:lnSpc>
            </a:pPr>
            <a:r>
              <a:rPr lang="en-US" b="true" sz="2573">
                <a:solidFill>
                  <a:srgbClr val="2B4863"/>
                </a:solidFill>
                <a:latin typeface="Droid Arabic Naskh Bold"/>
                <a:ea typeface="Droid Arabic Naskh Bold"/>
                <a:cs typeface="Droid Arabic Naskh Bold"/>
                <a:sym typeface="Droid Arabic Naskh Bold"/>
              </a:rPr>
              <a:t>Fast &amp; Personalized WhatsApp Support: Quick, reliable communication that feels like in-store service.</a:t>
            </a:r>
          </a:p>
          <a:p>
            <a:pPr algn="just">
              <a:lnSpc>
                <a:spcPts val="3085"/>
              </a:lnSpc>
            </a:pPr>
          </a:p>
          <a:p>
            <a:pPr algn="just">
              <a:lnSpc>
                <a:spcPts val="3085"/>
              </a:lnSpc>
            </a:pPr>
            <a:r>
              <a:rPr lang="en-US" b="true" sz="2573">
                <a:solidFill>
                  <a:srgbClr val="2B4863"/>
                </a:solidFill>
                <a:latin typeface="Droid Arabic Naskh Bold"/>
                <a:ea typeface="Droid Arabic Naskh Bold"/>
                <a:cs typeface="Droid Arabic Naskh Bold"/>
                <a:sym typeface="Droid Arabic Naskh Bold"/>
              </a:rPr>
              <a:t>Existing Awareness: The brand already has recognition and is not starting from zero.</a:t>
            </a:r>
          </a:p>
          <a:p>
            <a:pPr algn="just">
              <a:lnSpc>
                <a:spcPts val="3085"/>
              </a:lnSpc>
            </a:pPr>
          </a:p>
          <a:p>
            <a:pPr algn="just">
              <a:lnSpc>
                <a:spcPts val="3085"/>
              </a:lnSpc>
            </a:pPr>
            <a:r>
              <a:rPr lang="en-US" b="true" sz="2573">
                <a:solidFill>
                  <a:srgbClr val="2B4863"/>
                </a:solidFill>
                <a:latin typeface="Droid Arabic Naskh Bold"/>
                <a:ea typeface="Droid Arabic Naskh Bold"/>
                <a:cs typeface="Droid Arabic Naskh Bold"/>
                <a:sym typeface="Droid Arabic Naskh Bold"/>
              </a:rPr>
              <a:t>Established Customer Base: A solid group of returning customers.</a:t>
            </a:r>
          </a:p>
          <a:p>
            <a:pPr algn="just">
              <a:lnSpc>
                <a:spcPts val="3085"/>
              </a:lnSpc>
            </a:pPr>
          </a:p>
          <a:p>
            <a:pPr algn="just">
              <a:lnSpc>
                <a:spcPts val="3085"/>
              </a:lnSpc>
            </a:pPr>
            <a:r>
              <a:rPr lang="en-US" b="true" sz="2573">
                <a:solidFill>
                  <a:srgbClr val="2B4863"/>
                </a:solidFill>
                <a:latin typeface="Droid Arabic Naskh Bold"/>
                <a:ea typeface="Droid Arabic Naskh Bold"/>
                <a:cs typeface="Droid Arabic Naskh Bold"/>
                <a:sym typeface="Droid Arabic Naskh Bold"/>
              </a:rPr>
              <a:t>Proven Social Media Sales: Consistent and strong sales through social platforms.</a:t>
            </a:r>
          </a:p>
          <a:p>
            <a:pPr algn="just">
              <a:lnSpc>
                <a:spcPts val="2994"/>
              </a:lnSpc>
            </a:pPr>
          </a:p>
          <a:p>
            <a:pPr algn="just" marL="1611840" indent="-537280" lvl="2">
              <a:lnSpc>
                <a:spcPts val="4475"/>
              </a:lnSpc>
              <a:buFont typeface="Arial"/>
              <a:buChar char="⚬"/>
            </a:pPr>
            <a:r>
              <a:rPr lang="en-US" b="true" sz="3732">
                <a:solidFill>
                  <a:srgbClr val="18BBB5"/>
                </a:solidFill>
                <a:latin typeface="Droid Arabic Naskh Bold"/>
                <a:ea typeface="Droid Arabic Naskh Bold"/>
                <a:cs typeface="Droid Arabic Naskh Bold"/>
                <a:sym typeface="Droid Arabic Naskh Bold"/>
              </a:rPr>
              <a:t>Weaknesses</a:t>
            </a:r>
            <a:r>
              <a:rPr lang="en-US" b="true" sz="3732">
                <a:solidFill>
                  <a:srgbClr val="2B4863"/>
                </a:solidFill>
                <a:latin typeface="Droid Arabic Naskh Bold"/>
                <a:ea typeface="Droid Arabic Naskh Bold"/>
                <a:cs typeface="Droid Arabic Naskh Bold"/>
                <a:sym typeface="Droid Arabic Naskh Bold"/>
              </a:rPr>
              <a:t>:</a:t>
            </a:r>
          </a:p>
          <a:p>
            <a:pPr algn="just">
              <a:lnSpc>
                <a:spcPts val="2992"/>
              </a:lnSpc>
            </a:pPr>
            <a:r>
              <a:rPr lang="en-US" b="true" sz="2495">
                <a:solidFill>
                  <a:srgbClr val="2B4863"/>
                </a:solidFill>
                <a:latin typeface="Droid Arabic Naskh Bold"/>
                <a:ea typeface="Droid Arabic Naskh Bold"/>
                <a:cs typeface="Droid Arabic Naskh Bold"/>
                <a:sym typeface="Droid Arabic Naskh Bold"/>
              </a:rPr>
              <a:t> Low brand awareness outside of existing customers due to a heavy reliance on organic marketing.</a:t>
            </a:r>
          </a:p>
          <a:p>
            <a:pPr algn="just">
              <a:lnSpc>
                <a:spcPts val="2992"/>
              </a:lnSpc>
            </a:pPr>
          </a:p>
          <a:p>
            <a:pPr algn="just">
              <a:lnSpc>
                <a:spcPts val="2994"/>
              </a:lnSpc>
            </a:pPr>
            <a:r>
              <a:rPr lang="en-US" b="true" sz="2495">
                <a:solidFill>
                  <a:srgbClr val="2B4863"/>
                </a:solidFill>
                <a:latin typeface="Droid Arabic Naskh Bold"/>
                <a:ea typeface="Droid Arabic Naskh Bold"/>
                <a:cs typeface="Droid Arabic Naskh Bold"/>
                <a:sym typeface="Droid Arabic Naskh Bold"/>
              </a:rPr>
              <a:t>Heavy dependence on organic content with limited paid campaigns.</a:t>
            </a:r>
          </a:p>
        </p:txBody>
      </p:sp>
      <p:grpSp>
        <p:nvGrpSpPr>
          <p:cNvPr name="Group 5" id="5"/>
          <p:cNvGrpSpPr/>
          <p:nvPr/>
        </p:nvGrpSpPr>
        <p:grpSpPr>
          <a:xfrm rot="-5100252">
            <a:off x="17996349" y="534630"/>
            <a:ext cx="1832377" cy="1727015"/>
            <a:chOff x="0" y="0"/>
            <a:chExt cx="2443170" cy="2302687"/>
          </a:xfrm>
        </p:grpSpPr>
        <p:sp>
          <p:nvSpPr>
            <p:cNvPr name="Freeform 6" id="6"/>
            <p:cNvSpPr/>
            <p:nvPr/>
          </p:nvSpPr>
          <p:spPr>
            <a:xfrm flipH="false" flipV="false" rot="0">
              <a:off x="0" y="0"/>
              <a:ext cx="2443226" cy="2302637"/>
            </a:xfrm>
            <a:custGeom>
              <a:avLst/>
              <a:gdLst/>
              <a:ahLst/>
              <a:cxnLst/>
              <a:rect r="r" b="b" t="t" l="l"/>
              <a:pathLst>
                <a:path h="2302637" w="2443226">
                  <a:moveTo>
                    <a:pt x="0" y="0"/>
                  </a:moveTo>
                  <a:lnTo>
                    <a:pt x="2443226" y="0"/>
                  </a:lnTo>
                  <a:lnTo>
                    <a:pt x="2443226" y="2302637"/>
                  </a:lnTo>
                  <a:lnTo>
                    <a:pt x="0" y="2302637"/>
                  </a:lnTo>
                  <a:lnTo>
                    <a:pt x="0" y="0"/>
                  </a:lnTo>
                  <a:close/>
                </a:path>
              </a:pathLst>
            </a:custGeom>
            <a:blipFill>
              <a:blip r:embed="rId6"/>
              <a:stretch>
                <a:fillRect l="0" t="-28" r="2" b="-30"/>
              </a:stretch>
            </a:blipFill>
          </p:spPr>
        </p:sp>
      </p:grpSp>
      <p:grpSp>
        <p:nvGrpSpPr>
          <p:cNvPr name="Group 7" id="7"/>
          <p:cNvGrpSpPr/>
          <p:nvPr/>
        </p:nvGrpSpPr>
        <p:grpSpPr>
          <a:xfrm rot="-5100252">
            <a:off x="18496412" y="3965479"/>
            <a:ext cx="439874" cy="439325"/>
            <a:chOff x="0" y="0"/>
            <a:chExt cx="586499" cy="585766"/>
          </a:xfrm>
        </p:grpSpPr>
        <p:sp>
          <p:nvSpPr>
            <p:cNvPr name="Freeform 8" id="8"/>
            <p:cNvSpPr/>
            <p:nvPr/>
          </p:nvSpPr>
          <p:spPr>
            <a:xfrm flipH="false" flipV="false" rot="0">
              <a:off x="0" y="0"/>
              <a:ext cx="586486" cy="585724"/>
            </a:xfrm>
            <a:custGeom>
              <a:avLst/>
              <a:gdLst/>
              <a:ahLst/>
              <a:cxnLst/>
              <a:rect r="r" b="b" t="t" l="l"/>
              <a:pathLst>
                <a:path h="585724" w="586486">
                  <a:moveTo>
                    <a:pt x="0" y="0"/>
                  </a:moveTo>
                  <a:lnTo>
                    <a:pt x="586486" y="0"/>
                  </a:lnTo>
                  <a:lnTo>
                    <a:pt x="586486" y="585724"/>
                  </a:lnTo>
                  <a:lnTo>
                    <a:pt x="0" y="585724"/>
                  </a:lnTo>
                  <a:lnTo>
                    <a:pt x="0" y="0"/>
                  </a:lnTo>
                  <a:close/>
                </a:path>
              </a:pathLst>
            </a:custGeom>
            <a:blipFill>
              <a:blip r:embed="rId7"/>
              <a:stretch>
                <a:fillRect l="0" t="-62" r="-2" b="-69"/>
              </a:stretch>
            </a:blipFill>
          </p:spPr>
        </p:sp>
      </p:grpSp>
      <p:sp>
        <p:nvSpPr>
          <p:cNvPr name="Freeform 9" id="9"/>
          <p:cNvSpPr/>
          <p:nvPr/>
        </p:nvSpPr>
        <p:spPr>
          <a:xfrm flipH="false" flipV="false" rot="0">
            <a:off x="-2146613" y="7354305"/>
            <a:ext cx="3395330" cy="3807991"/>
          </a:xfrm>
          <a:custGeom>
            <a:avLst/>
            <a:gdLst/>
            <a:ahLst/>
            <a:cxnLst/>
            <a:rect r="r" b="b" t="t" l="l"/>
            <a:pathLst>
              <a:path h="3807991" w="3395330">
                <a:moveTo>
                  <a:pt x="0" y="0"/>
                </a:moveTo>
                <a:lnTo>
                  <a:pt x="3395330" y="0"/>
                </a:lnTo>
                <a:lnTo>
                  <a:pt x="3395330" y="3807990"/>
                </a:lnTo>
                <a:lnTo>
                  <a:pt x="0" y="380799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7546503" y="-2553482"/>
            <a:ext cx="19929383" cy="13477245"/>
          </a:xfrm>
          <a:custGeom>
            <a:avLst/>
            <a:gdLst/>
            <a:ahLst/>
            <a:cxnLst/>
            <a:rect r="r" b="b" t="t" l="l"/>
            <a:pathLst>
              <a:path h="13477245" w="19929383">
                <a:moveTo>
                  <a:pt x="0" y="0"/>
                </a:moveTo>
                <a:lnTo>
                  <a:pt x="19929383" y="0"/>
                </a:lnTo>
                <a:lnTo>
                  <a:pt x="19929383" y="13477245"/>
                </a:lnTo>
                <a:lnTo>
                  <a:pt x="0" y="13477245"/>
                </a:lnTo>
                <a:lnTo>
                  <a:pt x="0" y="0"/>
                </a:lnTo>
                <a:close/>
              </a:path>
            </a:pathLst>
          </a:custGeom>
          <a:blipFill>
            <a:blip r:embed="rId2">
              <a:alphaModFix amt="55000"/>
              <a:extLst>
                <a:ext uri="{96DAC541-7B7A-43D3-8B79-37D633B846F1}">
                  <asvg:svgBlip xmlns:asvg="http://schemas.microsoft.com/office/drawing/2016/SVG/main" r:embed="rId3"/>
                </a:ext>
              </a:extLst>
            </a:blip>
            <a:stretch>
              <a:fillRect l="0" t="-92" r="0" b="-92"/>
            </a:stretch>
          </a:blipFill>
        </p:spPr>
      </p:sp>
      <p:sp>
        <p:nvSpPr>
          <p:cNvPr name="Freeform 3" id="3"/>
          <p:cNvSpPr/>
          <p:nvPr/>
        </p:nvSpPr>
        <p:spPr>
          <a:xfrm flipH="false" flipV="false" rot="0">
            <a:off x="17259300" y="-947626"/>
            <a:ext cx="3395330" cy="3807991"/>
          </a:xfrm>
          <a:custGeom>
            <a:avLst/>
            <a:gdLst/>
            <a:ahLst/>
            <a:cxnLst/>
            <a:rect r="r" b="b" t="t" l="l"/>
            <a:pathLst>
              <a:path h="3807991" w="3395330">
                <a:moveTo>
                  <a:pt x="0" y="0"/>
                </a:moveTo>
                <a:lnTo>
                  <a:pt x="3395330" y="0"/>
                </a:lnTo>
                <a:lnTo>
                  <a:pt x="3395330" y="3807991"/>
                </a:lnTo>
                <a:lnTo>
                  <a:pt x="0" y="380799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536675" y="604996"/>
            <a:ext cx="15214651" cy="9067483"/>
          </a:xfrm>
          <a:prstGeom prst="rect">
            <a:avLst/>
          </a:prstGeom>
        </p:spPr>
        <p:txBody>
          <a:bodyPr anchor="t" rtlCol="false" tIns="0" lIns="0" bIns="0" rIns="0">
            <a:spAutoFit/>
          </a:bodyPr>
          <a:lstStyle/>
          <a:p>
            <a:pPr algn="ctr">
              <a:lnSpc>
                <a:spcPts val="8504"/>
              </a:lnSpc>
            </a:pPr>
            <a:r>
              <a:rPr lang="en-US" b="true" sz="7093">
                <a:solidFill>
                  <a:srgbClr val="2B4863"/>
                </a:solidFill>
                <a:latin typeface="Droid Arabic Naskh Bold"/>
                <a:ea typeface="Droid Arabic Naskh Bold"/>
                <a:cs typeface="Droid Arabic Naskh Bold"/>
                <a:sym typeface="Droid Arabic Naskh Bold"/>
              </a:rPr>
              <a:t>Digital Marketing Plan </a:t>
            </a:r>
          </a:p>
          <a:p>
            <a:pPr algn="ctr">
              <a:lnSpc>
                <a:spcPts val="3846"/>
              </a:lnSpc>
            </a:pPr>
          </a:p>
          <a:p>
            <a:pPr algn="ctr">
              <a:lnSpc>
                <a:spcPts val="3846"/>
              </a:lnSpc>
            </a:pPr>
          </a:p>
          <a:p>
            <a:pPr algn="ctr">
              <a:lnSpc>
                <a:spcPts val="6601"/>
              </a:lnSpc>
            </a:pPr>
            <a:r>
              <a:rPr lang="en-US" b="true" sz="5505">
                <a:solidFill>
                  <a:srgbClr val="2B4863"/>
                </a:solidFill>
                <a:latin typeface="Droid Arabic Naskh Bold"/>
                <a:ea typeface="Droid Arabic Naskh Bold"/>
                <a:cs typeface="Droid Arabic Naskh Bold"/>
                <a:sym typeface="Droid Arabic Naskh Bold"/>
              </a:rPr>
              <a:t>External Analysis:</a:t>
            </a:r>
          </a:p>
          <a:p>
            <a:pPr algn="ctr">
              <a:lnSpc>
                <a:spcPts val="6601"/>
              </a:lnSpc>
            </a:pPr>
          </a:p>
          <a:p>
            <a:pPr algn="ctr" marL="1385102" indent="-461701" lvl="2">
              <a:lnSpc>
                <a:spcPts val="3846"/>
              </a:lnSpc>
              <a:buFont typeface="Arial"/>
              <a:buChar char="⚬"/>
            </a:pPr>
            <a:r>
              <a:rPr lang="en-US" b="true" sz="3207">
                <a:solidFill>
                  <a:srgbClr val="18BBB5"/>
                </a:solidFill>
                <a:latin typeface="Droid Arabic Naskh Bold"/>
                <a:ea typeface="Droid Arabic Naskh Bold"/>
                <a:cs typeface="Droid Arabic Naskh Bold"/>
                <a:sym typeface="Droid Arabic Naskh Bold"/>
              </a:rPr>
              <a:t>Opport</a:t>
            </a:r>
            <a:r>
              <a:rPr lang="en-US" b="true" sz="3207">
                <a:solidFill>
                  <a:srgbClr val="18BBB5"/>
                </a:solidFill>
                <a:latin typeface="Droid Arabic Naskh Bold"/>
                <a:ea typeface="Droid Arabic Naskh Bold"/>
                <a:cs typeface="Droid Arabic Naskh Bold"/>
                <a:sym typeface="Droid Arabic Naskh Bold"/>
              </a:rPr>
              <a:t>unities</a:t>
            </a:r>
            <a:r>
              <a:rPr lang="en-US" b="true" sz="3207">
                <a:solidFill>
                  <a:srgbClr val="2B4863"/>
                </a:solidFill>
                <a:latin typeface="Droid Arabic Naskh Bold"/>
                <a:ea typeface="Droid Arabic Naskh Bold"/>
                <a:cs typeface="Droid Arabic Naskh Bold"/>
                <a:sym typeface="Droid Arabic Naskh Bold"/>
              </a:rPr>
              <a:t>: The increasing activity of Banha residents on Facebook, Instagram, and TikTok presents strong opportunities for visual merchandising and direct engagement.</a:t>
            </a:r>
          </a:p>
          <a:p>
            <a:pPr algn="ctr">
              <a:lnSpc>
                <a:spcPts val="3846"/>
              </a:lnSpc>
            </a:pPr>
            <a:r>
              <a:rPr lang="en-US" b="true" sz="3207">
                <a:solidFill>
                  <a:srgbClr val="2B4863"/>
                </a:solidFill>
                <a:latin typeface="Droid Arabic Naskh Bold"/>
                <a:ea typeface="Droid Arabic Naskh Bold"/>
                <a:cs typeface="Droid Arabic Naskh Bold"/>
                <a:sym typeface="Droid Arabic Naskh Bold"/>
              </a:rPr>
              <a:t>Growing  emand for guaranteed, safe local products.</a:t>
            </a:r>
          </a:p>
          <a:p>
            <a:pPr algn="ctr">
              <a:lnSpc>
                <a:spcPts val="3846"/>
              </a:lnSpc>
            </a:pPr>
          </a:p>
          <a:p>
            <a:pPr algn="ctr" marL="1385102" indent="-461701" lvl="2">
              <a:lnSpc>
                <a:spcPts val="3846"/>
              </a:lnSpc>
              <a:buFont typeface="Arial"/>
              <a:buChar char="⚬"/>
            </a:pPr>
            <a:r>
              <a:rPr lang="en-US" b="true" sz="3207">
                <a:solidFill>
                  <a:srgbClr val="18BBB5"/>
                </a:solidFill>
                <a:latin typeface="Droid Arabic Naskh Bold"/>
                <a:ea typeface="Droid Arabic Naskh Bold"/>
                <a:cs typeface="Droid Arabic Naskh Bold"/>
                <a:sym typeface="Droid Arabic Naskh Bold"/>
              </a:rPr>
              <a:t>Threats</a:t>
            </a:r>
            <a:r>
              <a:rPr lang="en-US" b="true" sz="3207">
                <a:solidFill>
                  <a:srgbClr val="2B4863"/>
                </a:solidFill>
                <a:latin typeface="Droid Arabic Naskh Bold"/>
                <a:ea typeface="Droid Arabic Naskh Bold"/>
                <a:cs typeface="Droid Arabic Naskh Bold"/>
                <a:sym typeface="Droid Arabic Naskh Bold"/>
              </a:rPr>
              <a:t>: Growing competition from supermarkets and specialty online stores targeting the same demographics.</a:t>
            </a:r>
          </a:p>
          <a:p>
            <a:pPr algn="ctr">
              <a:lnSpc>
                <a:spcPts val="3846"/>
              </a:lnSpc>
            </a:pPr>
            <a:r>
              <a:rPr lang="en-US" b="true" sz="3207">
                <a:solidFill>
                  <a:srgbClr val="2B4863"/>
                </a:solidFill>
                <a:latin typeface="Droid Arabic Naskh Bold"/>
                <a:ea typeface="Droid Arabic Naskh Bold"/>
                <a:cs typeface="Droid Arabic Naskh Bold"/>
                <a:sym typeface="Droid Arabic Naskh Bold"/>
              </a:rPr>
              <a:t>Customer price sensitivity due to market saturation</a:t>
            </a:r>
          </a:p>
          <a:p>
            <a:pPr algn="ctr">
              <a:lnSpc>
                <a:spcPts val="3846"/>
              </a:lnSpc>
            </a:pPr>
          </a:p>
          <a:p>
            <a:pPr algn="ctr">
              <a:lnSpc>
                <a:spcPts val="3846"/>
              </a:lnSpc>
            </a:pPr>
          </a:p>
          <a:p>
            <a:pPr algn="ctr">
              <a:lnSpc>
                <a:spcPts val="3849"/>
              </a:lnSpc>
            </a:pPr>
          </a:p>
        </p:txBody>
      </p:sp>
      <p:grpSp>
        <p:nvGrpSpPr>
          <p:cNvPr name="Group 5" id="5"/>
          <p:cNvGrpSpPr/>
          <p:nvPr/>
        </p:nvGrpSpPr>
        <p:grpSpPr>
          <a:xfrm rot="-5100252">
            <a:off x="18496412" y="3965479"/>
            <a:ext cx="439874" cy="439325"/>
            <a:chOff x="0" y="0"/>
            <a:chExt cx="586499" cy="585766"/>
          </a:xfrm>
        </p:grpSpPr>
        <p:sp>
          <p:nvSpPr>
            <p:cNvPr name="Freeform 6" id="6"/>
            <p:cNvSpPr/>
            <p:nvPr/>
          </p:nvSpPr>
          <p:spPr>
            <a:xfrm flipH="false" flipV="false" rot="0">
              <a:off x="0" y="0"/>
              <a:ext cx="586486" cy="585724"/>
            </a:xfrm>
            <a:custGeom>
              <a:avLst/>
              <a:gdLst/>
              <a:ahLst/>
              <a:cxnLst/>
              <a:rect r="r" b="b" t="t" l="l"/>
              <a:pathLst>
                <a:path h="585724" w="586486">
                  <a:moveTo>
                    <a:pt x="0" y="0"/>
                  </a:moveTo>
                  <a:lnTo>
                    <a:pt x="586486" y="0"/>
                  </a:lnTo>
                  <a:lnTo>
                    <a:pt x="586486" y="585724"/>
                  </a:lnTo>
                  <a:lnTo>
                    <a:pt x="0" y="585724"/>
                  </a:lnTo>
                  <a:lnTo>
                    <a:pt x="0" y="0"/>
                  </a:lnTo>
                  <a:close/>
                </a:path>
              </a:pathLst>
            </a:custGeom>
            <a:blipFill>
              <a:blip r:embed="rId6"/>
              <a:stretch>
                <a:fillRect l="0" t="-62" r="-2" b="-69"/>
              </a:stretch>
            </a:blipFill>
          </p:spPr>
        </p:sp>
      </p:grpSp>
      <p:sp>
        <p:nvSpPr>
          <p:cNvPr name="Freeform 7" id="7"/>
          <p:cNvSpPr/>
          <p:nvPr/>
        </p:nvSpPr>
        <p:spPr>
          <a:xfrm flipH="false" flipV="false" rot="0">
            <a:off x="-2146613" y="7354305"/>
            <a:ext cx="3395330" cy="3807991"/>
          </a:xfrm>
          <a:custGeom>
            <a:avLst/>
            <a:gdLst/>
            <a:ahLst/>
            <a:cxnLst/>
            <a:rect r="r" b="b" t="t" l="l"/>
            <a:pathLst>
              <a:path h="3807991" w="3395330">
                <a:moveTo>
                  <a:pt x="0" y="0"/>
                </a:moveTo>
                <a:lnTo>
                  <a:pt x="3395330" y="0"/>
                </a:lnTo>
                <a:lnTo>
                  <a:pt x="3395330" y="3807990"/>
                </a:lnTo>
                <a:lnTo>
                  <a:pt x="0" y="380799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366630" y="7281974"/>
            <a:ext cx="3395330" cy="3807991"/>
          </a:xfrm>
          <a:custGeom>
            <a:avLst/>
            <a:gdLst/>
            <a:ahLst/>
            <a:cxnLst/>
            <a:rect r="r" b="b" t="t" l="l"/>
            <a:pathLst>
              <a:path h="3807991" w="3395330">
                <a:moveTo>
                  <a:pt x="0" y="0"/>
                </a:moveTo>
                <a:lnTo>
                  <a:pt x="3395330" y="0"/>
                </a:lnTo>
                <a:lnTo>
                  <a:pt x="3395330" y="3807991"/>
                </a:lnTo>
                <a:lnTo>
                  <a:pt x="0" y="380799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7259300" y="-947626"/>
            <a:ext cx="3395330" cy="3807991"/>
          </a:xfrm>
          <a:custGeom>
            <a:avLst/>
            <a:gdLst/>
            <a:ahLst/>
            <a:cxnLst/>
            <a:rect r="r" b="b" t="t" l="l"/>
            <a:pathLst>
              <a:path h="3807991" w="3395330">
                <a:moveTo>
                  <a:pt x="0" y="0"/>
                </a:moveTo>
                <a:lnTo>
                  <a:pt x="3395330" y="0"/>
                </a:lnTo>
                <a:lnTo>
                  <a:pt x="3395330" y="3807991"/>
                </a:lnTo>
                <a:lnTo>
                  <a:pt x="0" y="380799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651442" y="187247"/>
            <a:ext cx="16985116" cy="9535792"/>
          </a:xfrm>
          <a:prstGeom prst="rect">
            <a:avLst/>
          </a:prstGeom>
        </p:spPr>
        <p:txBody>
          <a:bodyPr anchor="t" rtlCol="false" tIns="0" lIns="0" bIns="0" rIns="0">
            <a:spAutoFit/>
          </a:bodyPr>
          <a:lstStyle/>
          <a:p>
            <a:pPr algn="ctr">
              <a:lnSpc>
                <a:spcPts val="10358"/>
              </a:lnSpc>
            </a:pPr>
            <a:r>
              <a:rPr lang="en-US" b="true" sz="6999">
                <a:solidFill>
                  <a:srgbClr val="2B4863"/>
                </a:solidFill>
                <a:latin typeface="Noto Sans Bold"/>
                <a:ea typeface="Noto Sans Bold"/>
                <a:cs typeface="Noto Sans Bold"/>
                <a:sym typeface="Noto Sans Bold"/>
              </a:rPr>
              <a:t>Objectives</a:t>
            </a:r>
          </a:p>
          <a:p>
            <a:pPr algn="ctr">
              <a:lnSpc>
                <a:spcPts val="4460"/>
              </a:lnSpc>
            </a:pPr>
          </a:p>
          <a:p>
            <a:pPr algn="ctr">
              <a:lnSpc>
                <a:spcPts val="5051"/>
              </a:lnSpc>
            </a:pPr>
            <a:r>
              <a:rPr lang="en-US" b="true" sz="3413">
                <a:solidFill>
                  <a:srgbClr val="2B4863"/>
                </a:solidFill>
                <a:latin typeface="Droid Arabic Naskh Bold"/>
                <a:ea typeface="Droid Arabic Naskh Bold"/>
                <a:cs typeface="Droid Arabic Naskh Bold"/>
                <a:sym typeface="Droid Arabic Naskh Bold"/>
              </a:rPr>
              <a:t>•</a:t>
            </a:r>
            <a:r>
              <a:rPr lang="en-US" b="true" sz="3413">
                <a:solidFill>
                  <a:srgbClr val="2B4863"/>
                </a:solidFill>
                <a:latin typeface="Droid Arabic Naskh Bold"/>
                <a:ea typeface="Droid Arabic Naskh Bold"/>
                <a:cs typeface="Droid Arabic Naskh Bold"/>
                <a:sym typeface="Droid Arabic Naskh Bold"/>
              </a:rPr>
              <a:t>Sell: Increase sales by 20% within three months across digital channels.</a:t>
            </a:r>
          </a:p>
          <a:p>
            <a:pPr algn="ctr">
              <a:lnSpc>
                <a:spcPts val="5051"/>
              </a:lnSpc>
            </a:pPr>
            <a:r>
              <a:rPr lang="en-US" b="true" sz="3413">
                <a:solidFill>
                  <a:srgbClr val="2B4863"/>
                </a:solidFill>
                <a:latin typeface="Droid Arabic Naskh Bold"/>
                <a:ea typeface="Droid Arabic Naskh Bold"/>
                <a:cs typeface="Droid Arabic Naskh Bold"/>
                <a:sym typeface="Droid Arabic Naskh Bold"/>
              </a:rPr>
              <a:t>•Serve: Improve customer satisfaction through faster response times and higher-quality service on WhatsApp and Telegram.</a:t>
            </a:r>
          </a:p>
          <a:p>
            <a:pPr algn="ctr">
              <a:lnSpc>
                <a:spcPts val="5051"/>
              </a:lnSpc>
            </a:pPr>
          </a:p>
          <a:p>
            <a:pPr algn="ctr">
              <a:lnSpc>
                <a:spcPts val="5051"/>
              </a:lnSpc>
            </a:pPr>
            <a:r>
              <a:rPr lang="en-US" b="true" sz="3413">
                <a:solidFill>
                  <a:srgbClr val="2B4863"/>
                </a:solidFill>
                <a:latin typeface="Droid Arabic Naskh Bold"/>
                <a:ea typeface="Droid Arabic Naskh Bold"/>
                <a:cs typeface="Droid Arabic Naskh Bold"/>
                <a:sym typeface="Droid Arabic Naskh Bold"/>
              </a:rPr>
              <a:t>•Speak: Boost brand awareness and reach 10,000 new followers on Facebook and Instagram.</a:t>
            </a:r>
          </a:p>
          <a:p>
            <a:pPr algn="ctr">
              <a:lnSpc>
                <a:spcPts val="5051"/>
              </a:lnSpc>
            </a:pPr>
            <a:r>
              <a:rPr lang="en-US" b="true" sz="3413">
                <a:solidFill>
                  <a:srgbClr val="2B4863"/>
                </a:solidFill>
                <a:latin typeface="Droid Arabic Naskh Bold"/>
                <a:ea typeface="Droid Arabic Naskh Bold"/>
                <a:cs typeface="Droid Arabic Naskh Bold"/>
                <a:sym typeface="Droid Arabic Naskh Bold"/>
              </a:rPr>
              <a:t>•Save: Reduce customer acquisition cost (CAC) by 15% through targeted campaigns.</a:t>
            </a:r>
          </a:p>
          <a:p>
            <a:pPr algn="ctr">
              <a:lnSpc>
                <a:spcPts val="5051"/>
              </a:lnSpc>
            </a:pPr>
          </a:p>
          <a:p>
            <a:pPr algn="ctr">
              <a:lnSpc>
                <a:spcPts val="5051"/>
              </a:lnSpc>
            </a:pPr>
            <a:r>
              <a:rPr lang="en-US" b="true" sz="3413">
                <a:solidFill>
                  <a:srgbClr val="2B4863"/>
                </a:solidFill>
                <a:latin typeface="Droid Arabic Naskh Bold"/>
                <a:ea typeface="Droid Arabic Naskh Bold"/>
                <a:cs typeface="Droid Arabic Naskh Bold"/>
                <a:sym typeface="Droid Arabic Naskh Bold"/>
              </a:rPr>
              <a:t>•Sizzle: Build a strong brand image as the best and most trusted local store serving the families of Banha.</a:t>
            </a:r>
          </a:p>
          <a:p>
            <a:pPr algn="l">
              <a:lnSpc>
                <a:spcPts val="4972"/>
              </a:lnSpc>
            </a:pPr>
          </a:p>
        </p:txBody>
      </p:sp>
      <p:grpSp>
        <p:nvGrpSpPr>
          <p:cNvPr name="Group 5" id="5"/>
          <p:cNvGrpSpPr/>
          <p:nvPr/>
        </p:nvGrpSpPr>
        <p:grpSpPr>
          <a:xfrm rot="0">
            <a:off x="9797215" y="174645"/>
            <a:ext cx="71408" cy="649053"/>
            <a:chOff x="0" y="0"/>
            <a:chExt cx="95210" cy="865404"/>
          </a:xfrm>
        </p:grpSpPr>
        <p:sp>
          <p:nvSpPr>
            <p:cNvPr name="Freeform 6" id="6"/>
            <p:cNvSpPr/>
            <p:nvPr/>
          </p:nvSpPr>
          <p:spPr>
            <a:xfrm flipH="false" flipV="false" rot="0">
              <a:off x="0" y="0"/>
              <a:ext cx="95250" cy="865378"/>
            </a:xfrm>
            <a:custGeom>
              <a:avLst/>
              <a:gdLst/>
              <a:ahLst/>
              <a:cxnLst/>
              <a:rect r="r" b="b" t="t" l="l"/>
              <a:pathLst>
                <a:path h="865378" w="95250">
                  <a:moveTo>
                    <a:pt x="0" y="0"/>
                  </a:moveTo>
                  <a:lnTo>
                    <a:pt x="95250" y="0"/>
                  </a:lnTo>
                  <a:lnTo>
                    <a:pt x="95250" y="865378"/>
                  </a:lnTo>
                  <a:lnTo>
                    <a:pt x="0" y="865378"/>
                  </a:lnTo>
                  <a:lnTo>
                    <a:pt x="0" y="0"/>
                  </a:lnTo>
                  <a:close/>
                </a:path>
              </a:pathLst>
            </a:custGeom>
            <a:blipFill>
              <a:blip r:embed="rId4"/>
              <a:stretch>
                <a:fillRect l="-406202" t="0" r="-406160" b="-3"/>
              </a:stretch>
            </a:blipFill>
          </p:spPr>
        </p:sp>
      </p:grpSp>
      <p:grpSp>
        <p:nvGrpSpPr>
          <p:cNvPr name="Group 7" id="7"/>
          <p:cNvGrpSpPr/>
          <p:nvPr/>
        </p:nvGrpSpPr>
        <p:grpSpPr>
          <a:xfrm rot="0">
            <a:off x="10435445" y="5587551"/>
            <a:ext cx="50177" cy="456080"/>
            <a:chOff x="0" y="0"/>
            <a:chExt cx="66903" cy="608107"/>
          </a:xfrm>
        </p:grpSpPr>
        <p:sp>
          <p:nvSpPr>
            <p:cNvPr name="Freeform 8" id="8"/>
            <p:cNvSpPr/>
            <p:nvPr/>
          </p:nvSpPr>
          <p:spPr>
            <a:xfrm flipH="false" flipV="false" rot="0">
              <a:off x="0" y="0"/>
              <a:ext cx="66929" cy="608076"/>
            </a:xfrm>
            <a:custGeom>
              <a:avLst/>
              <a:gdLst/>
              <a:ahLst/>
              <a:cxnLst/>
              <a:rect r="r" b="b" t="t" l="l"/>
              <a:pathLst>
                <a:path h="608076" w="66929">
                  <a:moveTo>
                    <a:pt x="0" y="0"/>
                  </a:moveTo>
                  <a:lnTo>
                    <a:pt x="66929" y="0"/>
                  </a:lnTo>
                  <a:lnTo>
                    <a:pt x="66929" y="608076"/>
                  </a:lnTo>
                  <a:lnTo>
                    <a:pt x="0" y="608076"/>
                  </a:lnTo>
                  <a:lnTo>
                    <a:pt x="0" y="0"/>
                  </a:lnTo>
                  <a:close/>
                </a:path>
              </a:pathLst>
            </a:custGeom>
            <a:blipFill>
              <a:blip r:embed="rId5"/>
              <a:stretch>
                <a:fillRect l="-404312" t="0" r="-404273" b="-5"/>
              </a:stretch>
            </a:blipFill>
          </p:spPr>
        </p:sp>
      </p:grpSp>
      <p:grpSp>
        <p:nvGrpSpPr>
          <p:cNvPr name="Group 9" id="9"/>
          <p:cNvGrpSpPr/>
          <p:nvPr/>
        </p:nvGrpSpPr>
        <p:grpSpPr>
          <a:xfrm rot="0">
            <a:off x="9934073" y="9562344"/>
            <a:ext cx="57147" cy="519431"/>
            <a:chOff x="0" y="0"/>
            <a:chExt cx="76196" cy="692575"/>
          </a:xfrm>
        </p:grpSpPr>
        <p:sp>
          <p:nvSpPr>
            <p:cNvPr name="Freeform 10" id="10"/>
            <p:cNvSpPr/>
            <p:nvPr/>
          </p:nvSpPr>
          <p:spPr>
            <a:xfrm flipH="false" flipV="false" rot="0">
              <a:off x="0" y="0"/>
              <a:ext cx="76200" cy="692531"/>
            </a:xfrm>
            <a:custGeom>
              <a:avLst/>
              <a:gdLst/>
              <a:ahLst/>
              <a:cxnLst/>
              <a:rect r="r" b="b" t="t" l="l"/>
              <a:pathLst>
                <a:path h="692531" w="76200">
                  <a:moveTo>
                    <a:pt x="0" y="0"/>
                  </a:moveTo>
                  <a:lnTo>
                    <a:pt x="76200" y="0"/>
                  </a:lnTo>
                  <a:lnTo>
                    <a:pt x="76200" y="692531"/>
                  </a:lnTo>
                  <a:lnTo>
                    <a:pt x="0" y="692531"/>
                  </a:lnTo>
                  <a:lnTo>
                    <a:pt x="0" y="0"/>
                  </a:lnTo>
                  <a:close/>
                </a:path>
              </a:pathLst>
            </a:custGeom>
            <a:blipFill>
              <a:blip r:embed="rId6"/>
              <a:stretch>
                <a:fillRect l="-406349" t="0" r="-406344" b="-6"/>
              </a:stretch>
            </a:blipFill>
          </p:spPr>
        </p:sp>
      </p:grpSp>
      <p:grpSp>
        <p:nvGrpSpPr>
          <p:cNvPr name="Group 11" id="11"/>
          <p:cNvGrpSpPr/>
          <p:nvPr/>
        </p:nvGrpSpPr>
        <p:grpSpPr>
          <a:xfrm rot="-3599469">
            <a:off x="9339702" y="10331446"/>
            <a:ext cx="1433369" cy="47625"/>
            <a:chOff x="0" y="0"/>
            <a:chExt cx="1911159" cy="63500"/>
          </a:xfrm>
        </p:grpSpPr>
        <p:sp>
          <p:nvSpPr>
            <p:cNvPr name="Freeform 12" id="12"/>
            <p:cNvSpPr/>
            <p:nvPr/>
          </p:nvSpPr>
          <p:spPr>
            <a:xfrm flipH="false" flipV="false" rot="0">
              <a:off x="0" y="0"/>
              <a:ext cx="1911096" cy="63500"/>
            </a:xfrm>
            <a:custGeom>
              <a:avLst/>
              <a:gdLst/>
              <a:ahLst/>
              <a:cxnLst/>
              <a:rect r="r" b="b" t="t" l="l"/>
              <a:pathLst>
                <a:path h="63500" w="1911096">
                  <a:moveTo>
                    <a:pt x="0" y="0"/>
                  </a:moveTo>
                  <a:lnTo>
                    <a:pt x="1911096" y="0"/>
                  </a:lnTo>
                  <a:lnTo>
                    <a:pt x="1911096" y="63500"/>
                  </a:lnTo>
                  <a:lnTo>
                    <a:pt x="0" y="63500"/>
                  </a:lnTo>
                  <a:lnTo>
                    <a:pt x="0" y="0"/>
                  </a:lnTo>
                  <a:close/>
                </a:path>
              </a:pathLst>
            </a:custGeom>
            <a:blipFill>
              <a:blip r:embed="rId7"/>
              <a:stretch>
                <a:fillRect l="0" t="-1507157" r="-3" b="-1507157"/>
              </a:stretch>
            </a:blipFill>
          </p:spPr>
        </p:sp>
      </p:gr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972417" y="-2665598"/>
            <a:ext cx="19929383" cy="13477245"/>
          </a:xfrm>
          <a:custGeom>
            <a:avLst/>
            <a:gdLst/>
            <a:ahLst/>
            <a:cxnLst/>
            <a:rect r="r" b="b" t="t" l="l"/>
            <a:pathLst>
              <a:path h="13477245" w="19929383">
                <a:moveTo>
                  <a:pt x="0" y="0"/>
                </a:moveTo>
                <a:lnTo>
                  <a:pt x="19929383" y="0"/>
                </a:lnTo>
                <a:lnTo>
                  <a:pt x="19929383" y="13477245"/>
                </a:lnTo>
                <a:lnTo>
                  <a:pt x="0" y="13477245"/>
                </a:lnTo>
                <a:lnTo>
                  <a:pt x="0" y="0"/>
                </a:lnTo>
                <a:close/>
              </a:path>
            </a:pathLst>
          </a:custGeom>
          <a:blipFill>
            <a:blip r:embed="rId2">
              <a:alphaModFix amt="55000"/>
              <a:extLst>
                <a:ext uri="{96DAC541-7B7A-43D3-8B79-37D633B846F1}">
                  <asvg:svgBlip xmlns:asvg="http://schemas.microsoft.com/office/drawing/2016/SVG/main" r:embed="rId3"/>
                </a:ext>
              </a:extLst>
            </a:blip>
            <a:stretch>
              <a:fillRect l="0" t="-92" r="0" b="-92"/>
            </a:stretch>
          </a:blipFill>
        </p:spPr>
      </p:sp>
      <p:sp>
        <p:nvSpPr>
          <p:cNvPr name="Freeform 3" id="3"/>
          <p:cNvSpPr/>
          <p:nvPr/>
        </p:nvSpPr>
        <p:spPr>
          <a:xfrm flipH="false" flipV="false" rot="0">
            <a:off x="-2366630" y="7281974"/>
            <a:ext cx="3395330" cy="3807991"/>
          </a:xfrm>
          <a:custGeom>
            <a:avLst/>
            <a:gdLst/>
            <a:ahLst/>
            <a:cxnLst/>
            <a:rect r="r" b="b" t="t" l="l"/>
            <a:pathLst>
              <a:path h="3807991" w="3395330">
                <a:moveTo>
                  <a:pt x="0" y="0"/>
                </a:moveTo>
                <a:lnTo>
                  <a:pt x="3395330" y="0"/>
                </a:lnTo>
                <a:lnTo>
                  <a:pt x="3395330" y="3807991"/>
                </a:lnTo>
                <a:lnTo>
                  <a:pt x="0" y="380799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7259300" y="-947626"/>
            <a:ext cx="3395330" cy="3807991"/>
          </a:xfrm>
          <a:custGeom>
            <a:avLst/>
            <a:gdLst/>
            <a:ahLst/>
            <a:cxnLst/>
            <a:rect r="r" b="b" t="t" l="l"/>
            <a:pathLst>
              <a:path h="3807991" w="3395330">
                <a:moveTo>
                  <a:pt x="0" y="0"/>
                </a:moveTo>
                <a:lnTo>
                  <a:pt x="3395330" y="0"/>
                </a:lnTo>
                <a:lnTo>
                  <a:pt x="3395330" y="3807991"/>
                </a:lnTo>
                <a:lnTo>
                  <a:pt x="0" y="380799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5" id="5"/>
          <p:cNvGrpSpPr/>
          <p:nvPr/>
        </p:nvGrpSpPr>
        <p:grpSpPr>
          <a:xfrm rot="0">
            <a:off x="9797215" y="174645"/>
            <a:ext cx="71408" cy="649053"/>
            <a:chOff x="0" y="0"/>
            <a:chExt cx="95210" cy="865404"/>
          </a:xfrm>
        </p:grpSpPr>
        <p:sp>
          <p:nvSpPr>
            <p:cNvPr name="Freeform 6" id="6"/>
            <p:cNvSpPr/>
            <p:nvPr/>
          </p:nvSpPr>
          <p:spPr>
            <a:xfrm flipH="false" flipV="false" rot="0">
              <a:off x="0" y="0"/>
              <a:ext cx="95250" cy="865378"/>
            </a:xfrm>
            <a:custGeom>
              <a:avLst/>
              <a:gdLst/>
              <a:ahLst/>
              <a:cxnLst/>
              <a:rect r="r" b="b" t="t" l="l"/>
              <a:pathLst>
                <a:path h="865378" w="95250">
                  <a:moveTo>
                    <a:pt x="0" y="0"/>
                  </a:moveTo>
                  <a:lnTo>
                    <a:pt x="95250" y="0"/>
                  </a:lnTo>
                  <a:lnTo>
                    <a:pt x="95250" y="865378"/>
                  </a:lnTo>
                  <a:lnTo>
                    <a:pt x="0" y="865378"/>
                  </a:lnTo>
                  <a:lnTo>
                    <a:pt x="0" y="0"/>
                  </a:lnTo>
                  <a:close/>
                </a:path>
              </a:pathLst>
            </a:custGeom>
            <a:blipFill>
              <a:blip r:embed="rId6"/>
              <a:stretch>
                <a:fillRect l="-406202" t="0" r="-406160" b="-3"/>
              </a:stretch>
            </a:blipFill>
          </p:spPr>
        </p:sp>
      </p:grpSp>
      <p:grpSp>
        <p:nvGrpSpPr>
          <p:cNvPr name="Group 7" id="7"/>
          <p:cNvGrpSpPr/>
          <p:nvPr/>
        </p:nvGrpSpPr>
        <p:grpSpPr>
          <a:xfrm rot="0">
            <a:off x="10435445" y="5587551"/>
            <a:ext cx="50177" cy="456080"/>
            <a:chOff x="0" y="0"/>
            <a:chExt cx="66903" cy="608107"/>
          </a:xfrm>
        </p:grpSpPr>
        <p:sp>
          <p:nvSpPr>
            <p:cNvPr name="Freeform 8" id="8"/>
            <p:cNvSpPr/>
            <p:nvPr/>
          </p:nvSpPr>
          <p:spPr>
            <a:xfrm flipH="false" flipV="false" rot="0">
              <a:off x="0" y="0"/>
              <a:ext cx="66929" cy="608076"/>
            </a:xfrm>
            <a:custGeom>
              <a:avLst/>
              <a:gdLst/>
              <a:ahLst/>
              <a:cxnLst/>
              <a:rect r="r" b="b" t="t" l="l"/>
              <a:pathLst>
                <a:path h="608076" w="66929">
                  <a:moveTo>
                    <a:pt x="0" y="0"/>
                  </a:moveTo>
                  <a:lnTo>
                    <a:pt x="66929" y="0"/>
                  </a:lnTo>
                  <a:lnTo>
                    <a:pt x="66929" y="608076"/>
                  </a:lnTo>
                  <a:lnTo>
                    <a:pt x="0" y="608076"/>
                  </a:lnTo>
                  <a:lnTo>
                    <a:pt x="0" y="0"/>
                  </a:lnTo>
                  <a:close/>
                </a:path>
              </a:pathLst>
            </a:custGeom>
            <a:blipFill>
              <a:blip r:embed="rId7"/>
              <a:stretch>
                <a:fillRect l="-404312" t="0" r="-404273" b="-5"/>
              </a:stretch>
            </a:blipFill>
          </p:spPr>
        </p:sp>
      </p:grpSp>
      <p:grpSp>
        <p:nvGrpSpPr>
          <p:cNvPr name="Group 9" id="9"/>
          <p:cNvGrpSpPr/>
          <p:nvPr/>
        </p:nvGrpSpPr>
        <p:grpSpPr>
          <a:xfrm rot="0">
            <a:off x="9934073" y="9562344"/>
            <a:ext cx="57147" cy="519431"/>
            <a:chOff x="0" y="0"/>
            <a:chExt cx="76196" cy="692575"/>
          </a:xfrm>
        </p:grpSpPr>
        <p:sp>
          <p:nvSpPr>
            <p:cNvPr name="Freeform 10" id="10"/>
            <p:cNvSpPr/>
            <p:nvPr/>
          </p:nvSpPr>
          <p:spPr>
            <a:xfrm flipH="false" flipV="false" rot="0">
              <a:off x="0" y="0"/>
              <a:ext cx="76200" cy="692531"/>
            </a:xfrm>
            <a:custGeom>
              <a:avLst/>
              <a:gdLst/>
              <a:ahLst/>
              <a:cxnLst/>
              <a:rect r="r" b="b" t="t" l="l"/>
              <a:pathLst>
                <a:path h="692531" w="76200">
                  <a:moveTo>
                    <a:pt x="0" y="0"/>
                  </a:moveTo>
                  <a:lnTo>
                    <a:pt x="76200" y="0"/>
                  </a:lnTo>
                  <a:lnTo>
                    <a:pt x="76200" y="692531"/>
                  </a:lnTo>
                  <a:lnTo>
                    <a:pt x="0" y="692531"/>
                  </a:lnTo>
                  <a:lnTo>
                    <a:pt x="0" y="0"/>
                  </a:lnTo>
                  <a:close/>
                </a:path>
              </a:pathLst>
            </a:custGeom>
            <a:blipFill>
              <a:blip r:embed="rId8"/>
              <a:stretch>
                <a:fillRect l="-406349" t="0" r="-406344" b="-6"/>
              </a:stretch>
            </a:blipFill>
          </p:spPr>
        </p:sp>
      </p:grpSp>
      <p:grpSp>
        <p:nvGrpSpPr>
          <p:cNvPr name="Group 11" id="11"/>
          <p:cNvGrpSpPr/>
          <p:nvPr/>
        </p:nvGrpSpPr>
        <p:grpSpPr>
          <a:xfrm rot="-3599469">
            <a:off x="9339702" y="10331446"/>
            <a:ext cx="1433369" cy="47625"/>
            <a:chOff x="0" y="0"/>
            <a:chExt cx="1911159" cy="63500"/>
          </a:xfrm>
        </p:grpSpPr>
        <p:sp>
          <p:nvSpPr>
            <p:cNvPr name="Freeform 12" id="12"/>
            <p:cNvSpPr/>
            <p:nvPr/>
          </p:nvSpPr>
          <p:spPr>
            <a:xfrm flipH="false" flipV="false" rot="0">
              <a:off x="0" y="0"/>
              <a:ext cx="1911096" cy="63500"/>
            </a:xfrm>
            <a:custGeom>
              <a:avLst/>
              <a:gdLst/>
              <a:ahLst/>
              <a:cxnLst/>
              <a:rect r="r" b="b" t="t" l="l"/>
              <a:pathLst>
                <a:path h="63500" w="1911096">
                  <a:moveTo>
                    <a:pt x="0" y="0"/>
                  </a:moveTo>
                  <a:lnTo>
                    <a:pt x="1911096" y="0"/>
                  </a:lnTo>
                  <a:lnTo>
                    <a:pt x="1911096" y="63500"/>
                  </a:lnTo>
                  <a:lnTo>
                    <a:pt x="0" y="63500"/>
                  </a:lnTo>
                  <a:lnTo>
                    <a:pt x="0" y="0"/>
                  </a:lnTo>
                  <a:close/>
                </a:path>
              </a:pathLst>
            </a:custGeom>
            <a:blipFill>
              <a:blip r:embed="rId9"/>
              <a:stretch>
                <a:fillRect l="0" t="-1507157" r="-3" b="-1507157"/>
              </a:stretch>
            </a:blipFill>
          </p:spPr>
        </p:sp>
      </p:grpSp>
      <p:sp>
        <p:nvSpPr>
          <p:cNvPr name="TextBox 13" id="13"/>
          <p:cNvSpPr txBox="true"/>
          <p:nvPr/>
        </p:nvSpPr>
        <p:spPr>
          <a:xfrm rot="0">
            <a:off x="1208088" y="833223"/>
            <a:ext cx="15568373" cy="8194710"/>
          </a:xfrm>
          <a:prstGeom prst="rect">
            <a:avLst/>
          </a:prstGeom>
        </p:spPr>
        <p:txBody>
          <a:bodyPr anchor="t" rtlCol="false" tIns="0" lIns="0" bIns="0" rIns="0">
            <a:spAutoFit/>
          </a:bodyPr>
          <a:lstStyle/>
          <a:p>
            <a:pPr algn="ctr">
              <a:lnSpc>
                <a:spcPts val="8414"/>
              </a:lnSpc>
            </a:pPr>
            <a:r>
              <a:rPr lang="en-US" b="true" sz="7131">
                <a:solidFill>
                  <a:srgbClr val="2B4863"/>
                </a:solidFill>
                <a:latin typeface="Noto Sans Bold"/>
                <a:ea typeface="Noto Sans Bold"/>
                <a:cs typeface="Noto Sans Bold"/>
                <a:sym typeface="Noto Sans Bold"/>
              </a:rPr>
              <a:t>Strategy</a:t>
            </a:r>
          </a:p>
          <a:p>
            <a:pPr algn="ctr">
              <a:lnSpc>
                <a:spcPts val="8415"/>
              </a:lnSpc>
            </a:pPr>
          </a:p>
          <a:p>
            <a:pPr algn="ctr" rtl="true">
              <a:lnSpc>
                <a:spcPts val="4023"/>
              </a:lnSpc>
            </a:pPr>
          </a:p>
          <a:p>
            <a:pPr algn="ctr" rtl="true">
              <a:lnSpc>
                <a:spcPts val="4023"/>
              </a:lnSpc>
            </a:pPr>
            <a:r>
              <a:rPr lang="en-US" b="true" sz="3409">
                <a:solidFill>
                  <a:srgbClr val="2B4863"/>
                </a:solidFill>
                <a:latin typeface="Droid Arabic Naskh Bold"/>
                <a:ea typeface="Droid Arabic Naskh Bold"/>
                <a:cs typeface="Droid Arabic Naskh Bold"/>
                <a:sym typeface="Droid Arabic Naskh Bold"/>
              </a:rPr>
              <a:t>Positioning: “The local store that understands the needs of Banha families and offers everything they need in one place</a:t>
            </a:r>
            <a:r>
              <a:rPr lang="ar-EG" b="true" sz="3409">
                <a:solidFill>
                  <a:srgbClr val="2B4863"/>
                </a:solidFill>
                <a:latin typeface="Droid Arabic Naskh Bold"/>
                <a:ea typeface="Droid Arabic Naskh Bold"/>
                <a:cs typeface="Droid Arabic Naskh Bold"/>
                <a:sym typeface="Droid Arabic Naskh Bold"/>
                <a:rtl val="true"/>
              </a:rPr>
              <a:t>.”</a:t>
            </a:r>
          </a:p>
          <a:p>
            <a:pPr algn="ctr">
              <a:lnSpc>
                <a:spcPts val="4023"/>
              </a:lnSpc>
            </a:pPr>
          </a:p>
          <a:p>
            <a:pPr algn="ctr" rtl="true">
              <a:lnSpc>
                <a:spcPts val="4023"/>
              </a:lnSpc>
            </a:pPr>
            <a:r>
              <a:rPr lang="en-US" b="true" sz="3409">
                <a:solidFill>
                  <a:srgbClr val="2B4863"/>
                </a:solidFill>
                <a:latin typeface="Droid Arabic Naskh Bold"/>
                <a:ea typeface="Droid Arabic Naskh Bold"/>
                <a:cs typeface="Droid Arabic Naskh Bold"/>
                <a:sym typeface="Droid Arabic Naskh Bold"/>
              </a:rPr>
              <a:t>Value Proposition: Reliable quality, reasonable prices, and convenie and fast digital service</a:t>
            </a:r>
            <a:r>
              <a:rPr lang="ar-EG" b="true" sz="3409">
                <a:solidFill>
                  <a:srgbClr val="2B4863"/>
                </a:solidFill>
                <a:latin typeface="Droid Arabic Naskh Bold"/>
                <a:ea typeface="Droid Arabic Naskh Bold"/>
                <a:cs typeface="Droid Arabic Naskh Bold"/>
                <a:sym typeface="Droid Arabic Naskh Bold"/>
                <a:rtl val="true"/>
              </a:rPr>
              <a:t>.</a:t>
            </a:r>
          </a:p>
          <a:p>
            <a:pPr algn="ctr" rtl="true">
              <a:lnSpc>
                <a:spcPts val="4023"/>
              </a:lnSpc>
            </a:pPr>
          </a:p>
          <a:p>
            <a:pPr algn="ctr" rtl="true">
              <a:lnSpc>
                <a:spcPts val="4023"/>
              </a:lnSpc>
            </a:pPr>
            <a:r>
              <a:rPr lang="en-US" b="true" sz="3409">
                <a:solidFill>
                  <a:srgbClr val="2B4863"/>
                </a:solidFill>
                <a:latin typeface="Droid Arabic Naskh Bold"/>
                <a:ea typeface="Droid Arabic Naskh Bold"/>
                <a:cs typeface="Droid Arabic Naskh Bold"/>
                <a:sym typeface="Droid Arabic Naskh Bold"/>
              </a:rPr>
              <a:t>Targeting: Focusing on families in Banha through the most active local social media platforms (Facebook, WhatsApp, Telegram)</a:t>
            </a:r>
            <a:r>
              <a:rPr lang="ar-EG" b="true" sz="3409">
                <a:solidFill>
                  <a:srgbClr val="2B4863"/>
                </a:solidFill>
                <a:latin typeface="Droid Arabic Naskh Bold"/>
                <a:ea typeface="Droid Arabic Naskh Bold"/>
                <a:cs typeface="Droid Arabic Naskh Bold"/>
                <a:sym typeface="Droid Arabic Naskh Bold"/>
                <a:rtl val="true"/>
              </a:rPr>
              <a:t>.</a:t>
            </a:r>
          </a:p>
          <a:p>
            <a:pPr algn="ctr" rtl="true">
              <a:lnSpc>
                <a:spcPts val="4023"/>
              </a:lnSpc>
            </a:pPr>
          </a:p>
          <a:p>
            <a:pPr algn="ctr" rtl="true">
              <a:lnSpc>
                <a:spcPts val="4023"/>
              </a:lnSpc>
            </a:pPr>
            <a:r>
              <a:rPr lang="en-US" b="true" sz="3409">
                <a:solidFill>
                  <a:srgbClr val="2B4863"/>
                </a:solidFill>
                <a:latin typeface="Droid Arabic Naskh Bold"/>
                <a:ea typeface="Droid Arabic Naskh Bold"/>
                <a:cs typeface="Droid Arabic Naskh Bold"/>
                <a:sym typeface="Droid Arabic Naskh Bold"/>
              </a:rPr>
              <a:t>Tone of Voice: Friendly, reliable, approachable, and emphasizing the family aspect</a:t>
            </a:r>
            <a:r>
              <a:rPr lang="ar-EG" b="true" sz="3409">
                <a:solidFill>
                  <a:srgbClr val="2B4863"/>
                </a:solidFill>
                <a:latin typeface="Droid Arabic Naskh Bold"/>
                <a:ea typeface="Droid Arabic Naskh Bold"/>
                <a:cs typeface="Droid Arabic Naskh Bold"/>
                <a:sym typeface="Droid Arabic Naskh Bold"/>
                <a:rtl val="true"/>
              </a:rPr>
              <a:t>.</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129468" y="0"/>
            <a:ext cx="16129832" cy="10638120"/>
          </a:xfrm>
          <a:custGeom>
            <a:avLst/>
            <a:gdLst/>
            <a:ahLst/>
            <a:cxnLst/>
            <a:rect r="r" b="b" t="t" l="l"/>
            <a:pathLst>
              <a:path h="10638120" w="16129832">
                <a:moveTo>
                  <a:pt x="0" y="0"/>
                </a:moveTo>
                <a:lnTo>
                  <a:pt x="16129832" y="0"/>
                </a:lnTo>
                <a:lnTo>
                  <a:pt x="16129832" y="10638120"/>
                </a:lnTo>
                <a:lnTo>
                  <a:pt x="0" y="10638120"/>
                </a:lnTo>
                <a:lnTo>
                  <a:pt x="0" y="0"/>
                </a:lnTo>
                <a:close/>
              </a:path>
            </a:pathLst>
          </a:custGeom>
          <a:blipFill>
            <a:blip r:embed="rId2"/>
            <a:stretch>
              <a:fillRect l="-955" t="-3014" r="-955" b="0"/>
            </a:stretch>
          </a:blipFill>
        </p:spPr>
      </p:sp>
    </p:spTree>
  </p:cSld>
  <p:clrMapOvr>
    <a:masterClrMapping/>
  </p:clrMapOvr>
</p:sld>
</file>

<file path=ppt/slides/slide2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0" y="378083"/>
            <a:ext cx="18144366" cy="8202024"/>
          </a:xfrm>
          <a:prstGeom prst="rect">
            <a:avLst/>
          </a:prstGeom>
        </p:spPr>
        <p:txBody>
          <a:bodyPr anchor="t" rtlCol="false" tIns="0" lIns="0" bIns="0" rIns="0">
            <a:spAutoFit/>
          </a:bodyPr>
          <a:lstStyle/>
          <a:p>
            <a:pPr algn="ctr">
              <a:lnSpc>
                <a:spcPts val="4097"/>
              </a:lnSpc>
            </a:pPr>
            <a:r>
              <a:rPr lang="en-US" sz="2926" b="true">
                <a:solidFill>
                  <a:srgbClr val="18BBB5"/>
                </a:solidFill>
                <a:latin typeface="Canva Sans Bold"/>
                <a:ea typeface="Canva Sans Bold"/>
                <a:cs typeface="Canva Sans Bold"/>
                <a:sym typeface="Canva Sans Bold"/>
              </a:rPr>
              <a:t>2. Content Pillars (The 3Cs Strategy)</a:t>
            </a:r>
          </a:p>
          <a:p>
            <a:pPr algn="ctr">
              <a:lnSpc>
                <a:spcPts val="4097"/>
              </a:lnSpc>
            </a:pPr>
            <a:r>
              <a:rPr lang="en-US" sz="2926" b="true">
                <a:solidFill>
                  <a:srgbClr val="000000"/>
                </a:solidFill>
                <a:latin typeface="Canva Sans Bold"/>
                <a:ea typeface="Canva Sans Bold"/>
                <a:cs typeface="Canva Sans Bold"/>
                <a:sym typeface="Canva Sans Bold"/>
              </a:rPr>
              <a:t>​</a:t>
            </a:r>
            <a:r>
              <a:rPr lang="en-US" sz="2926" b="true">
                <a:solidFill>
                  <a:srgbClr val="153153"/>
                </a:solidFill>
                <a:latin typeface="Canva Sans Bold"/>
                <a:ea typeface="Canva Sans Bold"/>
                <a:cs typeface="Canva Sans Bold"/>
                <a:sym typeface="Canva Sans Bold"/>
              </a:rPr>
              <a:t>Content Hubs: The entire strategy revolves around the three core product categories (3Cs): Beauty, Cleaning, and Baby Care. ​</a:t>
            </a:r>
          </a:p>
          <a:p>
            <a:pPr algn="ctr">
              <a:lnSpc>
                <a:spcPts val="4097"/>
              </a:lnSpc>
            </a:pPr>
            <a:r>
              <a:rPr lang="en-US" sz="2926" b="true">
                <a:solidFill>
                  <a:srgbClr val="153153"/>
                </a:solidFill>
                <a:latin typeface="Canva Sans Bold"/>
                <a:ea typeface="Canva Sans Bold"/>
                <a:cs typeface="Canva Sans Bold"/>
                <a:sym typeface="Canva Sans Bold"/>
              </a:rPr>
              <a:t>Consistency: The weekly content calendar ensures equal representation of all 3Cs to appeal to all segments of the target</a:t>
            </a:r>
            <a:r>
              <a:rPr lang="en-US" sz="2926" b="true">
                <a:solidFill>
                  <a:srgbClr val="000000"/>
                </a:solidFill>
                <a:latin typeface="Canva Sans Bold"/>
                <a:ea typeface="Canva Sans Bold"/>
                <a:cs typeface="Canva Sans Bold"/>
                <a:sym typeface="Canva Sans Bold"/>
              </a:rPr>
              <a:t> </a:t>
            </a:r>
            <a:r>
              <a:rPr lang="en-US" sz="2926" b="true">
                <a:solidFill>
                  <a:srgbClr val="153153"/>
                </a:solidFill>
                <a:latin typeface="Canva Sans Bold"/>
                <a:ea typeface="Canva Sans Bold"/>
                <a:cs typeface="Canva Sans Bold"/>
                <a:sym typeface="Canva Sans Bold"/>
              </a:rPr>
              <a:t>audience. </a:t>
            </a:r>
          </a:p>
          <a:p>
            <a:pPr algn="ctr">
              <a:lnSpc>
                <a:spcPts val="4097"/>
              </a:lnSpc>
            </a:pPr>
            <a:r>
              <a:rPr lang="en-US" sz="2926" b="true">
                <a:solidFill>
                  <a:srgbClr val="18BBB5"/>
                </a:solidFill>
                <a:latin typeface="Canva Sans Bold"/>
                <a:ea typeface="Canva Sans Bold"/>
                <a:cs typeface="Canva Sans Bold"/>
                <a:sym typeface="Canva Sans Bold"/>
              </a:rPr>
              <a:t>​3. Influencer &amp; Engagement Plan</a:t>
            </a:r>
          </a:p>
          <a:p>
            <a:pPr algn="ctr">
              <a:lnSpc>
                <a:spcPts val="4097"/>
              </a:lnSpc>
            </a:pPr>
            <a:r>
              <a:rPr lang="en-US" sz="2926" b="true">
                <a:solidFill>
                  <a:srgbClr val="000000"/>
                </a:solidFill>
                <a:latin typeface="Canva Sans Bold"/>
                <a:ea typeface="Canva Sans Bold"/>
                <a:cs typeface="Canva Sans Bold"/>
                <a:sym typeface="Canva Sans Bold"/>
              </a:rPr>
              <a:t>​</a:t>
            </a:r>
            <a:r>
              <a:rPr lang="en-US" sz="2926" b="true">
                <a:solidFill>
                  <a:srgbClr val="153153"/>
                </a:solidFill>
                <a:latin typeface="Canva Sans Bold"/>
                <a:ea typeface="Canva Sans Bold"/>
                <a:cs typeface="Canva Sans Bold"/>
                <a:sym typeface="Canva Sans Bold"/>
              </a:rPr>
              <a:t>Influencer Strategy: Collaborate monthly with 5-8 local Micro-Influencers from Banha to ensure authenticity and highly</a:t>
            </a:r>
            <a:r>
              <a:rPr lang="en-US" sz="2926" b="true">
                <a:solidFill>
                  <a:srgbClr val="000000"/>
                </a:solidFill>
                <a:latin typeface="Canva Sans Bold"/>
                <a:ea typeface="Canva Sans Bold"/>
                <a:cs typeface="Canva Sans Bold"/>
                <a:sym typeface="Canva Sans Bold"/>
              </a:rPr>
              <a:t> </a:t>
            </a:r>
            <a:r>
              <a:rPr lang="en-US" sz="2926" b="true">
                <a:solidFill>
                  <a:srgbClr val="153153"/>
                </a:solidFill>
                <a:latin typeface="Canva Sans Bold"/>
                <a:ea typeface="Canva Sans Bold"/>
                <a:cs typeface="Canva Sans Bold"/>
                <a:sym typeface="Canva Sans Bold"/>
              </a:rPr>
              <a:t>localized reach. ​</a:t>
            </a:r>
          </a:p>
          <a:p>
            <a:pPr algn="ctr">
              <a:lnSpc>
                <a:spcPts val="4097"/>
              </a:lnSpc>
            </a:pPr>
          </a:p>
          <a:p>
            <a:pPr algn="ctr">
              <a:lnSpc>
                <a:spcPts val="4097"/>
              </a:lnSpc>
            </a:pPr>
            <a:r>
              <a:rPr lang="en-US" sz="2926" b="true">
                <a:solidFill>
                  <a:srgbClr val="153153"/>
                </a:solidFill>
                <a:latin typeface="Canva Sans Bold"/>
                <a:ea typeface="Canva Sans Bold"/>
                <a:cs typeface="Canva Sans Bold"/>
                <a:sym typeface="Canva Sans Bold"/>
              </a:rPr>
              <a:t>The TikTok Rule: Maintain an 80% Entertainment / 20% Marketing content ratio on TikTok to ensure high organic reach and participation. </a:t>
            </a:r>
          </a:p>
          <a:p>
            <a:pPr algn="ctr">
              <a:lnSpc>
                <a:spcPts val="4097"/>
              </a:lnSpc>
            </a:pPr>
          </a:p>
          <a:p>
            <a:pPr algn="ctr">
              <a:lnSpc>
                <a:spcPts val="4097"/>
              </a:lnSpc>
            </a:pPr>
            <a:r>
              <a:rPr lang="en-US" sz="2926" b="true">
                <a:solidFill>
                  <a:srgbClr val="153153"/>
                </a:solidFill>
                <a:latin typeface="Canva Sans Bold"/>
                <a:ea typeface="Canva Sans Bold"/>
                <a:cs typeface="Canva Sans Bold"/>
                <a:sym typeface="Canva Sans Bold"/>
              </a:rPr>
              <a:t>​Goal: Drive authentic User-Generated Content (UGC) by featuring customer success stories and reviews weekly. </a:t>
            </a:r>
          </a:p>
          <a:p>
            <a:pPr algn="ctr">
              <a:lnSpc>
                <a:spcPts val="4097"/>
              </a:lnSpc>
            </a:pPr>
          </a:p>
          <a:p>
            <a:pPr algn="ctr">
              <a:lnSpc>
                <a:spcPts val="4097"/>
              </a:lnSpc>
            </a:pP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972417" y="-2665598"/>
            <a:ext cx="19929383" cy="13477245"/>
          </a:xfrm>
          <a:custGeom>
            <a:avLst/>
            <a:gdLst/>
            <a:ahLst/>
            <a:cxnLst/>
            <a:rect r="r" b="b" t="t" l="l"/>
            <a:pathLst>
              <a:path h="13477245" w="19929383">
                <a:moveTo>
                  <a:pt x="0" y="0"/>
                </a:moveTo>
                <a:lnTo>
                  <a:pt x="19929383" y="0"/>
                </a:lnTo>
                <a:lnTo>
                  <a:pt x="19929383" y="13477245"/>
                </a:lnTo>
                <a:lnTo>
                  <a:pt x="0" y="13477245"/>
                </a:lnTo>
                <a:lnTo>
                  <a:pt x="0" y="0"/>
                </a:lnTo>
                <a:close/>
              </a:path>
            </a:pathLst>
          </a:custGeom>
          <a:blipFill>
            <a:blip r:embed="rId2">
              <a:alphaModFix amt="55000"/>
              <a:extLst>
                <a:ext uri="{96DAC541-7B7A-43D3-8B79-37D633B846F1}">
                  <asvg:svgBlip xmlns:asvg="http://schemas.microsoft.com/office/drawing/2016/SVG/main" r:embed="rId3"/>
                </a:ext>
              </a:extLst>
            </a:blip>
            <a:stretch>
              <a:fillRect l="0" t="-92" r="0" b="-92"/>
            </a:stretch>
          </a:blipFill>
        </p:spPr>
      </p:sp>
      <p:sp>
        <p:nvSpPr>
          <p:cNvPr name="Freeform 3" id="3"/>
          <p:cNvSpPr/>
          <p:nvPr/>
        </p:nvSpPr>
        <p:spPr>
          <a:xfrm flipH="false" flipV="false" rot="0">
            <a:off x="-2366630" y="7281974"/>
            <a:ext cx="3395330" cy="3807991"/>
          </a:xfrm>
          <a:custGeom>
            <a:avLst/>
            <a:gdLst/>
            <a:ahLst/>
            <a:cxnLst/>
            <a:rect r="r" b="b" t="t" l="l"/>
            <a:pathLst>
              <a:path h="3807991" w="3395330">
                <a:moveTo>
                  <a:pt x="0" y="0"/>
                </a:moveTo>
                <a:lnTo>
                  <a:pt x="3395330" y="0"/>
                </a:lnTo>
                <a:lnTo>
                  <a:pt x="3395330" y="3807991"/>
                </a:lnTo>
                <a:lnTo>
                  <a:pt x="0" y="380799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7259300" y="-947626"/>
            <a:ext cx="3395330" cy="3807991"/>
          </a:xfrm>
          <a:custGeom>
            <a:avLst/>
            <a:gdLst/>
            <a:ahLst/>
            <a:cxnLst/>
            <a:rect r="r" b="b" t="t" l="l"/>
            <a:pathLst>
              <a:path h="3807991" w="3395330">
                <a:moveTo>
                  <a:pt x="0" y="0"/>
                </a:moveTo>
                <a:lnTo>
                  <a:pt x="3395330" y="0"/>
                </a:lnTo>
                <a:lnTo>
                  <a:pt x="3395330" y="3807991"/>
                </a:lnTo>
                <a:lnTo>
                  <a:pt x="0" y="380799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4672013" y="4998839"/>
            <a:ext cx="1125867" cy="1266673"/>
          </a:xfrm>
          <a:custGeom>
            <a:avLst/>
            <a:gdLst/>
            <a:ahLst/>
            <a:cxnLst/>
            <a:rect r="r" b="b" t="t" l="l"/>
            <a:pathLst>
              <a:path h="1266673" w="1125867">
                <a:moveTo>
                  <a:pt x="0" y="0"/>
                </a:moveTo>
                <a:lnTo>
                  <a:pt x="1125867" y="0"/>
                </a:lnTo>
                <a:lnTo>
                  <a:pt x="1125867" y="1266673"/>
                </a:lnTo>
                <a:lnTo>
                  <a:pt x="0" y="126667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4672013" y="4998839"/>
            <a:ext cx="1125867" cy="1266673"/>
          </a:xfrm>
          <a:custGeom>
            <a:avLst/>
            <a:gdLst/>
            <a:ahLst/>
            <a:cxnLst/>
            <a:rect r="r" b="b" t="t" l="l"/>
            <a:pathLst>
              <a:path h="1266673" w="1125867">
                <a:moveTo>
                  <a:pt x="0" y="0"/>
                </a:moveTo>
                <a:lnTo>
                  <a:pt x="1125867" y="0"/>
                </a:lnTo>
                <a:lnTo>
                  <a:pt x="1125867" y="1266673"/>
                </a:lnTo>
                <a:lnTo>
                  <a:pt x="0" y="126667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14672013" y="4998839"/>
            <a:ext cx="1125867" cy="1266673"/>
          </a:xfrm>
          <a:custGeom>
            <a:avLst/>
            <a:gdLst/>
            <a:ahLst/>
            <a:cxnLst/>
            <a:rect r="r" b="b" t="t" l="l"/>
            <a:pathLst>
              <a:path h="1266673" w="1125867">
                <a:moveTo>
                  <a:pt x="0" y="0"/>
                </a:moveTo>
                <a:lnTo>
                  <a:pt x="1125867" y="0"/>
                </a:lnTo>
                <a:lnTo>
                  <a:pt x="1125867" y="1266673"/>
                </a:lnTo>
                <a:lnTo>
                  <a:pt x="0" y="126667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8" id="8"/>
          <p:cNvGrpSpPr/>
          <p:nvPr/>
        </p:nvGrpSpPr>
        <p:grpSpPr>
          <a:xfrm rot="0">
            <a:off x="13442007" y="2118755"/>
            <a:ext cx="4511505" cy="6045568"/>
            <a:chOff x="0" y="0"/>
            <a:chExt cx="6015340" cy="8060757"/>
          </a:xfrm>
        </p:grpSpPr>
        <p:sp>
          <p:nvSpPr>
            <p:cNvPr name="Freeform 9" id="9"/>
            <p:cNvSpPr/>
            <p:nvPr/>
          </p:nvSpPr>
          <p:spPr>
            <a:xfrm flipH="false" flipV="false" rot="0">
              <a:off x="0" y="0"/>
              <a:ext cx="6015355" cy="8060817"/>
            </a:xfrm>
            <a:custGeom>
              <a:avLst/>
              <a:gdLst/>
              <a:ahLst/>
              <a:cxnLst/>
              <a:rect r="r" b="b" t="t" l="l"/>
              <a:pathLst>
                <a:path h="8060817" w="6015355">
                  <a:moveTo>
                    <a:pt x="0" y="0"/>
                  </a:moveTo>
                  <a:lnTo>
                    <a:pt x="6015355" y="0"/>
                  </a:lnTo>
                  <a:lnTo>
                    <a:pt x="6015355" y="8060817"/>
                  </a:lnTo>
                  <a:lnTo>
                    <a:pt x="0" y="8060817"/>
                  </a:lnTo>
                  <a:lnTo>
                    <a:pt x="0" y="0"/>
                  </a:lnTo>
                  <a:close/>
                </a:path>
              </a:pathLst>
            </a:custGeom>
            <a:blipFill>
              <a:blip r:embed="rId12"/>
              <a:stretch>
                <a:fillRect l="-69" t="0" r="-69" b="0"/>
              </a:stretch>
            </a:blipFill>
          </p:spPr>
        </p:sp>
      </p:grpSp>
      <p:grpSp>
        <p:nvGrpSpPr>
          <p:cNvPr name="Group 10" id="10"/>
          <p:cNvGrpSpPr/>
          <p:nvPr/>
        </p:nvGrpSpPr>
        <p:grpSpPr>
          <a:xfrm rot="0">
            <a:off x="15708376" y="8385325"/>
            <a:ext cx="418667" cy="418143"/>
            <a:chOff x="0" y="0"/>
            <a:chExt cx="558222" cy="557524"/>
          </a:xfrm>
        </p:grpSpPr>
        <p:sp>
          <p:nvSpPr>
            <p:cNvPr name="Freeform 11" id="11"/>
            <p:cNvSpPr/>
            <p:nvPr/>
          </p:nvSpPr>
          <p:spPr>
            <a:xfrm flipH="false" flipV="false" rot="0">
              <a:off x="0" y="0"/>
              <a:ext cx="558165" cy="557530"/>
            </a:xfrm>
            <a:custGeom>
              <a:avLst/>
              <a:gdLst/>
              <a:ahLst/>
              <a:cxnLst/>
              <a:rect r="r" b="b" t="t" l="l"/>
              <a:pathLst>
                <a:path h="557530" w="558165">
                  <a:moveTo>
                    <a:pt x="0" y="0"/>
                  </a:moveTo>
                  <a:lnTo>
                    <a:pt x="558165" y="0"/>
                  </a:lnTo>
                  <a:lnTo>
                    <a:pt x="558165" y="557530"/>
                  </a:lnTo>
                  <a:lnTo>
                    <a:pt x="0" y="557530"/>
                  </a:lnTo>
                  <a:lnTo>
                    <a:pt x="0" y="0"/>
                  </a:lnTo>
                  <a:close/>
                </a:path>
              </a:pathLst>
            </a:custGeom>
            <a:blipFill>
              <a:blip r:embed="rId13"/>
              <a:stretch>
                <a:fillRect l="0" t="-62" r="-10" b="-61"/>
              </a:stretch>
            </a:blipFill>
          </p:spPr>
        </p:sp>
      </p:grpSp>
      <p:grpSp>
        <p:nvGrpSpPr>
          <p:cNvPr name="Group 12" id="12"/>
          <p:cNvGrpSpPr/>
          <p:nvPr/>
        </p:nvGrpSpPr>
        <p:grpSpPr>
          <a:xfrm rot="0">
            <a:off x="12942137" y="3156916"/>
            <a:ext cx="337815" cy="337393"/>
            <a:chOff x="0" y="0"/>
            <a:chExt cx="450420" cy="449857"/>
          </a:xfrm>
        </p:grpSpPr>
        <p:sp>
          <p:nvSpPr>
            <p:cNvPr name="Freeform 13" id="13"/>
            <p:cNvSpPr/>
            <p:nvPr/>
          </p:nvSpPr>
          <p:spPr>
            <a:xfrm flipH="false" flipV="false" rot="0">
              <a:off x="0" y="0"/>
              <a:ext cx="450469" cy="449834"/>
            </a:xfrm>
            <a:custGeom>
              <a:avLst/>
              <a:gdLst/>
              <a:ahLst/>
              <a:cxnLst/>
              <a:rect r="r" b="b" t="t" l="l"/>
              <a:pathLst>
                <a:path h="449834" w="450469">
                  <a:moveTo>
                    <a:pt x="0" y="0"/>
                  </a:moveTo>
                  <a:lnTo>
                    <a:pt x="450469" y="0"/>
                  </a:lnTo>
                  <a:lnTo>
                    <a:pt x="450469" y="449834"/>
                  </a:lnTo>
                  <a:lnTo>
                    <a:pt x="0" y="449834"/>
                  </a:lnTo>
                  <a:lnTo>
                    <a:pt x="0" y="0"/>
                  </a:lnTo>
                  <a:close/>
                </a:path>
              </a:pathLst>
            </a:custGeom>
            <a:blipFill>
              <a:blip r:embed="rId14"/>
              <a:stretch>
                <a:fillRect l="-146" t="0" r="-135" b="-5"/>
              </a:stretch>
            </a:blipFill>
          </p:spPr>
        </p:sp>
      </p:grpSp>
      <p:grpSp>
        <p:nvGrpSpPr>
          <p:cNvPr name="Group 14" id="14"/>
          <p:cNvGrpSpPr/>
          <p:nvPr/>
        </p:nvGrpSpPr>
        <p:grpSpPr>
          <a:xfrm rot="-1777721">
            <a:off x="12607648" y="-53527"/>
            <a:ext cx="1754636" cy="1419062"/>
            <a:chOff x="0" y="0"/>
            <a:chExt cx="2339515" cy="1892083"/>
          </a:xfrm>
        </p:grpSpPr>
        <p:sp>
          <p:nvSpPr>
            <p:cNvPr name="Freeform 15" id="15"/>
            <p:cNvSpPr/>
            <p:nvPr/>
          </p:nvSpPr>
          <p:spPr>
            <a:xfrm flipH="false" flipV="false" rot="0">
              <a:off x="0" y="0"/>
              <a:ext cx="2339467" cy="1892046"/>
            </a:xfrm>
            <a:custGeom>
              <a:avLst/>
              <a:gdLst/>
              <a:ahLst/>
              <a:cxnLst/>
              <a:rect r="r" b="b" t="t" l="l"/>
              <a:pathLst>
                <a:path h="1892046" w="2339467">
                  <a:moveTo>
                    <a:pt x="0" y="0"/>
                  </a:moveTo>
                  <a:lnTo>
                    <a:pt x="2339467" y="0"/>
                  </a:lnTo>
                  <a:lnTo>
                    <a:pt x="2339467" y="1892046"/>
                  </a:lnTo>
                  <a:lnTo>
                    <a:pt x="0" y="1892046"/>
                  </a:lnTo>
                  <a:lnTo>
                    <a:pt x="0" y="0"/>
                  </a:lnTo>
                  <a:close/>
                </a:path>
              </a:pathLst>
            </a:custGeom>
            <a:blipFill>
              <a:blip r:embed="rId15"/>
              <a:stretch>
                <a:fillRect l="0" t="-47" r="-2" b="-49"/>
              </a:stretch>
            </a:blipFill>
          </p:spPr>
        </p:sp>
      </p:grpSp>
      <p:grpSp>
        <p:nvGrpSpPr>
          <p:cNvPr name="Group 16" id="16"/>
          <p:cNvGrpSpPr/>
          <p:nvPr/>
        </p:nvGrpSpPr>
        <p:grpSpPr>
          <a:xfrm rot="2456265">
            <a:off x="17433369" y="8034715"/>
            <a:ext cx="1424464" cy="1644403"/>
            <a:chOff x="0" y="0"/>
            <a:chExt cx="1899285" cy="2192537"/>
          </a:xfrm>
        </p:grpSpPr>
        <p:sp>
          <p:nvSpPr>
            <p:cNvPr name="Freeform 17" id="17"/>
            <p:cNvSpPr/>
            <p:nvPr/>
          </p:nvSpPr>
          <p:spPr>
            <a:xfrm flipH="false" flipV="false" rot="0">
              <a:off x="0" y="0"/>
              <a:ext cx="1899285" cy="2192528"/>
            </a:xfrm>
            <a:custGeom>
              <a:avLst/>
              <a:gdLst/>
              <a:ahLst/>
              <a:cxnLst/>
              <a:rect r="r" b="b" t="t" l="l"/>
              <a:pathLst>
                <a:path h="2192528" w="1899285">
                  <a:moveTo>
                    <a:pt x="0" y="0"/>
                  </a:moveTo>
                  <a:lnTo>
                    <a:pt x="1899285" y="0"/>
                  </a:lnTo>
                  <a:lnTo>
                    <a:pt x="1899285" y="2192528"/>
                  </a:lnTo>
                  <a:lnTo>
                    <a:pt x="0" y="2192528"/>
                  </a:lnTo>
                  <a:lnTo>
                    <a:pt x="0" y="0"/>
                  </a:lnTo>
                  <a:close/>
                </a:path>
              </a:pathLst>
            </a:custGeom>
            <a:blipFill>
              <a:blip r:embed="rId16"/>
              <a:stretch>
                <a:fillRect l="-70" t="0" r="-70" b="0"/>
              </a:stretch>
            </a:blipFill>
          </p:spPr>
        </p:sp>
      </p:grpSp>
      <p:sp>
        <p:nvSpPr>
          <p:cNvPr name="TextBox 18" id="18"/>
          <p:cNvSpPr txBox="true"/>
          <p:nvPr/>
        </p:nvSpPr>
        <p:spPr>
          <a:xfrm rot="0">
            <a:off x="1274916" y="208826"/>
            <a:ext cx="10563068" cy="10913373"/>
          </a:xfrm>
          <a:prstGeom prst="rect">
            <a:avLst/>
          </a:prstGeom>
        </p:spPr>
        <p:txBody>
          <a:bodyPr anchor="t" rtlCol="false" tIns="0" lIns="0" bIns="0" rIns="0">
            <a:spAutoFit/>
          </a:bodyPr>
          <a:lstStyle/>
          <a:p>
            <a:pPr algn="l">
              <a:lnSpc>
                <a:spcPts val="4164"/>
              </a:lnSpc>
            </a:pPr>
            <a:r>
              <a:rPr lang="en-US" b="true" sz="4043">
                <a:solidFill>
                  <a:srgbClr val="2B4863"/>
                </a:solidFill>
                <a:latin typeface="Noto Sans Bold"/>
                <a:ea typeface="Noto Sans Bold"/>
                <a:cs typeface="Noto Sans Bold"/>
                <a:sym typeface="Noto Sans Bold"/>
              </a:rPr>
              <a:t>Tactics</a:t>
            </a:r>
          </a:p>
          <a:p>
            <a:pPr algn="l">
              <a:lnSpc>
                <a:spcPts val="5551"/>
              </a:lnSpc>
            </a:pPr>
          </a:p>
          <a:p>
            <a:pPr algn="l" marL="739447" indent="-246482" lvl="2">
              <a:lnSpc>
                <a:spcPts val="3331"/>
              </a:lnSpc>
              <a:buFont typeface="Arial"/>
              <a:buChar char="⚬"/>
            </a:pPr>
            <a:r>
              <a:rPr lang="en-US" b="true" sz="3234">
                <a:solidFill>
                  <a:srgbClr val="2B4863"/>
                </a:solidFill>
                <a:latin typeface="Droid Arabic Naskh Bold"/>
                <a:ea typeface="Droid Arabic Naskh Bold"/>
                <a:cs typeface="Droid Arabic Naskh Bold"/>
                <a:sym typeface="Droid Arabic Naskh Bold"/>
              </a:rPr>
              <a:t> Channel-Specific Tactics</a:t>
            </a:r>
          </a:p>
          <a:p>
            <a:pPr algn="l">
              <a:lnSpc>
                <a:spcPts val="1358"/>
              </a:lnSpc>
            </a:pPr>
          </a:p>
          <a:p>
            <a:pPr algn="l">
              <a:lnSpc>
                <a:spcPts val="2695"/>
              </a:lnSpc>
            </a:pPr>
          </a:p>
          <a:p>
            <a:pPr algn="l">
              <a:lnSpc>
                <a:spcPts val="3875"/>
              </a:lnSpc>
            </a:pPr>
            <a:r>
              <a:rPr lang="en-US" b="true" sz="2768">
                <a:solidFill>
                  <a:srgbClr val="153153"/>
                </a:solidFill>
                <a:latin typeface="Droid Arabic Naskh Bold"/>
                <a:ea typeface="Droid Arabic Naskh Bold"/>
                <a:cs typeface="Droid Arabic Naskh Bold"/>
                <a:sym typeface="Droid Arabic Naskh Bold"/>
              </a:rPr>
              <a:t>These are the core, measurable activities supporting the strategy</a:t>
            </a:r>
            <a:r>
              <a:rPr lang="en-US" b="true" sz="2768">
                <a:solidFill>
                  <a:srgbClr val="18BBB5"/>
                </a:solidFill>
                <a:latin typeface="Droid Arabic Naskh Bold"/>
                <a:ea typeface="Droid Arabic Naskh Bold"/>
                <a:cs typeface="Droid Arabic Naskh Bold"/>
                <a:sym typeface="Droid Arabic Naskh Bold"/>
              </a:rPr>
              <a:t>.</a:t>
            </a:r>
          </a:p>
          <a:p>
            <a:pPr algn="l">
              <a:lnSpc>
                <a:spcPts val="3875"/>
              </a:lnSpc>
            </a:pPr>
          </a:p>
          <a:p>
            <a:pPr algn="l">
              <a:lnSpc>
                <a:spcPts val="3875"/>
              </a:lnSpc>
            </a:pPr>
            <a:r>
              <a:rPr lang="en-US" b="true" sz="2768">
                <a:solidFill>
                  <a:srgbClr val="18BBB5"/>
                </a:solidFill>
                <a:latin typeface="Droid Arabic Naskh Bold"/>
                <a:ea typeface="Droid Arabic Naskh Bold"/>
                <a:cs typeface="Droid Arabic Naskh Bold"/>
                <a:sym typeface="Droid Arabic Naskh Bold"/>
              </a:rPr>
              <a:t>Facebook &amp; Instagram – Ad Creative Rotation:</a:t>
            </a:r>
          </a:p>
          <a:p>
            <a:pPr algn="l">
              <a:lnSpc>
                <a:spcPts val="3875"/>
              </a:lnSpc>
            </a:pPr>
            <a:r>
              <a:rPr lang="en-US" b="true" sz="2768">
                <a:solidFill>
                  <a:srgbClr val="153153"/>
                </a:solidFill>
                <a:latin typeface="Droid Arabic Naskh Bold"/>
                <a:ea typeface="Droid Arabic Naskh Bold"/>
                <a:cs typeface="Droid Arabic Naskh Bold"/>
                <a:sym typeface="Droid Arabic Naskh Bold"/>
              </a:rPr>
              <a:t>Rotate 5 unique ad creatives weekly</a:t>
            </a:r>
          </a:p>
          <a:p>
            <a:pPr algn="l">
              <a:lnSpc>
                <a:spcPts val="3875"/>
              </a:lnSpc>
            </a:pPr>
            <a:r>
              <a:rPr lang="en-US" b="true" sz="2768">
                <a:solidFill>
                  <a:srgbClr val="153153"/>
                </a:solidFill>
                <a:latin typeface="Droid Arabic Naskh Bold"/>
                <a:ea typeface="Droid Arabic Naskh Bold"/>
                <a:cs typeface="Droid Arabic Naskh Bold"/>
                <a:sym typeface="Droid Arabic Naskh Bold"/>
              </a:rPr>
              <a:t>Continuously test CPC and CTR</a:t>
            </a:r>
          </a:p>
          <a:p>
            <a:pPr algn="l">
              <a:lnSpc>
                <a:spcPts val="3875"/>
              </a:lnSpc>
            </a:pPr>
            <a:r>
              <a:rPr lang="en-US" b="true" sz="2768">
                <a:solidFill>
                  <a:srgbClr val="153153"/>
                </a:solidFill>
                <a:latin typeface="Droid Arabic Naskh Bold"/>
                <a:ea typeface="Droid Arabic Naskh Bold"/>
                <a:cs typeface="Droid Arabic Naskh Bold"/>
                <a:sym typeface="Droid Arabic Naskh Bold"/>
              </a:rPr>
              <a:t>TikTok &amp; Reels – Viral Content Push:</a:t>
            </a:r>
          </a:p>
          <a:p>
            <a:pPr algn="l">
              <a:lnSpc>
                <a:spcPts val="3875"/>
              </a:lnSpc>
            </a:pPr>
            <a:r>
              <a:rPr lang="en-US" b="true" sz="2768">
                <a:solidFill>
                  <a:srgbClr val="153153"/>
                </a:solidFill>
                <a:latin typeface="Droid Arabic Naskh Bold"/>
                <a:ea typeface="Droid Arabic Naskh Bold"/>
                <a:cs typeface="Droid Arabic Naskh Bold"/>
                <a:sym typeface="Droid Arabic Naskh Bold"/>
              </a:rPr>
              <a:t>Publish 3 trending videos weekly</a:t>
            </a:r>
          </a:p>
          <a:p>
            <a:pPr algn="l">
              <a:lnSpc>
                <a:spcPts val="3875"/>
              </a:lnSpc>
            </a:pPr>
            <a:r>
              <a:rPr lang="en-US" b="true" sz="2768">
                <a:solidFill>
                  <a:srgbClr val="153153"/>
                </a:solidFill>
                <a:latin typeface="Droid Arabic Naskh Bold"/>
                <a:ea typeface="Droid Arabic Naskh Bold"/>
                <a:cs typeface="Droid Arabic Naskh Bold"/>
                <a:sym typeface="Droid Arabic Naskh Bold"/>
              </a:rPr>
              <a:t>Follow 80% Entertainment / 20% Marketing rule.</a:t>
            </a:r>
          </a:p>
          <a:p>
            <a:pPr algn="l">
              <a:lnSpc>
                <a:spcPts val="3875"/>
              </a:lnSpc>
            </a:pPr>
          </a:p>
          <a:p>
            <a:pPr algn="l">
              <a:lnSpc>
                <a:spcPts val="3875"/>
              </a:lnSpc>
            </a:pPr>
            <a:r>
              <a:rPr lang="en-US" b="true" sz="2768">
                <a:solidFill>
                  <a:srgbClr val="18BBB5"/>
                </a:solidFill>
                <a:latin typeface="Droid Arabic Naskh Bold"/>
                <a:ea typeface="Droid Arabic Naskh Bold"/>
                <a:cs typeface="Droid Arabic Naskh Bold"/>
                <a:sym typeface="Droid Arabic Naskh Bold"/>
              </a:rPr>
              <a:t>WhatsApp – Daily Conversion</a:t>
            </a:r>
            <a:r>
              <a:rPr lang="en-US" b="true" sz="2768">
                <a:solidFill>
                  <a:srgbClr val="153153"/>
                </a:solidFill>
                <a:latin typeface="Droid Arabic Naskh Bold"/>
                <a:ea typeface="Droid Arabic Naskh Bold"/>
                <a:cs typeface="Droid Arabic Naskh Bold"/>
                <a:sym typeface="Droid Arabic Naskh Bold"/>
              </a:rPr>
              <a:t>:</a:t>
            </a:r>
          </a:p>
          <a:p>
            <a:pPr algn="l">
              <a:lnSpc>
                <a:spcPts val="3875"/>
              </a:lnSpc>
            </a:pPr>
            <a:r>
              <a:rPr lang="en-US" b="true" sz="2768">
                <a:solidFill>
                  <a:srgbClr val="153153"/>
                </a:solidFill>
                <a:latin typeface="Droid Arabic Naskh Bold"/>
                <a:ea typeface="Droid Arabic Naskh Bold"/>
                <a:cs typeface="Droid Arabic Naskh Bold"/>
                <a:sym typeface="Droid Arabic Naskh Bold"/>
              </a:rPr>
              <a:t>Daily exclusive offers, e.g., “WhatsApp Wednesday”</a:t>
            </a:r>
          </a:p>
          <a:p>
            <a:pPr algn="l">
              <a:lnSpc>
                <a:spcPts val="3875"/>
              </a:lnSpc>
            </a:pPr>
            <a:r>
              <a:rPr lang="en-US" b="true" sz="2768">
                <a:solidFill>
                  <a:srgbClr val="153153"/>
                </a:solidFill>
                <a:latin typeface="Droid Arabic Naskh Bold"/>
                <a:ea typeface="Droid Arabic Naskh Bold"/>
                <a:cs typeface="Droid Arabic Naskh Bold"/>
                <a:sym typeface="Droid Arabic Naskh Bold"/>
              </a:rPr>
              <a:t>Drive high-urgency conversions</a:t>
            </a:r>
          </a:p>
          <a:p>
            <a:pPr algn="l">
              <a:lnSpc>
                <a:spcPts val="3875"/>
              </a:lnSpc>
            </a:pPr>
            <a:r>
              <a:rPr lang="en-US" b="true" sz="2768">
                <a:solidFill>
                  <a:srgbClr val="18BBB5"/>
                </a:solidFill>
                <a:latin typeface="Droid Arabic Naskh Bold"/>
                <a:ea typeface="Droid Arabic Naskh Bold"/>
                <a:cs typeface="Droid Arabic Naskh Bold"/>
                <a:sym typeface="Droid Arabic Naskh Bold"/>
              </a:rPr>
              <a:t>Bundle Strategy:</a:t>
            </a:r>
          </a:p>
          <a:p>
            <a:pPr algn="l">
              <a:lnSpc>
                <a:spcPts val="3875"/>
              </a:lnSpc>
            </a:pPr>
            <a:r>
              <a:rPr lang="en-US" b="true" sz="2768">
                <a:solidFill>
                  <a:srgbClr val="153153"/>
                </a:solidFill>
                <a:latin typeface="Droid Arabic Naskh Bold"/>
                <a:ea typeface="Droid Arabic Naskh Bold"/>
                <a:cs typeface="Droid Arabic Naskh Bold"/>
                <a:sym typeface="Droid Arabic Naskh Bold"/>
              </a:rPr>
              <a:t>Promote integrated bundles (3Cs)</a:t>
            </a:r>
          </a:p>
          <a:p>
            <a:pPr algn="l">
              <a:lnSpc>
                <a:spcPts val="3875"/>
              </a:lnSpc>
            </a:pPr>
            <a:r>
              <a:rPr lang="en-US" b="true" sz="2768">
                <a:solidFill>
                  <a:srgbClr val="153153"/>
                </a:solidFill>
                <a:latin typeface="Droid Arabic Naskh Bold"/>
                <a:ea typeface="Droid Arabic Naskh Bold"/>
                <a:cs typeface="Droid Arabic Naskh Bold"/>
                <a:sym typeface="Droid Arabic Naskh Bold"/>
              </a:rPr>
              <a:t>Increase Average Order Value (AOV) by 20%.</a:t>
            </a:r>
          </a:p>
          <a:p>
            <a:pPr algn="l" marL="554788" indent="-184929" lvl="2">
              <a:lnSpc>
                <a:spcPts val="2499"/>
              </a:lnSpc>
            </a:pPr>
          </a:p>
          <a:p>
            <a:pPr algn="l">
              <a:lnSpc>
                <a:spcPts val="2499"/>
              </a:lnSpc>
            </a:pPr>
          </a:p>
          <a:p>
            <a:pPr algn="l">
              <a:lnSpc>
                <a:spcPts val="2499"/>
              </a:lnSpc>
            </a:pPr>
          </a:p>
        </p:txBody>
      </p:sp>
    </p:spTree>
  </p:cSld>
  <p:clrMapOvr>
    <a:masterClrMapping/>
  </p:clrMapOvr>
</p:sld>
</file>

<file path=ppt/slides/slide2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96491" y="279573"/>
            <a:ext cx="3024531" cy="830781"/>
          </a:xfrm>
          <a:prstGeom prst="rect">
            <a:avLst/>
          </a:prstGeom>
        </p:spPr>
        <p:txBody>
          <a:bodyPr anchor="t" rtlCol="false" tIns="0" lIns="0" bIns="0" rIns="0">
            <a:spAutoFit/>
          </a:bodyPr>
          <a:lstStyle/>
          <a:p>
            <a:pPr algn="ctr">
              <a:lnSpc>
                <a:spcPts val="6878"/>
              </a:lnSpc>
            </a:pPr>
            <a:r>
              <a:rPr lang="en-US" sz="4913" b="true">
                <a:solidFill>
                  <a:srgbClr val="153153"/>
                </a:solidFill>
                <a:latin typeface="Canva Sans Bold"/>
                <a:ea typeface="Canva Sans Bold"/>
                <a:cs typeface="Canva Sans Bold"/>
                <a:sym typeface="Canva Sans Bold"/>
              </a:rPr>
              <a:t>Actions</a:t>
            </a:r>
            <a:r>
              <a:rPr lang="en-US" sz="4913" b="true">
                <a:solidFill>
                  <a:srgbClr val="000000"/>
                </a:solidFill>
                <a:latin typeface="Canva Sans Bold"/>
                <a:ea typeface="Canva Sans Bold"/>
                <a:cs typeface="Canva Sans Bold"/>
                <a:sym typeface="Canva Sans Bold"/>
              </a:rPr>
              <a:t> </a:t>
            </a:r>
          </a:p>
        </p:txBody>
      </p:sp>
      <p:sp>
        <p:nvSpPr>
          <p:cNvPr name="TextBox 3" id="3"/>
          <p:cNvSpPr txBox="true"/>
          <p:nvPr/>
        </p:nvSpPr>
        <p:spPr>
          <a:xfrm rot="0">
            <a:off x="-715090" y="906774"/>
            <a:ext cx="20282494" cy="9380226"/>
          </a:xfrm>
          <a:prstGeom prst="rect">
            <a:avLst/>
          </a:prstGeom>
        </p:spPr>
        <p:txBody>
          <a:bodyPr anchor="t" rtlCol="false" tIns="0" lIns="0" bIns="0" rIns="0">
            <a:spAutoFit/>
          </a:bodyPr>
          <a:lstStyle/>
          <a:p>
            <a:pPr algn="ctr">
              <a:lnSpc>
                <a:spcPts val="5599"/>
              </a:lnSpc>
              <a:spcBef>
                <a:spcPct val="0"/>
              </a:spcBef>
            </a:pPr>
            <a:r>
              <a:rPr lang="en-US" b="true" sz="3999">
                <a:solidFill>
                  <a:srgbClr val="153153"/>
                </a:solidFill>
                <a:latin typeface="Canva Sans Bold"/>
                <a:ea typeface="Canva Sans Bold"/>
                <a:cs typeface="Canva Sans Bold"/>
                <a:sym typeface="Canva Sans Bold"/>
              </a:rPr>
              <a:t>Action: Execution &amp; Testing</a:t>
            </a:r>
          </a:p>
          <a:p>
            <a:pPr algn="ctr">
              <a:lnSpc>
                <a:spcPts val="2808"/>
              </a:lnSpc>
              <a:spcBef>
                <a:spcPct val="0"/>
              </a:spcBef>
            </a:pPr>
          </a:p>
          <a:p>
            <a:pPr algn="ctr">
              <a:lnSpc>
                <a:spcPts val="4339"/>
              </a:lnSpc>
              <a:spcBef>
                <a:spcPct val="0"/>
              </a:spcBef>
            </a:pPr>
            <a:r>
              <a:rPr lang="en-US" b="true" sz="3099">
                <a:solidFill>
                  <a:srgbClr val="153153"/>
                </a:solidFill>
                <a:latin typeface="Canva Sans Bold"/>
                <a:ea typeface="Canva Sans Bold"/>
                <a:cs typeface="Canva Sans Bold"/>
                <a:sym typeface="Canva Sans Bold"/>
              </a:rPr>
              <a:t>​These are the operational steps required for optimization and control.</a:t>
            </a:r>
          </a:p>
          <a:p>
            <a:pPr algn="ctr">
              <a:lnSpc>
                <a:spcPts val="2808"/>
              </a:lnSpc>
              <a:spcBef>
                <a:spcPct val="0"/>
              </a:spcBef>
            </a:pPr>
          </a:p>
          <a:p>
            <a:pPr algn="ctr">
              <a:lnSpc>
                <a:spcPts val="3499"/>
              </a:lnSpc>
              <a:spcBef>
                <a:spcPct val="0"/>
              </a:spcBef>
            </a:pPr>
            <a:r>
              <a:rPr lang="en-US" b="true" sz="2499">
                <a:solidFill>
                  <a:srgbClr val="18BBB5"/>
                </a:solidFill>
                <a:latin typeface="Canva Sans Bold"/>
                <a:ea typeface="Canva Sans Bold"/>
                <a:cs typeface="Canva Sans Bold"/>
                <a:sym typeface="Canva Sans Bold"/>
              </a:rPr>
              <a:t>​Audience A/B Testing:</a:t>
            </a:r>
          </a:p>
          <a:p>
            <a:pPr algn="ctr">
              <a:lnSpc>
                <a:spcPts val="4620"/>
              </a:lnSpc>
              <a:spcBef>
                <a:spcPct val="0"/>
              </a:spcBef>
            </a:pPr>
            <a:r>
              <a:rPr lang="en-US" b="true" sz="3300">
                <a:solidFill>
                  <a:srgbClr val="153153"/>
                </a:solidFill>
                <a:latin typeface="Canva Sans Bold"/>
                <a:ea typeface="Canva Sans Bold"/>
                <a:cs typeface="Canva Sans Bold"/>
                <a:sym typeface="Canva Sans Bold"/>
              </a:rPr>
              <a:t>​Compare Mothers vs. Young Adults to optimize targeting.</a:t>
            </a:r>
          </a:p>
          <a:p>
            <a:pPr algn="ctr">
              <a:lnSpc>
                <a:spcPts val="4620"/>
              </a:lnSpc>
              <a:spcBef>
                <a:spcPct val="0"/>
              </a:spcBef>
            </a:pPr>
            <a:r>
              <a:rPr lang="en-US" b="true" sz="3300">
                <a:solidFill>
                  <a:srgbClr val="153153"/>
                </a:solidFill>
                <a:latin typeface="Canva Sans Bold"/>
                <a:ea typeface="Canva Sans Bold"/>
                <a:cs typeface="Canva Sans Bold"/>
                <a:sym typeface="Canva Sans Bold"/>
              </a:rPr>
              <a:t>​Conduct continuous split testing to reduce CAC (Customer Acquisition Cost).</a:t>
            </a:r>
          </a:p>
          <a:p>
            <a:pPr algn="ctr">
              <a:lnSpc>
                <a:spcPts val="2808"/>
              </a:lnSpc>
              <a:spcBef>
                <a:spcPct val="0"/>
              </a:spcBef>
            </a:pPr>
          </a:p>
          <a:p>
            <a:pPr algn="ctr">
              <a:lnSpc>
                <a:spcPts val="3779"/>
              </a:lnSpc>
              <a:spcBef>
                <a:spcPct val="0"/>
              </a:spcBef>
            </a:pPr>
            <a:r>
              <a:rPr lang="en-US" b="true" sz="2700">
                <a:solidFill>
                  <a:srgbClr val="153153"/>
                </a:solidFill>
                <a:latin typeface="Canva Sans Bold"/>
                <a:ea typeface="Canva Sans Bold"/>
                <a:cs typeface="Canva Sans Bold"/>
                <a:sym typeface="Canva Sans Bold"/>
              </a:rPr>
              <a:t>​</a:t>
            </a:r>
            <a:r>
              <a:rPr lang="en-US" b="true" sz="2700">
                <a:solidFill>
                  <a:srgbClr val="18BBB5"/>
                </a:solidFill>
                <a:latin typeface="Canva Sans Bold"/>
                <a:ea typeface="Canva Sans Bold"/>
                <a:cs typeface="Canva Sans Bold"/>
                <a:sym typeface="Canva Sans Bold"/>
              </a:rPr>
              <a:t>Influencer Tracking:</a:t>
            </a:r>
          </a:p>
          <a:p>
            <a:pPr algn="ctr">
              <a:lnSpc>
                <a:spcPts val="4620"/>
              </a:lnSpc>
              <a:spcBef>
                <a:spcPct val="0"/>
              </a:spcBef>
            </a:pPr>
            <a:r>
              <a:rPr lang="en-US" b="true" sz="3300">
                <a:solidFill>
                  <a:srgbClr val="153153"/>
                </a:solidFill>
                <a:latin typeface="Canva Sans Bold"/>
                <a:ea typeface="Canva Sans Bold"/>
                <a:cs typeface="Canva Sans Bold"/>
                <a:sym typeface="Canva Sans Bold"/>
              </a:rPr>
              <a:t>​Use unique direct links and discount codes per influencer.</a:t>
            </a:r>
          </a:p>
          <a:p>
            <a:pPr algn="ctr">
              <a:lnSpc>
                <a:spcPts val="4620"/>
              </a:lnSpc>
              <a:spcBef>
                <a:spcPct val="0"/>
              </a:spcBef>
            </a:pPr>
            <a:r>
              <a:rPr lang="en-US" b="true" sz="3300">
                <a:solidFill>
                  <a:srgbClr val="153153"/>
                </a:solidFill>
                <a:latin typeface="Canva Sans Bold"/>
                <a:ea typeface="Canva Sans Bold"/>
                <a:cs typeface="Canva Sans Bold"/>
                <a:sym typeface="Canva Sans Bold"/>
              </a:rPr>
              <a:t>​Ensure accurate conversion tracking and attribution.</a:t>
            </a:r>
          </a:p>
          <a:p>
            <a:pPr algn="ctr">
              <a:lnSpc>
                <a:spcPts val="2808"/>
              </a:lnSpc>
              <a:spcBef>
                <a:spcPct val="0"/>
              </a:spcBef>
            </a:pPr>
          </a:p>
          <a:p>
            <a:pPr algn="ctr">
              <a:lnSpc>
                <a:spcPts val="3779"/>
              </a:lnSpc>
              <a:spcBef>
                <a:spcPct val="0"/>
              </a:spcBef>
            </a:pPr>
            <a:r>
              <a:rPr lang="en-US" b="true" sz="2700">
                <a:solidFill>
                  <a:srgbClr val="18BBB5"/>
                </a:solidFill>
                <a:latin typeface="Canva Sans Bold"/>
                <a:ea typeface="Canva Sans Bold"/>
                <a:cs typeface="Canva Sans Bold"/>
                <a:sym typeface="Canva Sans Bold"/>
              </a:rPr>
              <a:t>​Customer Service SLA:</a:t>
            </a:r>
          </a:p>
          <a:p>
            <a:pPr algn="ctr">
              <a:lnSpc>
                <a:spcPts val="4759"/>
              </a:lnSpc>
              <a:spcBef>
                <a:spcPct val="0"/>
              </a:spcBef>
            </a:pPr>
            <a:r>
              <a:rPr lang="en-US" b="true" sz="3399">
                <a:solidFill>
                  <a:srgbClr val="153153"/>
                </a:solidFill>
                <a:latin typeface="Canva Sans Bold"/>
                <a:ea typeface="Canva Sans Bold"/>
                <a:cs typeface="Canva Sans Bold"/>
                <a:sym typeface="Canva Sans Bold"/>
              </a:rPr>
              <a:t>​Handle 80% of inquiries within 1 hour.</a:t>
            </a:r>
          </a:p>
          <a:p>
            <a:pPr algn="ctr">
              <a:lnSpc>
                <a:spcPts val="4759"/>
              </a:lnSpc>
              <a:spcBef>
                <a:spcPct val="0"/>
              </a:spcBef>
            </a:pPr>
            <a:r>
              <a:rPr lang="en-US" b="true" sz="3399">
                <a:solidFill>
                  <a:srgbClr val="153153"/>
                </a:solidFill>
                <a:latin typeface="Canva Sans Bold"/>
                <a:ea typeface="Canva Sans Bold"/>
                <a:cs typeface="Canva Sans Bold"/>
                <a:sym typeface="Canva Sans Bold"/>
              </a:rPr>
              <a:t>​Maximize fast conversion opportunities.</a:t>
            </a:r>
          </a:p>
          <a:p>
            <a:pPr algn="ctr">
              <a:lnSpc>
                <a:spcPts val="2808"/>
              </a:lnSpc>
              <a:spcBef>
                <a:spcPct val="0"/>
              </a:spcBef>
            </a:pPr>
          </a:p>
          <a:p>
            <a:pPr algn="ctr">
              <a:lnSpc>
                <a:spcPts val="3499"/>
              </a:lnSpc>
              <a:spcBef>
                <a:spcPct val="0"/>
              </a:spcBef>
            </a:pPr>
            <a:r>
              <a:rPr lang="en-US" b="true" sz="2499">
                <a:solidFill>
                  <a:srgbClr val="18BBB5"/>
                </a:solidFill>
                <a:latin typeface="Canva Sans Bold"/>
                <a:ea typeface="Canva Sans Bold"/>
                <a:cs typeface="Canva Sans Bold"/>
                <a:sym typeface="Canva Sans Bold"/>
              </a:rPr>
              <a:t>​Performance Control:</a:t>
            </a:r>
          </a:p>
          <a:p>
            <a:pPr algn="ctr">
              <a:lnSpc>
                <a:spcPts val="4060"/>
              </a:lnSpc>
              <a:spcBef>
                <a:spcPct val="0"/>
              </a:spcBef>
            </a:pPr>
            <a:r>
              <a:rPr lang="en-US" b="true" sz="2900">
                <a:solidFill>
                  <a:srgbClr val="153153"/>
                </a:solidFill>
                <a:latin typeface="Canva Sans Bold"/>
                <a:ea typeface="Canva Sans Bold"/>
                <a:cs typeface="Canva Sans Bold"/>
                <a:sym typeface="Canva Sans Bold"/>
              </a:rPr>
              <a:t>​Monitor ROAS (Return on Ad Spend) daily.</a:t>
            </a:r>
          </a:p>
          <a:p>
            <a:pPr algn="ctr">
              <a:lnSpc>
                <a:spcPts val="4060"/>
              </a:lnSpc>
              <a:spcBef>
                <a:spcPct val="0"/>
              </a:spcBef>
            </a:pPr>
            <a:r>
              <a:rPr lang="en-US" b="true" sz="2900">
                <a:solidFill>
                  <a:srgbClr val="153153"/>
                </a:solidFill>
                <a:latin typeface="Canva Sans Bold"/>
                <a:ea typeface="Canva Sans Bold"/>
                <a:cs typeface="Canva Sans Bold"/>
                <a:sym typeface="Canva Sans Bold"/>
              </a:rPr>
              <a:t>​Adjust weekly content if Engagement Rate (ER) drops below 5%</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204532" y="0"/>
            <a:ext cx="13466818" cy="10287000"/>
          </a:xfrm>
          <a:custGeom>
            <a:avLst/>
            <a:gdLst/>
            <a:ahLst/>
            <a:cxnLst/>
            <a:rect r="r" b="b" t="t" l="l"/>
            <a:pathLst>
              <a:path h="10287000" w="13466818">
                <a:moveTo>
                  <a:pt x="0" y="0"/>
                </a:moveTo>
                <a:lnTo>
                  <a:pt x="13466818" y="0"/>
                </a:lnTo>
                <a:lnTo>
                  <a:pt x="13466818" y="10287000"/>
                </a:lnTo>
                <a:lnTo>
                  <a:pt x="0" y="10287000"/>
                </a:lnTo>
                <a:lnTo>
                  <a:pt x="0" y="0"/>
                </a:lnTo>
                <a:close/>
              </a:path>
            </a:pathLst>
          </a:custGeom>
          <a:blipFill>
            <a:blip r:embed="rId2"/>
            <a:stretch>
              <a:fillRect l="-534" t="-6872" r="0" b="-2889"/>
            </a:stretch>
          </a:blipFill>
        </p:spPr>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718387" y="0"/>
            <a:ext cx="14786191" cy="10287000"/>
          </a:xfrm>
          <a:custGeom>
            <a:avLst/>
            <a:gdLst/>
            <a:ahLst/>
            <a:cxnLst/>
            <a:rect r="r" b="b" t="t" l="l"/>
            <a:pathLst>
              <a:path h="10287000" w="14786191">
                <a:moveTo>
                  <a:pt x="0" y="0"/>
                </a:moveTo>
                <a:lnTo>
                  <a:pt x="14786190" y="0"/>
                </a:lnTo>
                <a:lnTo>
                  <a:pt x="14786190" y="10287000"/>
                </a:lnTo>
                <a:lnTo>
                  <a:pt x="0" y="10287000"/>
                </a:lnTo>
                <a:lnTo>
                  <a:pt x="0" y="0"/>
                </a:lnTo>
                <a:close/>
              </a:path>
            </a:pathLst>
          </a:custGeom>
          <a:blipFill>
            <a:blip r:embed="rId2"/>
            <a:stretch>
              <a:fillRect l="-1176" t="0" r="-1616" b="0"/>
            </a:stretch>
          </a:blipFill>
        </p:spPr>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bg>
      <p:bgPr>
        <a:solidFill>
          <a:srgbClr val="F1F0F0"/>
        </a:solidFill>
      </p:bgPr>
    </p:bg>
    <p:spTree>
      <p:nvGrpSpPr>
        <p:cNvPr id="1" name=""/>
        <p:cNvGrpSpPr/>
        <p:nvPr/>
      </p:nvGrpSpPr>
      <p:grpSpPr>
        <a:xfrm>
          <a:off x="0" y="0"/>
          <a:ext cx="0" cy="0"/>
          <a:chOff x="0" y="0"/>
          <a:chExt cx="0" cy="0"/>
        </a:xfrm>
      </p:grpSpPr>
      <p:sp>
        <p:nvSpPr>
          <p:cNvPr name="Freeform 2" id="2"/>
          <p:cNvSpPr/>
          <p:nvPr/>
        </p:nvSpPr>
        <p:spPr>
          <a:xfrm flipH="false" flipV="false" rot="0">
            <a:off x="514350" y="-824940"/>
            <a:ext cx="17259300" cy="11499009"/>
          </a:xfrm>
          <a:custGeom>
            <a:avLst/>
            <a:gdLst/>
            <a:ahLst/>
            <a:cxnLst/>
            <a:rect r="r" b="b" t="t" l="l"/>
            <a:pathLst>
              <a:path h="11499009" w="17259300">
                <a:moveTo>
                  <a:pt x="0" y="0"/>
                </a:moveTo>
                <a:lnTo>
                  <a:pt x="17259300" y="0"/>
                </a:lnTo>
                <a:lnTo>
                  <a:pt x="17259300" y="11499008"/>
                </a:lnTo>
                <a:lnTo>
                  <a:pt x="0" y="11499008"/>
                </a:lnTo>
                <a:lnTo>
                  <a:pt x="0" y="0"/>
                </a:lnTo>
                <a:close/>
              </a:path>
            </a:pathLst>
          </a:custGeom>
          <a:blipFill>
            <a:blip r:embed="rId2"/>
            <a:stretch>
              <a:fillRect l="0" t="0" r="0" b="0"/>
            </a:stretch>
          </a:blipFill>
        </p:spPr>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21777" y="-527538"/>
            <a:ext cx="16231953" cy="10814538"/>
          </a:xfrm>
          <a:custGeom>
            <a:avLst/>
            <a:gdLst/>
            <a:ahLst/>
            <a:cxnLst/>
            <a:rect r="r" b="b" t="t" l="l"/>
            <a:pathLst>
              <a:path h="10814538" w="16231953">
                <a:moveTo>
                  <a:pt x="0" y="0"/>
                </a:moveTo>
                <a:lnTo>
                  <a:pt x="16231953" y="0"/>
                </a:lnTo>
                <a:lnTo>
                  <a:pt x="16231953" y="10814538"/>
                </a:lnTo>
                <a:lnTo>
                  <a:pt x="0" y="10814538"/>
                </a:lnTo>
                <a:lnTo>
                  <a:pt x="0" y="0"/>
                </a:lnTo>
                <a:close/>
              </a:path>
            </a:pathLst>
          </a:custGeom>
          <a:blipFill>
            <a:blip r:embed="rId2"/>
            <a:stretch>
              <a:fillRect l="0" t="0" r="0" b="0"/>
            </a:stretch>
          </a:blipFill>
        </p:spPr>
      </p:sp>
    </p:spTree>
  </p:cSld>
  <p:clrMapOvr>
    <a:masterClrMapping/>
  </p:clrMapOvr>
</p:sld>
</file>

<file path=ppt/slides/slide3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2473284" y="389918"/>
            <a:ext cx="13341431" cy="887135"/>
          </a:xfrm>
          <a:prstGeom prst="rect">
            <a:avLst/>
          </a:prstGeom>
        </p:spPr>
        <p:txBody>
          <a:bodyPr anchor="t" rtlCol="false" tIns="0" lIns="0" bIns="0" rIns="0">
            <a:spAutoFit/>
          </a:bodyPr>
          <a:lstStyle/>
          <a:p>
            <a:pPr algn="ctr">
              <a:lnSpc>
                <a:spcPts val="7279"/>
              </a:lnSpc>
            </a:pPr>
            <a:r>
              <a:rPr lang="en-US" sz="5199" b="true">
                <a:solidFill>
                  <a:srgbClr val="153153"/>
                </a:solidFill>
                <a:latin typeface="Canva Sans Bold"/>
                <a:ea typeface="Canva Sans Bold"/>
                <a:cs typeface="Canva Sans Bold"/>
                <a:sym typeface="Canva Sans Bold"/>
              </a:rPr>
              <a:t>Enhancement Strategies (Future Growth) </a:t>
            </a:r>
          </a:p>
        </p:txBody>
      </p:sp>
      <p:sp>
        <p:nvSpPr>
          <p:cNvPr name="TextBox 3" id="3"/>
          <p:cNvSpPr txBox="true"/>
          <p:nvPr/>
        </p:nvSpPr>
        <p:spPr>
          <a:xfrm rot="0">
            <a:off x="499029" y="1574641"/>
            <a:ext cx="17289942" cy="7985621"/>
          </a:xfrm>
          <a:prstGeom prst="rect">
            <a:avLst/>
          </a:prstGeom>
        </p:spPr>
        <p:txBody>
          <a:bodyPr anchor="t" rtlCol="false" tIns="0" lIns="0" bIns="0" rIns="0">
            <a:spAutoFit/>
          </a:bodyPr>
          <a:lstStyle/>
          <a:p>
            <a:pPr algn="ctr">
              <a:lnSpc>
                <a:spcPts val="4554"/>
              </a:lnSpc>
            </a:pPr>
            <a:r>
              <a:rPr lang="en-US" sz="3252" b="true">
                <a:solidFill>
                  <a:srgbClr val="18BBB5"/>
                </a:solidFill>
                <a:latin typeface="Canva Sans Bold"/>
                <a:ea typeface="Canva Sans Bold"/>
                <a:cs typeface="Canva Sans Bold"/>
                <a:sym typeface="Canva Sans Bold"/>
              </a:rPr>
              <a:t>1. CRM &amp; Email Marketing (Scaling Loyalty) </a:t>
            </a:r>
          </a:p>
          <a:p>
            <a:pPr algn="ctr">
              <a:lnSpc>
                <a:spcPts val="4554"/>
              </a:lnSpc>
            </a:pPr>
            <a:r>
              <a:rPr lang="en-US" sz="3252" b="true">
                <a:solidFill>
                  <a:srgbClr val="153153"/>
                </a:solidFill>
                <a:latin typeface="Canva Sans Bold"/>
                <a:ea typeface="Canva Sans Bold"/>
                <a:cs typeface="Canva Sans Bold"/>
                <a:sym typeface="Canva Sans Bold"/>
              </a:rPr>
              <a:t>​This strategy focuses on transitioning WhatsApp customers to a formal email database for long-term retention and cost-effective communication.</a:t>
            </a:r>
          </a:p>
          <a:p>
            <a:pPr algn="ctr">
              <a:lnSpc>
                <a:spcPts val="4554"/>
              </a:lnSpc>
            </a:pPr>
          </a:p>
          <a:p>
            <a:pPr algn="ctr">
              <a:lnSpc>
                <a:spcPts val="4554"/>
              </a:lnSpc>
            </a:pPr>
            <a:r>
              <a:rPr lang="en-US" sz="3252" b="true">
                <a:solidFill>
                  <a:srgbClr val="153153"/>
                </a:solidFill>
                <a:latin typeface="Canva Sans Bold"/>
                <a:ea typeface="Canva Sans Bold"/>
                <a:cs typeface="Canva Sans Bold"/>
                <a:sym typeface="Canva Sans Bold"/>
              </a:rPr>
              <a:t>•​ List Segmentation: Divide the subscriber list into three dedicated segments based on purchase history: Cleaning, Beauty, and Baby Care.</a:t>
            </a:r>
          </a:p>
          <a:p>
            <a:pPr algn="ctr">
              <a:lnSpc>
                <a:spcPts val="4554"/>
              </a:lnSpc>
            </a:pPr>
          </a:p>
          <a:p>
            <a:pPr algn="ctr">
              <a:lnSpc>
                <a:spcPts val="4554"/>
              </a:lnSpc>
            </a:pPr>
            <a:r>
              <a:rPr lang="en-US" sz="3252" b="true">
                <a:solidFill>
                  <a:srgbClr val="153153"/>
                </a:solidFill>
                <a:latin typeface="Canva Sans Bold"/>
                <a:ea typeface="Canva Sans Bold"/>
                <a:cs typeface="Canva Sans Bold"/>
                <a:sym typeface="Canva Sans Bold"/>
              </a:rPr>
              <a:t>•Welcome Series Automation: Implement a 3-step Welcome Series for new subscribers, concluding with a 10% discount code to drive the first purchase and build loyalty. </a:t>
            </a:r>
          </a:p>
          <a:p>
            <a:pPr algn="ctr">
              <a:lnSpc>
                <a:spcPts val="4554"/>
              </a:lnSpc>
            </a:pPr>
          </a:p>
          <a:p>
            <a:pPr algn="ctr">
              <a:lnSpc>
                <a:spcPts val="4554"/>
              </a:lnSpc>
            </a:pPr>
            <a:r>
              <a:rPr lang="en-US" sz="3252" b="true">
                <a:solidFill>
                  <a:srgbClr val="153153"/>
                </a:solidFill>
                <a:latin typeface="Canva Sans Bold"/>
                <a:ea typeface="Canva Sans Bold"/>
                <a:cs typeface="Canva Sans Bold"/>
                <a:sym typeface="Canva Sans Bold"/>
              </a:rPr>
              <a:t>​• Personalized Offers: Send weekly targeted offers based on customer segmentation (e.g., Baby Care offers only to the Baby segment). </a:t>
            </a:r>
          </a:p>
          <a:p>
            <a:pPr algn="ctr">
              <a:lnSpc>
                <a:spcPts val="4554"/>
              </a:lnSpc>
            </a:pPr>
          </a:p>
        </p:txBody>
      </p:sp>
    </p:spTree>
  </p:cSld>
  <p:clrMapOvr>
    <a:masterClrMapping/>
  </p:clrMapOvr>
</p:sld>
</file>

<file path=ppt/slides/slide3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2180613" y="344312"/>
            <a:ext cx="13341431" cy="887135"/>
          </a:xfrm>
          <a:prstGeom prst="rect">
            <a:avLst/>
          </a:prstGeom>
        </p:spPr>
        <p:txBody>
          <a:bodyPr anchor="t" rtlCol="false" tIns="0" lIns="0" bIns="0" rIns="0">
            <a:spAutoFit/>
          </a:bodyPr>
          <a:lstStyle/>
          <a:p>
            <a:pPr algn="ctr">
              <a:lnSpc>
                <a:spcPts val="7279"/>
              </a:lnSpc>
            </a:pPr>
            <a:r>
              <a:rPr lang="en-US" sz="5199" b="true">
                <a:solidFill>
                  <a:srgbClr val="153153"/>
                </a:solidFill>
                <a:latin typeface="Canva Sans Bold"/>
                <a:ea typeface="Canva Sans Bold"/>
                <a:cs typeface="Canva Sans Bold"/>
                <a:sym typeface="Canva Sans Bold"/>
              </a:rPr>
              <a:t>Enhancement Strategies (Future Growth)</a:t>
            </a:r>
            <a:r>
              <a:rPr lang="en-US" sz="5199" b="true">
                <a:solidFill>
                  <a:srgbClr val="000000"/>
                </a:solidFill>
                <a:latin typeface="Canva Sans Bold"/>
                <a:ea typeface="Canva Sans Bold"/>
                <a:cs typeface="Canva Sans Bold"/>
                <a:sym typeface="Canva Sans Bold"/>
              </a:rPr>
              <a:t> </a:t>
            </a:r>
          </a:p>
        </p:txBody>
      </p:sp>
      <p:sp>
        <p:nvSpPr>
          <p:cNvPr name="TextBox 3" id="3"/>
          <p:cNvSpPr txBox="true"/>
          <p:nvPr/>
        </p:nvSpPr>
        <p:spPr>
          <a:xfrm rot="0">
            <a:off x="1028700" y="1406121"/>
            <a:ext cx="14894483" cy="8381604"/>
          </a:xfrm>
          <a:prstGeom prst="rect">
            <a:avLst/>
          </a:prstGeom>
        </p:spPr>
        <p:txBody>
          <a:bodyPr anchor="t" rtlCol="false" tIns="0" lIns="0" bIns="0" rIns="0">
            <a:spAutoFit/>
          </a:bodyPr>
          <a:lstStyle/>
          <a:p>
            <a:pPr algn="ctr">
              <a:lnSpc>
                <a:spcPts val="4771"/>
              </a:lnSpc>
            </a:pPr>
            <a:r>
              <a:rPr lang="en-US" sz="3407" b="true">
                <a:solidFill>
                  <a:srgbClr val="18BBB5"/>
                </a:solidFill>
                <a:latin typeface="Canva Sans Bold"/>
                <a:ea typeface="Canva Sans Bold"/>
                <a:cs typeface="Canva Sans Bold"/>
                <a:sym typeface="Canva Sans Bold"/>
              </a:rPr>
              <a:t>2. Advanced Media Strategy (Optimizing ROI) </a:t>
            </a:r>
          </a:p>
          <a:p>
            <a:pPr algn="ctr">
              <a:lnSpc>
                <a:spcPts val="4771"/>
              </a:lnSpc>
            </a:pPr>
          </a:p>
          <a:p>
            <a:pPr algn="ctr">
              <a:lnSpc>
                <a:spcPts val="4771"/>
              </a:lnSpc>
            </a:pPr>
            <a:r>
              <a:rPr lang="en-US" sz="3407" b="true">
                <a:solidFill>
                  <a:srgbClr val="153153"/>
                </a:solidFill>
                <a:latin typeface="Canva Sans Bold"/>
                <a:ea typeface="Canva Sans Bold"/>
                <a:cs typeface="Canva Sans Bold"/>
                <a:sym typeface="Canva Sans Bold"/>
              </a:rPr>
              <a:t>​This strategy introduces dynamic budget allocation to maximize return</a:t>
            </a:r>
            <a:r>
              <a:rPr lang="en-US" sz="3407" b="true">
                <a:solidFill>
                  <a:srgbClr val="000000"/>
                </a:solidFill>
                <a:latin typeface="Canva Sans Bold"/>
                <a:ea typeface="Canva Sans Bold"/>
                <a:cs typeface="Canva Sans Bold"/>
                <a:sym typeface="Canva Sans Bold"/>
              </a:rPr>
              <a:t> </a:t>
            </a:r>
            <a:r>
              <a:rPr lang="en-US" sz="3407" b="true">
                <a:solidFill>
                  <a:srgbClr val="153153"/>
                </a:solidFill>
                <a:latin typeface="Canva Sans Bold"/>
                <a:ea typeface="Canva Sans Bold"/>
                <a:cs typeface="Canva Sans Bold"/>
                <a:sym typeface="Canva Sans Bold"/>
              </a:rPr>
              <a:t>on ad spend (ROAS) and minimize waste.</a:t>
            </a:r>
          </a:p>
          <a:p>
            <a:pPr algn="ctr">
              <a:lnSpc>
                <a:spcPts val="4771"/>
              </a:lnSpc>
            </a:pPr>
          </a:p>
          <a:p>
            <a:pPr algn="ctr">
              <a:lnSpc>
                <a:spcPts val="4771"/>
              </a:lnSpc>
            </a:pPr>
            <a:r>
              <a:rPr lang="en-US" sz="3407" b="true">
                <a:solidFill>
                  <a:srgbClr val="153153"/>
                </a:solidFill>
                <a:latin typeface="Canva Sans Bold"/>
                <a:ea typeface="Canva Sans Bold"/>
                <a:cs typeface="Canva Sans Bold"/>
                <a:sym typeface="Canva Sans Bold"/>
              </a:rPr>
              <a:t>​• Dynamic Budget Allocation: Implement a rule to dynamically shift 10% of the daily budget to the best-performing channel or ad set (highest ROAS).</a:t>
            </a:r>
          </a:p>
          <a:p>
            <a:pPr algn="ctr">
              <a:lnSpc>
                <a:spcPts val="4771"/>
              </a:lnSpc>
            </a:pPr>
            <a:r>
              <a:rPr lang="en-US" sz="3407" b="true">
                <a:solidFill>
                  <a:srgbClr val="153153"/>
                </a:solidFill>
                <a:latin typeface="Canva Sans Bold"/>
                <a:ea typeface="Canva Sans Bold"/>
                <a:cs typeface="Canva Sans Bold"/>
                <a:sym typeface="Canva Sans Bold"/>
              </a:rPr>
              <a:t>• </a:t>
            </a:r>
            <a:r>
              <a:rPr lang="en-US" sz="3407" b="true">
                <a:solidFill>
                  <a:srgbClr val="153153"/>
                </a:solidFill>
                <a:latin typeface="Canva Sans Bold"/>
                <a:ea typeface="Canva Sans Bold"/>
                <a:cs typeface="Canva Sans Bold"/>
                <a:sym typeface="Canva Sans Bold"/>
              </a:rPr>
              <a:t>Funnel Expansion: Introduce specific campaigns targeting the Middle-of-Funnel (MOF) with content focused on product comparison and value proof to accelerate consideration.</a:t>
            </a:r>
          </a:p>
          <a:p>
            <a:pPr algn="ctr">
              <a:lnSpc>
                <a:spcPts val="4771"/>
              </a:lnSpc>
              <a:spcBef>
                <a:spcPct val="0"/>
              </a:spcBef>
            </a:pPr>
            <a:r>
              <a:rPr lang="en-US" b="true" sz="3407">
                <a:solidFill>
                  <a:srgbClr val="153153"/>
                </a:solidFill>
                <a:latin typeface="Canva Sans Bold"/>
                <a:ea typeface="Canva Sans Bold"/>
                <a:cs typeface="Canva Sans Bold"/>
                <a:sym typeface="Canva Sans Bold"/>
              </a:rPr>
              <a:t>•</a:t>
            </a:r>
            <a:r>
              <a:rPr lang="en-US" b="true" sz="3407">
                <a:solidFill>
                  <a:srgbClr val="153153"/>
                </a:solidFill>
                <a:latin typeface="Canva Sans Bold"/>
                <a:ea typeface="Canva Sans Bold"/>
                <a:cs typeface="Canva Sans Bold"/>
                <a:sym typeface="Canva Sans Bold"/>
              </a:rPr>
              <a:t> ​Retargeting Strategy: Create lookalike audiences from the highest-value WhatsApp customers to find similar high-potential users in Banha. </a:t>
            </a:r>
          </a:p>
        </p:txBody>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028622" y="-2140605"/>
            <a:ext cx="19929383" cy="13477245"/>
          </a:xfrm>
          <a:custGeom>
            <a:avLst/>
            <a:gdLst/>
            <a:ahLst/>
            <a:cxnLst/>
            <a:rect r="r" b="b" t="t" l="l"/>
            <a:pathLst>
              <a:path h="13477245" w="19929383">
                <a:moveTo>
                  <a:pt x="0" y="0"/>
                </a:moveTo>
                <a:lnTo>
                  <a:pt x="19929383" y="0"/>
                </a:lnTo>
                <a:lnTo>
                  <a:pt x="19929383" y="13477245"/>
                </a:lnTo>
                <a:lnTo>
                  <a:pt x="0" y="13477245"/>
                </a:lnTo>
                <a:lnTo>
                  <a:pt x="0" y="0"/>
                </a:lnTo>
                <a:close/>
              </a:path>
            </a:pathLst>
          </a:custGeom>
          <a:blipFill>
            <a:blip r:embed="rId2">
              <a:alphaModFix amt="55000"/>
              <a:extLst>
                <a:ext uri="{96DAC541-7B7A-43D3-8B79-37D633B846F1}">
                  <asvg:svgBlip xmlns:asvg="http://schemas.microsoft.com/office/drawing/2016/SVG/main" r:embed="rId3"/>
                </a:ext>
              </a:extLst>
            </a:blip>
            <a:stretch>
              <a:fillRect l="0" t="-92" r="0" b="-92"/>
            </a:stretch>
          </a:blipFill>
        </p:spPr>
      </p:sp>
      <p:sp>
        <p:nvSpPr>
          <p:cNvPr name="Freeform 3" id="3"/>
          <p:cNvSpPr/>
          <p:nvPr/>
        </p:nvSpPr>
        <p:spPr>
          <a:xfrm flipH="false" flipV="false" rot="0">
            <a:off x="-2366630" y="7281974"/>
            <a:ext cx="3395330" cy="3807991"/>
          </a:xfrm>
          <a:custGeom>
            <a:avLst/>
            <a:gdLst/>
            <a:ahLst/>
            <a:cxnLst/>
            <a:rect r="r" b="b" t="t" l="l"/>
            <a:pathLst>
              <a:path h="3807991" w="3395330">
                <a:moveTo>
                  <a:pt x="0" y="0"/>
                </a:moveTo>
                <a:lnTo>
                  <a:pt x="3395330" y="0"/>
                </a:lnTo>
                <a:lnTo>
                  <a:pt x="3395330" y="3807991"/>
                </a:lnTo>
                <a:lnTo>
                  <a:pt x="0" y="380799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7259300" y="-947626"/>
            <a:ext cx="3395330" cy="3807991"/>
          </a:xfrm>
          <a:custGeom>
            <a:avLst/>
            <a:gdLst/>
            <a:ahLst/>
            <a:cxnLst/>
            <a:rect r="r" b="b" t="t" l="l"/>
            <a:pathLst>
              <a:path h="3807991" w="3395330">
                <a:moveTo>
                  <a:pt x="0" y="0"/>
                </a:moveTo>
                <a:lnTo>
                  <a:pt x="3395330" y="0"/>
                </a:lnTo>
                <a:lnTo>
                  <a:pt x="3395330" y="3807991"/>
                </a:lnTo>
                <a:lnTo>
                  <a:pt x="0" y="380799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2720062" y="69235"/>
            <a:ext cx="12544425" cy="887135"/>
          </a:xfrm>
          <a:prstGeom prst="rect">
            <a:avLst/>
          </a:prstGeom>
        </p:spPr>
        <p:txBody>
          <a:bodyPr anchor="t" rtlCol="false" tIns="0" lIns="0" bIns="0" rIns="0">
            <a:spAutoFit/>
          </a:bodyPr>
          <a:lstStyle/>
          <a:p>
            <a:pPr algn="ctr">
              <a:lnSpc>
                <a:spcPts val="7279"/>
              </a:lnSpc>
            </a:pPr>
            <a:r>
              <a:rPr lang="en-US" sz="5199" b="true">
                <a:solidFill>
                  <a:srgbClr val="153153"/>
                </a:solidFill>
                <a:latin typeface="Canva Sans Bold"/>
                <a:ea typeface="Canva Sans Bold"/>
                <a:cs typeface="Canva Sans Bold"/>
                <a:sym typeface="Canva Sans Bold"/>
              </a:rPr>
              <a:t>Summary &amp; Budget Recommendations</a:t>
            </a:r>
            <a:r>
              <a:rPr lang="en-US" sz="5199" b="true">
                <a:solidFill>
                  <a:srgbClr val="000000"/>
                </a:solidFill>
                <a:latin typeface="Canva Sans Bold"/>
                <a:ea typeface="Canva Sans Bold"/>
                <a:cs typeface="Canva Sans Bold"/>
                <a:sym typeface="Canva Sans Bold"/>
              </a:rPr>
              <a:t> </a:t>
            </a:r>
          </a:p>
        </p:txBody>
      </p:sp>
      <p:sp>
        <p:nvSpPr>
          <p:cNvPr name="TextBox 6" id="6"/>
          <p:cNvSpPr txBox="true"/>
          <p:nvPr/>
        </p:nvSpPr>
        <p:spPr>
          <a:xfrm rot="0">
            <a:off x="1323345" y="942975"/>
            <a:ext cx="15641310" cy="8565214"/>
          </a:xfrm>
          <a:prstGeom prst="rect">
            <a:avLst/>
          </a:prstGeom>
        </p:spPr>
        <p:txBody>
          <a:bodyPr anchor="t" rtlCol="false" tIns="0" lIns="0" bIns="0" rIns="0">
            <a:spAutoFit/>
          </a:bodyPr>
          <a:lstStyle/>
          <a:p>
            <a:pPr algn="ctr">
              <a:lnSpc>
                <a:spcPts val="6160"/>
              </a:lnSpc>
            </a:pPr>
            <a:r>
              <a:rPr lang="en-US" sz="4400" b="true">
                <a:solidFill>
                  <a:srgbClr val="18BBB5"/>
                </a:solidFill>
                <a:latin typeface="Canva Sans Bold"/>
                <a:ea typeface="Canva Sans Bold"/>
                <a:cs typeface="Canva Sans Bold"/>
                <a:sym typeface="Canva Sans Bold"/>
              </a:rPr>
              <a:t>1. Project Summary</a:t>
            </a:r>
          </a:p>
          <a:p>
            <a:pPr algn="ctr">
              <a:lnSpc>
                <a:spcPts val="6160"/>
              </a:lnSpc>
            </a:pPr>
            <a:r>
              <a:rPr lang="en-US" sz="4400" b="true">
                <a:solidFill>
                  <a:srgbClr val="153153"/>
                </a:solidFill>
                <a:latin typeface="Canva Sans Bold"/>
                <a:ea typeface="Canva Sans Bold"/>
                <a:cs typeface="Canva Sans Bold"/>
                <a:sym typeface="Canva Sans Bold"/>
              </a:rPr>
              <a:t> ​•Core Strategy: Shifting positioning from "price focus" to Value, Quality, and Local Convenience (One-Stop Shop). </a:t>
            </a:r>
          </a:p>
          <a:p>
            <a:pPr algn="ctr">
              <a:lnSpc>
                <a:spcPts val="6160"/>
              </a:lnSpc>
            </a:pPr>
          </a:p>
          <a:p>
            <a:pPr algn="ctr">
              <a:lnSpc>
                <a:spcPts val="6160"/>
              </a:lnSpc>
            </a:pPr>
            <a:r>
              <a:rPr lang="en-US" sz="4400" b="true">
                <a:solidFill>
                  <a:srgbClr val="153153"/>
                </a:solidFill>
                <a:latin typeface="Canva Sans Bold"/>
                <a:ea typeface="Canva Sans Bold"/>
                <a:cs typeface="Canva Sans Bold"/>
                <a:sym typeface="Canva Sans Bold"/>
              </a:rPr>
              <a:t>•Key Action: Aggressive daily content push on TikTok/Reels (80/20 Rule) combined with optimized paid ads (A/B testing 5 creatives weekly).</a:t>
            </a:r>
          </a:p>
          <a:p>
            <a:pPr algn="ctr">
              <a:lnSpc>
                <a:spcPts val="6160"/>
              </a:lnSpc>
            </a:pPr>
          </a:p>
          <a:p>
            <a:pPr algn="ctr">
              <a:lnSpc>
                <a:spcPts val="6160"/>
              </a:lnSpc>
              <a:spcBef>
                <a:spcPct val="0"/>
              </a:spcBef>
            </a:pPr>
            <a:r>
              <a:rPr lang="en-US" b="true" sz="4400">
                <a:solidFill>
                  <a:srgbClr val="153153"/>
                </a:solidFill>
                <a:latin typeface="Canva Sans Bold"/>
                <a:ea typeface="Canva Sans Bold"/>
                <a:cs typeface="Canva Sans Bold"/>
                <a:sym typeface="Canva Sans Bold"/>
              </a:rPr>
              <a:t>​•Success Metric: Achieving a consistent Engagement Rate (ER) &gt; 5% while reducing the CAC (Customer Acquisition Cost) by 15%. </a:t>
            </a:r>
          </a:p>
        </p:txBody>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972417" y="-1697727"/>
            <a:ext cx="19929383" cy="13477245"/>
          </a:xfrm>
          <a:custGeom>
            <a:avLst/>
            <a:gdLst/>
            <a:ahLst/>
            <a:cxnLst/>
            <a:rect r="r" b="b" t="t" l="l"/>
            <a:pathLst>
              <a:path h="13477245" w="19929383">
                <a:moveTo>
                  <a:pt x="0" y="0"/>
                </a:moveTo>
                <a:lnTo>
                  <a:pt x="19929383" y="0"/>
                </a:lnTo>
                <a:lnTo>
                  <a:pt x="19929383" y="13477245"/>
                </a:lnTo>
                <a:lnTo>
                  <a:pt x="0" y="13477245"/>
                </a:lnTo>
                <a:lnTo>
                  <a:pt x="0" y="0"/>
                </a:lnTo>
                <a:close/>
              </a:path>
            </a:pathLst>
          </a:custGeom>
          <a:blipFill>
            <a:blip r:embed="rId2">
              <a:alphaModFix amt="55000"/>
              <a:extLst>
                <a:ext uri="{96DAC541-7B7A-43D3-8B79-37D633B846F1}">
                  <asvg:svgBlip xmlns:asvg="http://schemas.microsoft.com/office/drawing/2016/SVG/main" r:embed="rId3"/>
                </a:ext>
              </a:extLst>
            </a:blip>
            <a:stretch>
              <a:fillRect l="0" t="-92" r="0" b="-92"/>
            </a:stretch>
          </a:blipFill>
        </p:spPr>
      </p:sp>
      <p:sp>
        <p:nvSpPr>
          <p:cNvPr name="Freeform 3" id="3"/>
          <p:cNvSpPr/>
          <p:nvPr/>
        </p:nvSpPr>
        <p:spPr>
          <a:xfrm flipH="false" flipV="false" rot="0">
            <a:off x="-2366630" y="7281974"/>
            <a:ext cx="3395330" cy="3807991"/>
          </a:xfrm>
          <a:custGeom>
            <a:avLst/>
            <a:gdLst/>
            <a:ahLst/>
            <a:cxnLst/>
            <a:rect r="r" b="b" t="t" l="l"/>
            <a:pathLst>
              <a:path h="3807991" w="3395330">
                <a:moveTo>
                  <a:pt x="0" y="0"/>
                </a:moveTo>
                <a:lnTo>
                  <a:pt x="3395330" y="0"/>
                </a:lnTo>
                <a:lnTo>
                  <a:pt x="3395330" y="3807991"/>
                </a:lnTo>
                <a:lnTo>
                  <a:pt x="0" y="380799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7259300" y="-947626"/>
            <a:ext cx="3395330" cy="3807991"/>
          </a:xfrm>
          <a:custGeom>
            <a:avLst/>
            <a:gdLst/>
            <a:ahLst/>
            <a:cxnLst/>
            <a:rect r="r" b="b" t="t" l="l"/>
            <a:pathLst>
              <a:path h="3807991" w="3395330">
                <a:moveTo>
                  <a:pt x="0" y="0"/>
                </a:moveTo>
                <a:lnTo>
                  <a:pt x="3395330" y="0"/>
                </a:lnTo>
                <a:lnTo>
                  <a:pt x="3395330" y="3807991"/>
                </a:lnTo>
                <a:lnTo>
                  <a:pt x="0" y="380799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397987" y="956370"/>
            <a:ext cx="15492027" cy="9518537"/>
          </a:xfrm>
          <a:custGeom>
            <a:avLst/>
            <a:gdLst/>
            <a:ahLst/>
            <a:cxnLst/>
            <a:rect r="r" b="b" t="t" l="l"/>
            <a:pathLst>
              <a:path h="9518537" w="15492027">
                <a:moveTo>
                  <a:pt x="0" y="0"/>
                </a:moveTo>
                <a:lnTo>
                  <a:pt x="15492026" y="0"/>
                </a:lnTo>
                <a:lnTo>
                  <a:pt x="15492026" y="9518537"/>
                </a:lnTo>
                <a:lnTo>
                  <a:pt x="0" y="9518537"/>
                </a:lnTo>
                <a:lnTo>
                  <a:pt x="0" y="0"/>
                </a:lnTo>
                <a:close/>
              </a:path>
            </a:pathLst>
          </a:custGeom>
          <a:blipFill>
            <a:blip r:embed="rId6"/>
            <a:stretch>
              <a:fillRect l="0" t="-5866" r="0" b="-2638"/>
            </a:stretch>
          </a:blipFill>
        </p:spPr>
      </p:sp>
      <p:sp>
        <p:nvSpPr>
          <p:cNvPr name="TextBox 6" id="6"/>
          <p:cNvSpPr txBox="true"/>
          <p:nvPr/>
        </p:nvSpPr>
        <p:spPr>
          <a:xfrm rot="0">
            <a:off x="2720062" y="69235"/>
            <a:ext cx="12544425" cy="887135"/>
          </a:xfrm>
          <a:prstGeom prst="rect">
            <a:avLst/>
          </a:prstGeom>
        </p:spPr>
        <p:txBody>
          <a:bodyPr anchor="t" rtlCol="false" tIns="0" lIns="0" bIns="0" rIns="0">
            <a:spAutoFit/>
          </a:bodyPr>
          <a:lstStyle/>
          <a:p>
            <a:pPr algn="ctr">
              <a:lnSpc>
                <a:spcPts val="7279"/>
              </a:lnSpc>
            </a:pPr>
            <a:r>
              <a:rPr lang="en-US" sz="5199" b="true">
                <a:solidFill>
                  <a:srgbClr val="153153"/>
                </a:solidFill>
                <a:latin typeface="Canva Sans Bold"/>
                <a:ea typeface="Canva Sans Bold"/>
                <a:cs typeface="Canva Sans Bold"/>
                <a:sym typeface="Canva Sans Bold"/>
              </a:rPr>
              <a:t>Summary &amp; Budget Recommendations</a:t>
            </a:r>
            <a:r>
              <a:rPr lang="en-US" sz="5199" b="true">
                <a:solidFill>
                  <a:srgbClr val="000000"/>
                </a:solidFill>
                <a:latin typeface="Canva Sans Bold"/>
                <a:ea typeface="Canva Sans Bold"/>
                <a:cs typeface="Canva Sans Bold"/>
                <a:sym typeface="Canva Sans Bold"/>
              </a:rPr>
              <a:t> </a:t>
            </a:r>
          </a:p>
        </p:txBody>
      </p:sp>
      <p:sp>
        <p:nvSpPr>
          <p:cNvPr name="TextBox 7" id="7"/>
          <p:cNvSpPr txBox="true"/>
          <p:nvPr/>
        </p:nvSpPr>
        <p:spPr>
          <a:xfrm rot="0">
            <a:off x="1512371" y="933450"/>
            <a:ext cx="622324" cy="887135"/>
          </a:xfrm>
          <a:prstGeom prst="rect">
            <a:avLst/>
          </a:prstGeom>
        </p:spPr>
        <p:txBody>
          <a:bodyPr anchor="t" rtlCol="false" tIns="0" lIns="0" bIns="0" rIns="0">
            <a:spAutoFit/>
          </a:bodyPr>
          <a:lstStyle/>
          <a:p>
            <a:pPr algn="ctr">
              <a:lnSpc>
                <a:spcPts val="7279"/>
              </a:lnSpc>
              <a:spcBef>
                <a:spcPct val="0"/>
              </a:spcBef>
            </a:pPr>
            <a:r>
              <a:rPr lang="en-US" b="true" sz="5199">
                <a:solidFill>
                  <a:srgbClr val="153153"/>
                </a:solidFill>
                <a:latin typeface="Canva Sans Bold"/>
                <a:ea typeface="Canva Sans Bold"/>
                <a:cs typeface="Canva Sans Bold"/>
                <a:sym typeface="Canva Sans Bold"/>
              </a:rPr>
              <a:t>2-</a:t>
            </a:r>
          </a:p>
        </p:txBody>
      </p:sp>
    </p:spTree>
  </p:cSld>
  <p:clrMapOvr>
    <a:masterClrMapping/>
  </p:clrMapOvr>
</p:sld>
</file>

<file path=ppt/slides/slide3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3457129" y="696603"/>
            <a:ext cx="12544425" cy="887135"/>
          </a:xfrm>
          <a:prstGeom prst="rect">
            <a:avLst/>
          </a:prstGeom>
        </p:spPr>
        <p:txBody>
          <a:bodyPr anchor="t" rtlCol="false" tIns="0" lIns="0" bIns="0" rIns="0">
            <a:spAutoFit/>
          </a:bodyPr>
          <a:lstStyle/>
          <a:p>
            <a:pPr algn="ctr">
              <a:lnSpc>
                <a:spcPts val="7279"/>
              </a:lnSpc>
            </a:pPr>
            <a:r>
              <a:rPr lang="en-US" sz="5199" b="true">
                <a:solidFill>
                  <a:srgbClr val="153153"/>
                </a:solidFill>
                <a:latin typeface="Canva Sans Bold"/>
                <a:ea typeface="Canva Sans Bold"/>
                <a:cs typeface="Canva Sans Bold"/>
                <a:sym typeface="Canva Sans Bold"/>
              </a:rPr>
              <a:t>Summary &amp; Budget Recommendations </a:t>
            </a:r>
          </a:p>
        </p:txBody>
      </p:sp>
      <p:sp>
        <p:nvSpPr>
          <p:cNvPr name="TextBox 3" id="3"/>
          <p:cNvSpPr txBox="true"/>
          <p:nvPr/>
        </p:nvSpPr>
        <p:spPr>
          <a:xfrm rot="0">
            <a:off x="1028700" y="2528860"/>
            <a:ext cx="16230600" cy="5505743"/>
          </a:xfrm>
          <a:prstGeom prst="rect">
            <a:avLst/>
          </a:prstGeom>
        </p:spPr>
        <p:txBody>
          <a:bodyPr anchor="t" rtlCol="false" tIns="0" lIns="0" bIns="0" rIns="0">
            <a:spAutoFit/>
          </a:bodyPr>
          <a:lstStyle/>
          <a:p>
            <a:pPr algn="ctr">
              <a:lnSpc>
                <a:spcPts val="7346"/>
              </a:lnSpc>
            </a:pPr>
            <a:r>
              <a:rPr lang="en-US" sz="5247" b="true">
                <a:solidFill>
                  <a:srgbClr val="18BBB5"/>
                </a:solidFill>
                <a:latin typeface="Canva Sans Bold"/>
                <a:ea typeface="Canva Sans Bold"/>
                <a:cs typeface="Canva Sans Bold"/>
                <a:sym typeface="Canva Sans Bold"/>
              </a:rPr>
              <a:t>3. The Ask (Call to Approval) </a:t>
            </a:r>
          </a:p>
          <a:p>
            <a:pPr algn="ctr">
              <a:lnSpc>
                <a:spcPts val="7346"/>
              </a:lnSpc>
            </a:pPr>
            <a:r>
              <a:rPr lang="en-US" sz="5247" b="true">
                <a:solidFill>
                  <a:srgbClr val="153153"/>
                </a:solidFill>
                <a:latin typeface="Canva Sans Bold"/>
                <a:ea typeface="Canva Sans Bold"/>
                <a:cs typeface="Canva Sans Bold"/>
                <a:sym typeface="Canva Sans Bold"/>
              </a:rPr>
              <a:t>​We recommend obtaining immediate approval to initiate the core SOSTAC implementation phase, allowing us to leverage the existing budget and resources to establish Tiba Store as the premier local digital family shop in Banha.  </a:t>
            </a:r>
          </a:p>
        </p:txBody>
      </p:sp>
    </p:spTree>
  </p:cSld>
  <p:clrMapOvr>
    <a:masterClrMapping/>
  </p:clrMapOvr>
</p:sld>
</file>

<file path=ppt/slides/slide3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0" y="942975"/>
            <a:ext cx="17829777" cy="8667804"/>
          </a:xfrm>
          <a:prstGeom prst="rect">
            <a:avLst/>
          </a:prstGeom>
        </p:spPr>
        <p:txBody>
          <a:bodyPr anchor="t" rtlCol="false" tIns="0" lIns="0" bIns="0" rIns="0">
            <a:spAutoFit/>
          </a:bodyPr>
          <a:lstStyle/>
          <a:p>
            <a:pPr algn="ctr">
              <a:lnSpc>
                <a:spcPts val="6278"/>
              </a:lnSpc>
            </a:pPr>
          </a:p>
          <a:p>
            <a:pPr algn="ctr">
              <a:lnSpc>
                <a:spcPts val="6278"/>
              </a:lnSpc>
            </a:pPr>
            <a:r>
              <a:rPr lang="en-US" sz="4484" b="true">
                <a:solidFill>
                  <a:srgbClr val="000000"/>
                </a:solidFill>
                <a:latin typeface="Canva Sans Bold"/>
                <a:ea typeface="Canva Sans Bold"/>
                <a:cs typeface="Canva Sans Bold"/>
                <a:sym typeface="Canva Sans Bold"/>
              </a:rPr>
              <a:t> </a:t>
            </a:r>
            <a:r>
              <a:rPr lang="en-US" sz="4484" b="true">
                <a:solidFill>
                  <a:srgbClr val="18BBB5"/>
                </a:solidFill>
                <a:latin typeface="Canva Sans Bold"/>
                <a:ea typeface="Canva Sans Bold"/>
                <a:cs typeface="Canva Sans Bold"/>
                <a:sym typeface="Canva Sans Bold"/>
              </a:rPr>
              <a:t>​Summary of Our Commitment:</a:t>
            </a:r>
          </a:p>
          <a:p>
            <a:pPr algn="ctr">
              <a:lnSpc>
                <a:spcPts val="6278"/>
              </a:lnSpc>
            </a:pPr>
            <a:r>
              <a:rPr lang="en-US" sz="4484" b="true">
                <a:solidFill>
                  <a:srgbClr val="153153"/>
                </a:solidFill>
                <a:latin typeface="Canva Sans Bold"/>
                <a:ea typeface="Canva Sans Bold"/>
                <a:cs typeface="Canva Sans Bold"/>
                <a:sym typeface="Canva Sans Bold"/>
              </a:rPr>
              <a:t>Focus: Transitioning Tiba Store from a local shop to the premier local digital destination in Banha. ​</a:t>
            </a:r>
          </a:p>
          <a:p>
            <a:pPr algn="ctr">
              <a:lnSpc>
                <a:spcPts val="6278"/>
              </a:lnSpc>
            </a:pPr>
            <a:r>
              <a:rPr lang="en-US" sz="4484" b="true">
                <a:solidFill>
                  <a:srgbClr val="153153"/>
                </a:solidFill>
                <a:latin typeface="Canva Sans Bold"/>
                <a:ea typeface="Canva Sans Bold"/>
                <a:cs typeface="Canva Sans Bold"/>
                <a:sym typeface="Canva Sans Bold"/>
              </a:rPr>
              <a:t>Execution: A comprehensive SOSTAC plan focused on measurable growth, driven by dynamic content and optimized media spend.</a:t>
            </a:r>
          </a:p>
          <a:p>
            <a:pPr algn="ctr">
              <a:lnSpc>
                <a:spcPts val="6278"/>
              </a:lnSpc>
            </a:pPr>
            <a:r>
              <a:rPr lang="en-US" sz="4484" b="true">
                <a:solidFill>
                  <a:srgbClr val="153153"/>
                </a:solidFill>
                <a:latin typeface="Canva Sans Bold"/>
                <a:ea typeface="Canva Sans Bold"/>
                <a:cs typeface="Canva Sans Bold"/>
                <a:sym typeface="Canva Sans Bold"/>
              </a:rPr>
              <a:t> ​Goal: Achieving 10,000 new followers and reducing CAC by 15% in the first 3 months.</a:t>
            </a:r>
          </a:p>
          <a:p>
            <a:pPr algn="ctr">
              <a:lnSpc>
                <a:spcPts val="6278"/>
              </a:lnSpc>
              <a:spcBef>
                <a:spcPct val="0"/>
              </a:spcBef>
            </a:pPr>
            <a:r>
              <a:rPr lang="en-US" b="true" sz="4484">
                <a:solidFill>
                  <a:srgbClr val="1A6EC1"/>
                </a:solidFill>
                <a:latin typeface="Canva Sans Bold"/>
                <a:ea typeface="Canva Sans Bold"/>
                <a:cs typeface="Canva Sans Bold"/>
                <a:sym typeface="Canva Sans Bold"/>
              </a:rPr>
              <a:t> ​“With your approval for this plan, we are ready to transform Tiba Store's digital future.”</a:t>
            </a:r>
            <a:r>
              <a:rPr lang="en-US" b="true" sz="4484">
                <a:solidFill>
                  <a:srgbClr val="7B95A3"/>
                </a:solidFill>
                <a:latin typeface="Canva Sans Bold"/>
                <a:ea typeface="Canva Sans Bold"/>
                <a:cs typeface="Canva Sans Bold"/>
                <a:sym typeface="Canva Sans Bold"/>
              </a:rPr>
              <a:t> </a:t>
            </a:r>
          </a:p>
        </p:txBody>
      </p:sp>
      <p:sp>
        <p:nvSpPr>
          <p:cNvPr name="TextBox 3" id="3"/>
          <p:cNvSpPr txBox="true"/>
          <p:nvPr/>
        </p:nvSpPr>
        <p:spPr>
          <a:xfrm rot="0">
            <a:off x="1418483" y="361268"/>
            <a:ext cx="15840817" cy="887135"/>
          </a:xfrm>
          <a:prstGeom prst="rect">
            <a:avLst/>
          </a:prstGeom>
        </p:spPr>
        <p:txBody>
          <a:bodyPr anchor="t" rtlCol="false" tIns="0" lIns="0" bIns="0" rIns="0">
            <a:spAutoFit/>
          </a:bodyPr>
          <a:lstStyle/>
          <a:p>
            <a:pPr algn="ctr">
              <a:lnSpc>
                <a:spcPts val="7279"/>
              </a:lnSpc>
            </a:pPr>
            <a:r>
              <a:rPr lang="en-US" sz="5199" b="true">
                <a:solidFill>
                  <a:srgbClr val="153153"/>
                </a:solidFill>
                <a:latin typeface="Canva Sans Bold"/>
                <a:ea typeface="Canva Sans Bold"/>
                <a:cs typeface="Canva Sans Bold"/>
                <a:sym typeface="Canva Sans Bold"/>
              </a:rPr>
              <a:t>Tiba Store: The Premier Local Digital Family Shop</a:t>
            </a:r>
          </a:p>
        </p:txBody>
      </p:sp>
    </p:spTree>
  </p:cSld>
  <p:clrMapOvr>
    <a:masterClrMapping/>
  </p:clrMapOvr>
</p:sld>
</file>

<file path=ppt/slides/slide3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615685" y="3939073"/>
            <a:ext cx="14545613" cy="2170729"/>
          </a:xfrm>
          <a:prstGeom prst="rect">
            <a:avLst/>
          </a:prstGeom>
        </p:spPr>
        <p:txBody>
          <a:bodyPr anchor="t" rtlCol="false" tIns="0" lIns="0" bIns="0" rIns="0">
            <a:spAutoFit/>
          </a:bodyPr>
          <a:lstStyle/>
          <a:p>
            <a:pPr algn="ctr">
              <a:lnSpc>
                <a:spcPts val="17753"/>
              </a:lnSpc>
            </a:pPr>
            <a:r>
              <a:rPr lang="en-US" b="true" sz="12680">
                <a:solidFill>
                  <a:srgbClr val="153153"/>
                </a:solidFill>
                <a:latin typeface="Canva Sans Bold"/>
                <a:ea typeface="Canva Sans Bold"/>
                <a:cs typeface="Canva Sans Bold"/>
                <a:sym typeface="Canva Sans Bold"/>
              </a:rPr>
              <a:t>Thank You &amp; Q&amp;A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DAG49RIbFg0</dc:identifier>
  <dcterms:modified xsi:type="dcterms:W3CDTF">2011-08-01T06:04:30Z</dcterms:modified>
  <cp:revision>1</cp:revision>
  <dc:title>Tiba Store</dc:title>
</cp:coreProperties>
</file>